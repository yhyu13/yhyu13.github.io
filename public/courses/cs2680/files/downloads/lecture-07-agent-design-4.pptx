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91440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12280" y="91440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91440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91440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914400"/>
            <a:ext cx="274320" cy="2743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32588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132588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1325880"/>
            <a:ext cx="274320" cy="2743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132588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132588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737360"/>
            <a:ext cx="274320" cy="2743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173736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173736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173736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737360"/>
            <a:ext cx="274320" cy="2743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14884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214884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214884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2148840"/>
            <a:ext cx="274320" cy="2743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214884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56032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2560320"/>
            <a:ext cx="274320" cy="2743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256032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56032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256032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297180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297180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297180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18120" y="297180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2971800"/>
            <a:ext cx="27432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grader looking at?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1051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1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CS2680 / Harvard SEAS / Juncheng Yang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1417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design IV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54864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evaluation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48640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  .  2026-09-30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3364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deck: course/site/slides/7_agent_design_4.pdf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https://cs2680.seas.harvard.edu/slides/7_agent_design_4.pdf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COMPONENT-LEVEL, AND END-TO-END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being evaluated?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2011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2011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Component-level (inside the agent)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164592" cy="16459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19072"/>
            <a:ext cx="3355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093976"/>
            <a:ext cx="164592" cy="16459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20824"/>
            <a:ext cx="3355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395728"/>
            <a:ext cx="164592" cy="16459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322576"/>
            <a:ext cx="3355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use: discovery, selection, parameterization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164592" cy="16459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624328"/>
            <a:ext cx="3355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999232"/>
            <a:ext cx="164592" cy="16459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2926080"/>
            <a:ext cx="3355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recovery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188720"/>
            <a:ext cx="3977640" cy="2011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188720"/>
            <a:ext cx="50292" cy="2011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1792224"/>
            <a:ext cx="3648456" cy="347472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38344" y="1792224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rate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2212848"/>
            <a:ext cx="3648456" cy="347472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38344" y="2212848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2633472"/>
            <a:ext cx="3648456" cy="347472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38344" y="2633472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2918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 families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547872"/>
            <a:ext cx="1280160" cy="47548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54787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47088" y="3547872"/>
            <a:ext cx="1280160" cy="47548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01952" y="354787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or F1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36976" y="3547872"/>
            <a:ext cx="1280160" cy="47548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54787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or win rate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26864" y="3547872"/>
            <a:ext cx="1280160" cy="47548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354787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Pass@k and Pass^k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16752" y="3547872"/>
            <a:ext cx="1280160" cy="47548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1616" y="354787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06640" y="3547872"/>
            <a:ext cx="1280160" cy="47548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61504" y="354787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/ duration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mostly LLM cost; tool calls and other overheads are overlooked - an LLM cache miss. Latency is not just LLM latency. Pass^k, where all k solutions pass, was introduced by tau-bench.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https://cs2680.seas.harvard.edu/slides/7_agent_design_4.pdf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RESET, ACT INSIDE A BUDGET, THEN SCORE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generic benchmark loop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54480" cy="82296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27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653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to the task's initial state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66544" y="1828800"/>
            <a:ext cx="228600" cy="274320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554480"/>
            <a:ext cx="777240" cy="64008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5544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63824" y="1783080"/>
            <a:ext cx="73152" cy="182880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554480"/>
            <a:ext cx="777240" cy="64008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5544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32504" y="1783080"/>
            <a:ext cx="73152" cy="182880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554480"/>
            <a:ext cx="777240" cy="64008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5544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2311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while not terminated and within budget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83480" y="1828800"/>
            <a:ext cx="228600" cy="274320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1554480"/>
            <a:ext cx="3383280" cy="822960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16276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18653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final answer, the final environment state and the trajectory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grader inspects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1280160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10896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47088" y="3108960"/>
            <a:ext cx="1280160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01952" y="310896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36976" y="3108960"/>
            <a:ext cx="1280160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10896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state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26864" y="3108960"/>
            <a:ext cx="1280160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310896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16752" y="3108960"/>
            <a:ext cx="1280160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71616" y="310896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3108960"/>
            <a:ext cx="1280160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61504" y="310896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3858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loop, many graders: the loop above is generic, and each benchmark decides the actions available and the artifact that gets scored.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https://cs2680.seas.harvard.edu/slides/7_agent_design_4.pdf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OBJECTIVE MOVED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eras of benchmarks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43584"/>
            <a:ext cx="1280160" cy="2871216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43584"/>
            <a:ext cx="1280160" cy="5669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6187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2018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modeling, narrow tasks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1097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 Treebank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WikiText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LAMBADA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47088" y="1243584"/>
            <a:ext cx="1280160" cy="2871216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47088" y="1243584"/>
            <a:ext cx="1280160" cy="5669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26187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2018-2019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20240" y="146304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learning, general NLU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938528" y="1865376"/>
            <a:ext cx="1097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SuperGLUE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HellaSwag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WinoGrande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36976" y="1243584"/>
            <a:ext cx="1280160" cy="2871216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36976" y="1243584"/>
            <a:ext cx="1280160" cy="5669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26187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2020-2022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10128" y="146304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foundation-model capability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28416" y="1865376"/>
            <a:ext cx="1097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BIG-bench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TruthfulQA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26864" y="1243584"/>
            <a:ext cx="1280160" cy="2871216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1243584"/>
            <a:ext cx="1280160" cy="5669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126187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2023-2024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0016" y="146304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and tool use, context, modalities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718304" y="1865376"/>
            <a:ext cx="1097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MT-Bench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Arena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AlpacaEval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IFEval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LongBench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MMMU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AgentBench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WebArena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GAIA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OSWorld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tau-bench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16752" y="1243584"/>
            <a:ext cx="1280160" cy="2871216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16752" y="1243584"/>
            <a:ext cx="1280160" cy="5669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9904" y="126187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2024-2025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9904" y="146304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difficulty, robustness, freshness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108192" y="1865376"/>
            <a:ext cx="1097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MMLU-Pro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LiveBench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LiveCodeBench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MMMU-Pro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FrontierMath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Humanity's Last Exam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406640" y="1243584"/>
            <a:ext cx="1280160" cy="2871216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1243584"/>
            <a:ext cx="1280160" cy="5669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9792" y="126187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2025-2026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79792" y="146304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scope, less specific instructions, more realistic use cases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498080" y="1865376"/>
            <a:ext cx="1097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GDPval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BrowseComp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Terminal-Bench</a:t>
            </a: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ARC-AGI-3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tour is organised by what the grader inspects, so the student learns to ask "what is graded?" rather than "what is the score?".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https://cs2680.seas.harvard.edu/slides/7_agent_design_4.pdf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ITS OWN DEFINITION OF SUCCESS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evaluation objectives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8229600" cy="53035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25880"/>
            <a:ext cx="329184" cy="329184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122529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35024"/>
            <a:ext cx="640080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33502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41648" y="1335024"/>
            <a:ext cx="640080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1648" y="133502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WikiText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8229600" cy="530352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929384"/>
            <a:ext cx="329184" cy="329184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18288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 a correct answer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938528"/>
            <a:ext cx="640080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9385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41648" y="1938528"/>
            <a:ext cx="640080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41648" y="19385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91456" y="1938528"/>
            <a:ext cx="640080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9385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41264" y="1938528"/>
            <a:ext cx="640080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19385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432304"/>
            <a:ext cx="8229600" cy="53035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2532888"/>
            <a:ext cx="329184" cy="329184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243230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 a preferred response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91840" y="2542032"/>
            <a:ext cx="640080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2542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041648" y="2542032"/>
            <a:ext cx="694944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41648" y="254203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AlpacaEval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542032"/>
            <a:ext cx="640080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542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MT-Bench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035808"/>
            <a:ext cx="8229600" cy="530352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3136392"/>
            <a:ext cx="329184" cy="329184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24128" y="30358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 functioning code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91840" y="3145536"/>
            <a:ext cx="640080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31455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41648" y="3145536"/>
            <a:ext cx="865022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41648" y="3145536"/>
            <a:ext cx="865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LiveCodeBench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16398" y="3145536"/>
            <a:ext cx="640080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6398" y="31455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639312"/>
            <a:ext cx="8229600" cy="53035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928" y="3739896"/>
            <a:ext cx="329184" cy="329184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3739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24128" y="363931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an interactive task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91840" y="3749040"/>
            <a:ext cx="640080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3749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WebArena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041648" y="3749040"/>
            <a:ext cx="640080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41648" y="3749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OSWorld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91456" y="3749040"/>
            <a:ext cx="640080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91456" y="3749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tau-bench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41264" y="3749040"/>
            <a:ext cx="921715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41264" y="3749040"/>
            <a:ext cx="9217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Terminal-Bench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4279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only means something next to the objective it was measured against: which artifact, and which grader.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https://cs2680.seas.harvard.edu/slides/7_agent_design_4.pdf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GRADED, IN EACH SUITE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benchmark landscape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325880" cy="2743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1887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83080" y="1188720"/>
            <a:ext cx="1874520" cy="2743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47088" y="118872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1188720"/>
            <a:ext cx="1737360" cy="2743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1608" y="11887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Typical actions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94960" y="1188720"/>
            <a:ext cx="1828800" cy="2743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8968" y="118872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graded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23760" y="1188720"/>
            <a:ext cx="1463040" cy="2743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87768" y="11887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463040"/>
            <a:ext cx="132588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1463040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GAIA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783080" y="1463040"/>
            <a:ext cx="187452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47088" y="1463040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spreadsheets, PDFs, images, audio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0" y="1463040"/>
            <a:ext cx="173736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21608" y="146304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compute (no fixed tool API)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394960" y="1463040"/>
            <a:ext cx="182880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8968" y="146304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only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23760" y="1463040"/>
            <a:ext cx="146304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87768" y="14630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466 questions, 3 levels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1810512"/>
            <a:ext cx="132588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1810512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WebArena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783080" y="1810512"/>
            <a:ext cx="187452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47088" y="1810512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web apps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0" y="1810512"/>
            <a:ext cx="173736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21608" y="1810512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type, stop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94960" y="1810512"/>
            <a:ext cx="182880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58968" y="181051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checks, success 1 / 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23760" y="1810512"/>
            <a:ext cx="146304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87768" y="181051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 tasks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2157984"/>
            <a:ext cx="132588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2157984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OSWorld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783080" y="2157984"/>
            <a:ext cx="187452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47088" y="2157984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desktop applications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0" y="2157984"/>
            <a:ext cx="173736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21608" y="2157984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mouse, keyboard on pixels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394960" y="2157984"/>
            <a:ext cx="182880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58968" y="215798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reward on final state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223760" y="2157984"/>
            <a:ext cx="146304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87768" y="215798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 tasks; 108 in 2.0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2505456"/>
            <a:ext cx="132588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" y="2505456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SWE-bench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783080" y="2505456"/>
            <a:ext cx="187452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47088" y="2505456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repository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0" y="2505456"/>
            <a:ext cx="173736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21608" y="25054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files, run tests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394960" y="2505456"/>
            <a:ext cx="182880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58968" y="250545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applied, then tests run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223760" y="2505456"/>
            <a:ext cx="146304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87768" y="250545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 is a 300-task subset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2852928"/>
            <a:ext cx="132588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208" y="2852928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BFCL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783080" y="2852928"/>
            <a:ext cx="187452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47088" y="2852928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function-calling API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657600" y="2852928"/>
            <a:ext cx="173736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21608" y="285292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call, withhold, ask for a missing parameter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394960" y="2852928"/>
            <a:ext cx="182880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58968" y="285292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or execution based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223760" y="2852928"/>
            <a:ext cx="146304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87768" y="285292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adds web search and memory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57200" y="3200400"/>
            <a:ext cx="132588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1208" y="3200400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tau-bench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783080" y="3200400"/>
            <a:ext cx="187452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47088" y="3200400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DB plus a simulated user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657600" y="3200400"/>
            <a:ext cx="173736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21608" y="320040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the user, call tools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394960" y="3200400"/>
            <a:ext cx="182880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58968" y="320040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r_action * r_output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223760" y="3200400"/>
            <a:ext cx="146304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87768" y="320040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policy binds the agent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57200" y="3547872"/>
            <a:ext cx="132588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21208" y="3547872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Terminal-Bench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783080" y="3547872"/>
            <a:ext cx="187452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47088" y="3547872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657600" y="3547872"/>
            <a:ext cx="173736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21608" y="3547872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394960" y="3547872"/>
            <a:ext cx="182880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58968" y="354787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tests/test.sh on final system state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223760" y="3547872"/>
            <a:ext cx="1463040" cy="347472"/>
          </a:xfrm>
          <a:prstGeom prst="rect">
            <a:avLst/>
          </a:prstGeom>
          <a:solidFill>
            <a:srgbClr val="EDF6F9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87768" y="354787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tasks in TB 2.0 -&gt; 66 in TB 4.0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57200" y="3895344"/>
            <a:ext cx="132588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21208" y="3895344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TheAgentCompany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1783080" y="3895344"/>
            <a:ext cx="187452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847088" y="3895344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GitLab, Plane, ownCloud, RocketChat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657600" y="3895344"/>
            <a:ext cx="173736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21608" y="3895344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work across apps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394960" y="3895344"/>
            <a:ext cx="182880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58968" y="389534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and partial credit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223760" y="3895344"/>
            <a:ext cx="1463040" cy="347472"/>
          </a:xfrm>
          <a:prstGeom prst="rect">
            <a:avLst/>
          </a:prstGeom>
          <a:solidFill>
            <a:srgbClr val="FFDDD2"/>
          </a:solidFill>
          <a:ln w="6350">
            <a:solidFill>
              <a:srgbClr val="83C5B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87768" y="389534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tasks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457200" y="4315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benchmarks, eight different graders: always ask what a benchmark grades before you compare its score.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https://cs2680.seas.harvard.edu/slides/7_agent_design_4.pdf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PASS@K / PASS^K DISTINCTION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scoring rules worth memorising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24688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24688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GAIA: the final answer only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48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466 human-written questions over web browsing, spreadsheets, PDFs, images, audio and calculation.</a:t>
            </a:r>
            <a:endParaRPr lang="en-US" sz="10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tool API: each agent brings its own search, browser, Python and shell, so it tests the whole agent system rather than the LLM.</a:t>
            </a:r>
            <a:endParaRPr lang="en-US" sz="10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(1/N) * sum_i 1[ normalize(y_hat) = normalize(y) ] - the final answer only.</a:t>
            </a:r>
            <a:endParaRPr lang="en-US" sz="10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measure: send email, book a flight, modify a database, submit a form, update an issue.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145536"/>
            <a:ext cx="3648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&lt;= 5 steps, zero or one tool. Level 2: 5-10 steps, multiple tools. Level 3: arbitrarily long, many tools.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77640" cy="24688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88720"/>
            <a:ext cx="50292" cy="24688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tau-bench: a product of two terms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36484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user (an LLM playing the customer), a policy the agent must obey (basic economy cannot be modified), and an airline DB whose state the API calls really change.</a:t>
            </a:r>
            <a:endParaRPr lang="en-US" sz="10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r_action * r_output - the action term is the final DB matching the annotated goal state; the output term is the user-facing response including required information.</a:t>
            </a:r>
            <a:endParaRPr lang="en-US" sz="10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calls may vary, but unintended writes cause failure.</a:t>
            </a:r>
            <a:endParaRPr lang="en-US" sz="10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tau^3-bench adds corrected tasks, more domains, knowledge retrieval and voice evaluation.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3977640" cy="8229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749040"/>
            <a:ext cx="50292" cy="8229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95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Pass@k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attempt out of k is enough. It rewards a system that can get lucky.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3749040"/>
            <a:ext cx="3977640" cy="8229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749040"/>
            <a:ext cx="50292" cy="8229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895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Pass^k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4114800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 independent runs must succeed. Deliberately stricter, and introduced by tau-bench.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https://cs2680.seas.harvard.edu/slides/7_agent_design_4.pdf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NINE ENTRY POINTS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Leakage runs through the whole stack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521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Leakage has four layers, not just training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920240" cy="45720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8988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leakage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389888"/>
            <a:ext cx="1920240" cy="45720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138988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eval-time leakage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389888"/>
            <a:ext cx="1920240" cy="45720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38988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leakage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66560" y="1389888"/>
            <a:ext cx="1920240" cy="45720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9712" y="138988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overfitting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938528"/>
            <a:ext cx="8229600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38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f( LLM, prompt, scaffold, tools, retriever, memory, environment 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849478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42032"/>
            <a:ext cx="7580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379830" y="2542032"/>
            <a:ext cx="849478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25550" y="2542032"/>
            <a:ext cx="7580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02459" y="2542032"/>
            <a:ext cx="849478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48179" y="2542032"/>
            <a:ext cx="7580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25089" y="2542032"/>
            <a:ext cx="849478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0809" y="2542032"/>
            <a:ext cx="7580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47718" y="2542032"/>
            <a:ext cx="849478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93438" y="2542032"/>
            <a:ext cx="7580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70348" y="2542032"/>
            <a:ext cx="849478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16068" y="2542032"/>
            <a:ext cx="7580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92978" y="2542032"/>
            <a:ext cx="849478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8698" y="2542032"/>
            <a:ext cx="7580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15607" y="2542032"/>
            <a:ext cx="849478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1327" y="2542032"/>
            <a:ext cx="7580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838237" y="2542032"/>
            <a:ext cx="849478" cy="5486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83957" y="2542032"/>
            <a:ext cx="7580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solidFill>
            <a:srgbClr val="FFDDD2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3273552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model was not trained on the test set" is nowhere near sufficient: any one component of the stack can carry benchmark information. Realistic tools enlarge the leakage surface, and a benchmark may be searchable.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 entry points are where a benchmark can leak in: the model, the fine-tuning, the prompt, the retriever, the memory, the web, the environment, the scaffold and the developer.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https://cs2680.seas.harvard.edu/slides/7_agent_design_4.pdf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TURN, AND SUCCESS RATE ALONE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challenges with how agents are evaluated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Challenge: a single user turn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3648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benchmarks give one fully-specified instruction, with no user in the loop, while real work is ambiguous, revised and interrupted.</a:t>
            </a:r>
            <a:endParaRPr lang="en-US" sz="105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scoring rewards confident guessing: asking a clarifying question costs steps and earns no credit.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98064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questions to ask instead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072384"/>
            <a:ext cx="1133856" cy="34747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7238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83664" y="3072384"/>
            <a:ext cx="1133856" cy="34747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83664" y="307238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27248" y="3072384"/>
            <a:ext cx="1133856" cy="34747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307238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Challenge: success rate alone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1627632"/>
            <a:ext cx="1737360" cy="47548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steps, $40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03136" y="1627632"/>
            <a:ext cx="1737360" cy="47548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steps, $0.30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157984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success rate, one bad outcome and one good one.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487168"/>
            <a:ext cx="3648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 makes a single-run score noise rather than signal.</a:t>
            </a:r>
            <a:endParaRPr lang="en-US" sz="105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Outcome-only scoring passes lucky or unsafe runs; trajectory matching fails valid ones.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two questions of any benchmark: is there a user in the loop, and what else is measured besides success?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https://cs2680.seas.harvard.edu/slides/7_agent_design_4.pdf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THE FRONTIER CATCHES THE HUMAN 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Benchmarks saturate in months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1280160" cy="21945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591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level 87.1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1579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6151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91.1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47088" y="1225296"/>
            <a:ext cx="1280160" cy="21945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38528" y="12801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MMLU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38528" y="1591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38528" y="1810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level 89.8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38528" y="21579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938528" y="26151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38528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92.3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36976" y="1225296"/>
            <a:ext cx="1280160" cy="21945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12801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GPQA Diamond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28416" y="1591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28416" y="1810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experts 69.7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28416" y="21579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328416" y="26151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28416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96.0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26864" y="1225296"/>
            <a:ext cx="1280160" cy="21945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12801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SWE-bench Verified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18304" y="1591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18304" y="1810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33%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18304" y="21579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718304" y="26151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18304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95% (95.0)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16752" y="1225296"/>
            <a:ext cx="1280160" cy="21945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12801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ARC-AGI-2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08192" y="1591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08192" y="1810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human 60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08192" y="21579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108192" y="26151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08192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95.0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06640" y="1225296"/>
            <a:ext cx="1280160" cy="21945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12801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ARC-AGI-3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98080" y="1591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498080" y="1810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0.5%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498080" y="21579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6*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7498080" y="26151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0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62.7% (62.7)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7200" y="35295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Saturated means the frontier reached the human baseline, or the top models stopped separating.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384048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1.1, GLUE, SuperGLUE, ARC-AGI-1, MMLU, MATH, HumanEval, Chatbot Arena, MT-Bench, WebArena, SWE-bench -&gt; Verified, GPQA Diamond, MMMU, OSWorld, FrontierMath, Humanity's Last Exam, ARC-AGI-2, Terminal-Bench, GDPval, SWE-bench Pro, Remote Labor Index, ARC-AGI-3, OSWorld 2.0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3708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ARC-AGI-3 row is marked "6 months*" on the slide. The asterisk footnote is not present in the PDF text layer, so it is reproduced as printed and not reconstructed.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https://cs2680.seas.harvard.edu/slides/7_agent_design_4.pdf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DIMENSIONS, STILL MOVING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evaluation is heading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dimensions of the shift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3648456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719072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evaluated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3648456" cy="310896"/>
          </a:xfrm>
          <a:prstGeom prst="rect">
            <a:avLst/>
          </a:prstGeom>
          <a:solidFill>
            <a:srgbClr val="FFDDD2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103120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487168"/>
            <a:ext cx="3648456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487168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648456" cy="310896"/>
          </a:xfrm>
          <a:prstGeom prst="rect">
            <a:avLst/>
          </a:prstGeom>
          <a:solidFill>
            <a:srgbClr val="FFDDD2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871216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648456" cy="310896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25526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metric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39312"/>
            <a:ext cx="3648456" cy="310896"/>
          </a:xfrm>
          <a:prstGeom prst="rect">
            <a:avLst/>
          </a:prstGeom>
          <a:solidFill>
            <a:srgbClr val="FFDDD2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639312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concern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188720"/>
            <a:ext cx="3977640" cy="30175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direction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1664208"/>
            <a:ext cx="3648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is still evolving toward stateful, long-horizon, multi-grader, contamination-aware measurement.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450592"/>
            <a:ext cx="3648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2025-2026 era already shows the move: larger scope, less specific instructions, more realistic use cases.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054096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newest era is the least saturated: GDPval, BrowseComp, Terminal-Bench and ARC-AGI-3 are the four benchmarks of 2025-2026.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529584"/>
            <a:ext cx="3648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benchmark is a protocol, not just a dataset: version and split, permitted tools, budget and grader have to travel with every number.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dimensions: objective evaluated, interaction, grader, dataset, main metric, primary concern.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https://cs2680.seas.harvard.edu/slides/7_agent_design_4.pdf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CAPABILITY, COST, SPEED, AND USABILITY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agent has more than one dimension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dimensions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648456" cy="512064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7373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34640" y="1737360"/>
            <a:ext cx="1307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340864"/>
            <a:ext cx="3648456" cy="512064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34086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34640" y="2340864"/>
            <a:ext cx="1307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944368"/>
            <a:ext cx="3648456" cy="512064"/>
          </a:xfrm>
          <a:prstGeom prst="rect">
            <a:avLst/>
          </a:prstGeom>
          <a:solidFill>
            <a:srgbClr val="E29578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9443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34640" y="2944368"/>
            <a:ext cx="1307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47872"/>
            <a:ext cx="3648456" cy="512064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54787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usability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34640" y="3547872"/>
            <a:ext cx="1307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dimension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188720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188720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rule: Pareto dominance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1719072"/>
            <a:ext cx="640080" cy="6400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719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678424" y="1901952"/>
            <a:ext cx="457200" cy="274320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81928" y="1719072"/>
            <a:ext cx="640080" cy="64008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1719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50024" y="1719072"/>
            <a:ext cx="1490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dominates B if A is no worse on any metric and better on at least one.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2468880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1 is the Pareto frontier.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92040" y="2761488"/>
            <a:ext cx="3648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is evaluated on all three metrics - capability, cost and speed - using exactly this rule.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346704"/>
            <a:ext cx="3648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agents are not simply cheaper or faster: they are Pareto-efficient on capability, cost and speed at the same time.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hinge from measurement to the next lecture: once success rate is not enough, cost and latency have to be scored too.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https://cs2680.seas.harvard.edu/slides/7_agent_design_4.pdf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 IV 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24358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whole stack, not the model: leakage enters through prompt, retrieval, memory, tools, scaffold and developer iteration.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84048" cy="38404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211226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 what a benchmark grades; single-turn final-answer scoring misses exactly the behaviour real work needs.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84048" cy="38404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98094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saturate in months, so treat them as a moving target and measure capability, cost and speed together.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07008"/>
            <a:ext cx="2651760" cy="26517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207008"/>
            <a:ext cx="50292" cy="26517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35331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to carry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64592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is graded?"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17920" y="2139696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tour is organised by what the grader inspects: final answer, calls, DB state, patch tests, final system state, checkpoints.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318211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that question before you ask what the score is.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8229600" cy="47548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0416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 Advanced agent design I - cost and performance.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https://cs2680.seas.harvard.edu/slides/7_agent_design_4.pdf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Derived from the public CS2680 course site, Harvard SEAS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lecture-07-agent-design-4</dc:title>
  <dc:subject>CS2680 Modern AI Systems: Agents and System Optimizations</dc:subject>
  <dc:creator>CS2680 Courseware (personal study mirror)</dc:creator>
  <cp:lastModifiedBy>CS2680 Courseware (personal study mirror)</cp:lastModifiedBy>
  <cp:revision>1</cp:revision>
  <dcterms:created xsi:type="dcterms:W3CDTF">2026-10-19T17:39:52Z</dcterms:created>
  <dcterms:modified xsi:type="dcterms:W3CDTF">2026-10-19T17:39:52Z</dcterms:modified>
</cp:coreProperties>
</file>