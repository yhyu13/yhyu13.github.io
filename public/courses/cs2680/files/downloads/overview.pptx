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0"/>
            <a:ext cx="3520440" cy="46177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8932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DF6F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THIS COURSE WALKS DOWN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89320" y="868680"/>
            <a:ext cx="2834640" cy="402336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89320" y="8686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89320" y="1344168"/>
            <a:ext cx="2834640" cy="402336"/>
          </a:xfrm>
          <a:prstGeom prst="rect">
            <a:avLst/>
          </a:prstGeom>
          <a:solidFill>
            <a:srgbClr val="E29578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13441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harness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819656"/>
            <a:ext cx="2834640" cy="402336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81965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2295144"/>
            <a:ext cx="2834640" cy="402336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22951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system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2770632"/>
            <a:ext cx="2834640" cy="402336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77063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/ kernels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3246120"/>
            <a:ext cx="2834640" cy="402336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3767328"/>
            <a:ext cx="2834640" cy="402336"/>
          </a:xfrm>
          <a:prstGeom prst="rect">
            <a:avLst/>
          </a:prstGeom>
          <a:solidFill>
            <a:srgbClr val="83C5BE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7673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environment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777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CS2680 - HARVARD SEAS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1143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AI Systems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and System Optimizations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CS2680 / Harvard SEAS / Juncheng Yang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2907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2026 - the course-wide map of the course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" y="39959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in the schedule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3337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2194560" y="39959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70% of the grade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3375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40480" y="39959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exams: no midterm, no final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agentic system, end to 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takes one agentic system and walks it from the agent loop down to the serving stack and the hardware under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965960" cy="12344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50292" cy="1234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4650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goal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02536"/>
            <a:ext cx="1636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that has to be finished, not merely answered.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41448" y="20574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1600200"/>
            <a:ext cx="1965960" cy="12344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600200"/>
            <a:ext cx="50292" cy="1234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74650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+ harness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02536"/>
            <a:ext cx="1636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act, observe, adapt, deliver. Context, memory, tools, subagents.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90288" y="20574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1965960" cy="12344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00200"/>
            <a:ext cx="50292" cy="1234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74650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002536"/>
            <a:ext cx="1636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Batching, scheduling, routing, caching. Inference is the cost center.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39128" y="20574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03720" y="1600200"/>
            <a:ext cx="1965960" cy="12344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600200"/>
            <a:ext cx="50292" cy="1234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74650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+ hardware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2002536"/>
            <a:ext cx="16367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CUDA, Triton, collectives, and the machines underneath.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4023360" cy="1508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17520"/>
            <a:ext cx="50292" cy="1508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638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438144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design: context, memory, tools, evaluation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Serving: batching, scheduling, caching, routing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 and communication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performance and safety of the whole stack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4023360" cy="15087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017520"/>
            <a:ext cx="50292" cy="1508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1638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438144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pre-training, fine-tuning, post-training, RL rollout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and checkpointing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management; model architecture design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power and energy; new hardware design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590288"/>
            <a:ext cx="8229600" cy="1828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SHAPE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halves: agents, then efficient serving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7432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743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 - Sep 2 to Oct 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94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and logistics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use I and II: how Claude Code works, multi-agent workflows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design I to IV: context and tools, multi-agent architecture, memory and reliability, evaluation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agent design I and II: cost and performance; safety and self-evolving harness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published: eight lecture decks plus one extra deck, 8_assignment3.pdf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2743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50292" cy="2743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8074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II - Oct 19 to Dec 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94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LLM serving basics I to III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decoding; pruning and quantization; KV-cache optimization and model architectures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agentic systems: scheduling and prefix caching; routing and load balancing; others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not published: no PDF exists for any Part II lecture, any student-led session, any guest lecture, or any no-class row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42062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course's own shape: Foundations in the first few classes, then Systems for LLMs and agents for the majority.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I: weeks 1 to 7, Sep 2 to Oct 14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4617720"/>
                <a:gridCol w="21945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overview and logistics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slides/1_intro.pdf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class - Labor Day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use I: How Claude Code Works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slides/2_agent_use_1.pdf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use II: 100x Engineer with Multi-agents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slides/3_agent_use_2.pdf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design I: context management and tool design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slides/4_agent_design_1.pdf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sharing I (Assignment 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design II: multi-agent architecture, coordination, and communication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slides/5_agent_design_2.pdf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design III: agent memory and reliability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slides/6_agent_design_3.pdf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design IV: agent evaluation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slides/7_agent_design_4.pdf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lecture: Developing and Evaluating Agents in Enterprise Setting (Snowflake)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agent design I: Cost and performance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8_agent_design_5.pdf + 8_assignment3.pdf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class - Indigenous Peoples' Day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agent design II: agent safety, self-evolving harness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70832"/>
            <a:ext cx="128016" cy="128016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published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148840" y="4370832"/>
            <a:ext cx="128016" cy="128016"/>
          </a:xfrm>
          <a:prstGeom prst="rect">
            <a:avLst/>
          </a:prstGeom>
          <a:solidFill>
            <a:srgbClr val="EDF6F9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50008" y="43159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slides published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023360" y="4315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lecture decks plus one extra deck are published for Part I. No PDF exists for any student-led session, any guest lecture, or any no-class row.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II: weeks 8 to 14, Oct 19 to Dec 7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52144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4617720"/>
                <a:gridCol w="21945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LLM serving basics 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II - slides not published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LLM serving basics 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II - slides not published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Feedback and Student sharing 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LLM serving basics III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II - slides not published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LLM serving: speculative decoding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II - slides not published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agentic systems: scheduling and prefix caching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II - slides not published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lecture: Why Infrastructure sets the pace of AI (Meta)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LLM serving: pruning and quantization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II - slides not published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LLM serving: KV-cache optimization and model architectures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sharing III (Assignment 4: agent-engine co-design)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agentic system: routing and load balancing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II - slides not published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class - Thanksgiving recess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agentic systems: others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II - slides not published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sharing IV (Assignment 5: full stack optimizations)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project poster and demo (SEC 1.402, 9:00 AM to 1:00 PM)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70832"/>
            <a:ext cx="128016" cy="128016"/>
          </a:xfrm>
          <a:prstGeom prst="rect">
            <a:avLst/>
          </a:prstGeom>
          <a:solidFill>
            <a:srgbClr val="EDF6F9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15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not yet published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834640" y="431596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PDF exists for any Part II lecture, any student-led session, any guest lecture, or any no-class row. Part II appears in this courseware as a map only.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Mads assignments, 70% of the grade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914400"/>
                <a:gridCol w="3017520"/>
                <a:gridCol w="548640"/>
                <a:gridCol w="822960"/>
                <a:gridCol w="1371600"/>
                <a:gridCol w="1280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build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Mads-Lens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the agent work - Experience a coding agent: build a web UI for Claude Code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Sep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Sep 20, 11:59pm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Mads-Loop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loop - Build an agent harness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Sep 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Oct 4, 11:59pm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10-12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Mads-Opt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every token count - Harness competition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Oct 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Oct 20, 11:59pm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Mads-Serve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the serving engine - Serve your own agent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Oct 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Nov 10, 11:59pm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10-14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Mads-Stack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the full stack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Nov 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Nov 29, 11:59pm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12-18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61188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758184"/>
            <a:ext cx="7900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Mads abbreviates Modern Agent Design and Systems, and nods to Harvard's MaDSys group. Only Assignments 1 to 3 have published full specifications; for Assignments 4 and 5 the index page publishes date, weight, codename, one-paragraph summary and effort estimate only.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5262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page says every assignment submits three artifacts; the index disagrees about A3 and A5 - see the briefing deck.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 walks down the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1600200" cy="12801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788920"/>
            <a:ext cx="50292" cy="12801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670048"/>
            <a:ext cx="237744" cy="23774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670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93522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Mads-Lens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the grade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3355848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agent. Build a web UI that drives Claude Code.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48840" y="2560320"/>
            <a:ext cx="1600200" cy="15087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2560320"/>
            <a:ext cx="50292" cy="1508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441448"/>
            <a:ext cx="237744" cy="23774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270662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Mads-Loop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92608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the grade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3127248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runtime with your own agent loop.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0" y="2331720"/>
            <a:ext cx="1600200" cy="17373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2331720"/>
            <a:ext cx="50292" cy="17373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212848"/>
            <a:ext cx="237744" cy="23774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212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247802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Mads-Opt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269748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the grade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23360" y="2898648"/>
            <a:ext cx="1271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everything around a black-box API.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32120" y="2103120"/>
            <a:ext cx="1600200" cy="19659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2103120"/>
            <a:ext cx="50292" cy="19659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1984248"/>
            <a:ext cx="237744" cy="23774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984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0" y="224942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Mads-Serve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246888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the grade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15000" y="2670048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API and own the serving engine.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3760" y="1874520"/>
            <a:ext cx="1600200" cy="21945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874520"/>
            <a:ext cx="50292" cy="21945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1755648"/>
            <a:ext cx="237744" cy="23774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1755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06640" y="202082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Mads-Stack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224028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the grade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06640" y="2441448"/>
            <a:ext cx="12710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the whole stack.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4160520"/>
            <a:ext cx="8229600" cy="420624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16052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grading instrument changes with the assignment: feature checklist (A1), hidden held-out tasks (A2), leaderboard rank (A3). Each step removes more of the scaffolding the course provides.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grade is built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Mads-Lens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31720" y="1298448"/>
            <a:ext cx="4023360" cy="201168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1298448"/>
            <a:ext cx="2011680" cy="20116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280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Mads-Loop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645920"/>
            <a:ext cx="4023360" cy="201168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645920"/>
            <a:ext cx="2011680" cy="20116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276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Mads-Opt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1993392"/>
            <a:ext cx="4023360" cy="201168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1993392"/>
            <a:ext cx="4023360" cy="2011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9751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Mads-Serve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2340864"/>
            <a:ext cx="4023360" cy="201168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2340864"/>
            <a:ext cx="4023360" cy="2011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322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70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5 Mads-Stack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31720" y="2688336"/>
            <a:ext cx="4023360" cy="201168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2688336"/>
            <a:ext cx="2011680" cy="20116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6700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017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31720" y="3035808"/>
            <a:ext cx="4023360" cy="201168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3035808"/>
            <a:ext cx="4023360" cy="2011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0175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364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participation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31720" y="3383280"/>
            <a:ext cx="4023360" cy="201168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31720" y="3383280"/>
            <a:ext cx="2011680" cy="20116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3649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712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31720" y="3730752"/>
            <a:ext cx="4023360" cy="201168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3730752"/>
            <a:ext cx="2011680" cy="20116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7124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1298448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exam, no midterm and no final. Lectures are not recorded.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096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breakdown disagrees with itself. This slide follows the course site policy page. Lecture 1's grading slide (2026-09-02) lists a different split: assignments 1, 2 and 4 at 10% each, assignments 3 and 5 at 20% each, project 16%, presentation 10%, participation 4%, bonus 10%. The two published sets are not reconciled in the course materials.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project: one claim, measured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20% of the course grade. One proposal, one poster and demo, one blog post and repository.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1031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" cy="2103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93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3694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system that solves a real problem better than the strongest available alternative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may come from missing context, poor reliability, high cost, slow response, privacy constraints, or an unsupported workflow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at least three of the closest commercial tools, open-source systems or research prototypes, and give the same input directly to a frontier 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21031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50292" cy="2103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093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TRACK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883664"/>
            <a:ext cx="3694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original, falsifiable claim about agents or the systems that run them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result the closest published work does not provide, explain why it occurs, and define the conditions under which it holds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 implementation, reproduction, benchmark or set of measurements does not meet the bar alone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2651760" cy="7772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03320"/>
            <a:ext cx="50292" cy="7772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496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Oct 28, 11:59pm - 2% of the course grade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3703320"/>
            <a:ext cx="2651760" cy="7772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3703320"/>
            <a:ext cx="50292" cy="7772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8496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Poster and demo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406908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Dec 7, SEC 1.402, 9:00 AM to 1:00 PM - 10%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3703320"/>
            <a:ext cx="2651760" cy="7772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3703320"/>
            <a:ext cx="50292" cy="7772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8496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post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406908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Dec 8, 11:59pm - 8%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rules that shape the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4630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days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36776"/>
            <a:ext cx="3694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 the semester, in whole days, spendable across assignments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submission one minute late consumes a full day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late work loses 20% of its value per day, to a floor of zero after five days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4630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36776"/>
            <a:ext cx="3694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is encouraged and never replaces authorship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submitted artifact must describe which tools were used and for what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 AI use is an integrity violation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8892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352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 policy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91256"/>
            <a:ext cx="3694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than 20% of the class receives an A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midterm and no final, and lectures are not recorded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is allowed if there is room, but auditors are not graded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023360" cy="14630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8892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352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191256"/>
            <a:ext cx="3694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the grade for active participation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not tracked, so no participation means a participation score of zero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is capped at 10% overall: optional presentations, course feedback, and problems current AI cannot solve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courseware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32004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3200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RULES FOR READING THESE DECKS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46085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lecture deck per published lecture PDF. Each deck mirrors a single deck from the course slides directory.</a:t>
            </a:r>
            <a:endParaRPr lang="en-US" sz="10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carries a provenance footer naming the upstream artifact, so any claim can be traced back to its source.</a:t>
            </a:r>
            <a:endParaRPr lang="en-US" sz="10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figures in the source decks are images with no extractable text. These decks reproduce the text, numbers and tables, and they do not redraw the original diagrams.</a:t>
            </a:r>
            <a:endParaRPr lang="en-US" sz="10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has no published slides yet, so Part II appears in the curriculum map and nowhere else.</a:t>
            </a:r>
            <a:endParaRPr lang="en-US" sz="10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two published pages disagree, a deck says so rather than quietly picking one.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1234440"/>
            <a:ext cx="3108960" cy="32004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234440"/>
            <a:ext cx="50292" cy="3200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38074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MAP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709928"/>
            <a:ext cx="91440" cy="91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60020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- the course-wide map (this deck)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0" y="2185416"/>
            <a:ext cx="91440" cy="91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0756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lecture-01-course-overview - Course overview and logistics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0" y="2660904"/>
            <a:ext cx="91440" cy="91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55117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lecture-02-agent-use-1 - How Claude Code Works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60720" y="3136392"/>
            <a:ext cx="91440" cy="91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026664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lecture-03-agent-use-2 - 100x Engineer with Multi-agents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60720" y="3611880"/>
            <a:ext cx="91440" cy="91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50215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lecture-04-agent-design-1 - context management and tool design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60720" y="3922776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decks cover the remaining published slides.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carry out of this course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2179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6217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74320" cy="27432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380744"/>
            <a:ext cx="7516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systems course: the object of study is the whole agentic serving system, not the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8229600" cy="62179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11096"/>
            <a:ext cx="50292" cy="6217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93976"/>
            <a:ext cx="274320" cy="27432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2057400"/>
            <a:ext cx="7516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becomes product only through systems work, and that work is harder than the AI itself.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87752"/>
            <a:ext cx="8229600" cy="621792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87752"/>
            <a:ext cx="50292" cy="6217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70632"/>
            <a:ext cx="274320" cy="27432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2734056"/>
            <a:ext cx="7516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task success per dollar and per unit of energy, not tokens per second.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64408"/>
            <a:ext cx="8229600" cy="62179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64408"/>
            <a:ext cx="50292" cy="6217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47288"/>
            <a:ext cx="274320" cy="27432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3410712"/>
            <a:ext cx="7516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assignments walk down the stack: use, build, optimize, serve, then optimize the whole stack.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8229600" cy="62179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41064"/>
            <a:ext cx="50292" cy="6217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123944"/>
            <a:ext cx="274320" cy="274320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4087368"/>
            <a:ext cx="7516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agentic workload property is a systems problem, and the workload table is effectively the syllabus.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Derived from the public CS2680 course site, Harvard SEAS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subject>CS2680 Modern AI Systems: Agents and System Optimizations</dc:subject>
  <dc:creator>CS2680 Courseware (personal study mirror)</dc:creator>
  <cp:lastModifiedBy>CS2680 Courseware (personal study mirror)</cp:lastModifiedBy>
  <cp:revision>1</cp:revision>
  <dcterms:created xsi:type="dcterms:W3CDTF">2026-10-19T17:39:52Z</dcterms:created>
  <dcterms:modified xsi:type="dcterms:W3CDTF">2026-10-19T17:39:52Z</dcterms:modified>
</cp:coreProperties>
</file>