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0"/>
            <a:ext cx="3520440" cy="46177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89320" y="457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DF6F9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AI SYSTEMS DIFFER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989320" y="868680"/>
            <a:ext cx="2834640" cy="640080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9320" y="868680"/>
            <a:ext cx="50292" cy="6400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9418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1161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work, distinct phases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989320" y="1600200"/>
            <a:ext cx="2834640" cy="640080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1600200"/>
            <a:ext cx="50292" cy="6400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6733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Non-determinism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892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7th-decimal shift can flip a token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89320" y="2331720"/>
            <a:ext cx="2834640" cy="640080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2331720"/>
            <a:ext cx="50292" cy="6400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404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and communication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624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KV-cache, parallelism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9320" y="3063240"/>
            <a:ext cx="2834640" cy="640080"/>
          </a:xfrm>
          <a:prstGeom prst="rect">
            <a:avLst/>
          </a:prstGeom>
          <a:solidFill>
            <a:srgbClr val="EDF6F9"/>
          </a:solidFill>
          <a:ln w="6350">
            <a:solidFill>
              <a:srgbClr val="EDF6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3063240"/>
            <a:ext cx="50292" cy="6400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1363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Fast-moving models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355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MHA, GQA, MLA, NSA, linear attention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8932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F6F9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Inference, not training, is the cost center.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777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CS2680 - HARVARD SEAS - LECTURE 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1097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overview and logistics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4864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1 - 2026-09-02 - CS2680 / Harvard SEAS / Juncheng Yang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as a systems course: one agentic system, from the agent loop down to the serving stack and the hardware under it.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3832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54864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 the source deck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33832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219456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in the schedule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3383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3840480" y="40416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assignments, all individual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graduate systems course about agents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265176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26517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EXPECTED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55064"/>
            <a:ext cx="369417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prior graduate-level systems course (operating systems, networking, databases, architecture) plus real systems experience</a:t>
            </a:r>
            <a:endParaRPr lang="en-US" sz="9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systems vocabulary: latency, tail latency, Amdahl's law, concurrency, mutex, cache coherence, false sharing, virtual memory, NUMA, locality, LRU, durability, ACID, B-tree, RPC, partitioning, RDMA, batching, pipelining, asynchronous execution (this list is the course policy page, not the slide deck)</a:t>
            </a:r>
            <a:endParaRPr lang="en-US" sz="9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with Python and PyTorch, CS61 and one graduate systems course; CUDA is not required (the prerequisites are the course home page)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265176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50292" cy="26517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8074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COURSE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655064"/>
            <a:ext cx="369417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in the first few classes</a:t>
            </a:r>
            <a:endParaRPr lang="en-US" sz="9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for LLMs and agents for the majority: GPU programming and kernels, batching / scheduling / memory management, load balancing and routing, KV-cache and prefix-cache, agent serving systems</a:t>
            </a:r>
            <a:endParaRPr lang="en-US" sz="9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graduate-level computer systems course on agentic AI systems</a:t>
            </a:r>
            <a:endParaRPr lang="en-US" sz="9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either a tool you will actually use, or a research project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workload warning, in the course's own words: "Do NOT take this class if you care about GPA". Expect 10+ hours every week.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shift: which model, versus how to serve 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20574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2057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AI/ML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73352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model should we use?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39112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accuracy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capability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20574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50292" cy="2057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80744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SYSTEMS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673352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train and serve it at scale?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039112"/>
            <a:ext cx="3694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GPU utilization, resource waste, downtime and carbon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moving parts: scheduling and orchestration, state management, communication, caching, fault-tolerance, security, observability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8229600" cy="5486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564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where capability becomes product ... and it is harder than the AI itself."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one component of the system. The course is about the rest of it.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AI systems differ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4630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1463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99032"/>
            <a:ext cx="274320" cy="27432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99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38074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work split: CPU for tokenization, kernel launch, data movement and tool calls, GPU for matmul. Prefill is compute-bound, decode is memory-bandwidth-bound.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4630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0292" cy="1463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399032"/>
            <a:ext cx="274320" cy="27432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99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30368" y="138074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Non-determinism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91640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addition is not associative. A 7th-decimal shift in a matmul can flip the next token.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4023360" cy="14630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88920"/>
            <a:ext cx="50292" cy="1463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953512"/>
            <a:ext cx="274320" cy="27432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4128" y="293522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and communication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246120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from GBs to TBs, KV-cache in 10s to 100s of KB per token, prefix-cache reuse, and parallelism across GPUs.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88920"/>
            <a:ext cx="4023360" cy="14630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788920"/>
            <a:ext cx="50292" cy="14630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953512"/>
            <a:ext cx="274320" cy="27432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30368" y="293522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Fast-moving models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246120"/>
            <a:ext cx="3694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MHA, GQA, MLA, NSA, linear attention. Workloads: multi-turn chat, problem solving, RAG, agents.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1 - COMPUTE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processors, two very different jobs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0292" cy="13716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3502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LANE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1737360" cy="2743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627632"/>
            <a:ext cx="1737360" cy="2743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launch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975104"/>
            <a:ext cx="1737360" cy="2743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75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1975104"/>
            <a:ext cx="1737360" cy="2743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975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88720"/>
            <a:ext cx="50292" cy="13716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33502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LANE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627632"/>
            <a:ext cx="2011680" cy="38404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627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6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matmul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084832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around the matmul - tokenization, kernel launch, data movement, tool calls - lands on the CPU.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4023360" cy="9601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697480"/>
            <a:ext cx="50292" cy="9601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84378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0815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compute-bound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2697480"/>
            <a:ext cx="4023360" cy="9601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697480"/>
            <a:ext cx="50292" cy="9601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84378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08152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memory-bandwidth-bound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8404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depends on the length of the output, which complicates scheduling. The two phases of one request want different hardware.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2 - NON-DETERMINISM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7th-decimal shift can flip the next token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7th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shift flips the next token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280160"/>
            <a:ext cx="5852160" cy="749808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834640" y="1280160"/>
            <a:ext cx="50292" cy="74980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426464"/>
            <a:ext cx="5522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664208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 and block scheduling, memory ordering, async streams, batch size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2121408"/>
            <a:ext cx="5852160" cy="749808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34640" y="2121408"/>
            <a:ext cx="50292" cy="74980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267712"/>
            <a:ext cx="5522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505456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multiply-add, autotuning, subnormals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2962656"/>
            <a:ext cx="5852160" cy="749808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34640" y="2962656"/>
            <a:ext cx="50292" cy="74980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3108960"/>
            <a:ext cx="5522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3346704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vs tensor core, Hopper FP8 vs Blackwell micro-scaling tiles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566928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40480"/>
            <a:ext cx="50292" cy="566928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86784"/>
            <a:ext cx="7900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addition is not associative, so a 7th-decimal shift in a matmul can flip the next token. Approximate computing is acceptable.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3 AND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State, communication, churn, and the bill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differences are equally structural, and each of them shows up later as a systems problem.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0292" cy="1417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6362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19656"/>
            <a:ext cx="369417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weights: GBs to TBs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KV-cache: 10s to 100s of KB per token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cache reuses KV across requests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14173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17320"/>
            <a:ext cx="50292" cy="1417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6362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19656"/>
            <a:ext cx="369417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tensor, expert and context parallelism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NCCL, UCCL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NVLink, Ethernet/InfiniBand, RDMA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4173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50292" cy="1417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7238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328416"/>
            <a:ext cx="369417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MHA, GQA, MLA, NSA, linear attention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Workloads: multi-turn chat, problem solving, RAG, agents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4023360" cy="14173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26080"/>
            <a:ext cx="50292" cy="14173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07238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 and power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328416"/>
            <a:ext cx="369417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AFR, 50,000hr MTBF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GPU fails every 3 hours in a 16K-GPU cluster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100-300W; GPU 700-1000W, 4-8 GPUs per server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power 800W to 6,000W: an 8x increase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Strange computers: superhuman and incompetent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25146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25146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SUPERHUMAN 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73352"/>
            <a:ext cx="36941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Recalling factual knowledge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code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across many domains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25146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50292" cy="25146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8074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SURPRISINGLY WEAK 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673352"/>
            <a:ext cx="36941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Reliably understanding context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hallucinations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what they do not know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adversarial input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86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students get wrong. Video: LLM strengths and weaknesses - https://www.youtube.com/watch?v=LCEmiRjPEtQ&amp;t=874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kind of programmable computer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754880" cy="23774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2377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64792"/>
            <a:ext cx="731520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647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85623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17904" y="1764792"/>
            <a:ext cx="731520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17904" y="17647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49424" y="185623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95728" y="1764792"/>
            <a:ext cx="731520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17647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27248" y="185623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73552" y="1764792"/>
            <a:ext cx="731520" cy="457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17647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05072" y="185623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51376" y="1764792"/>
            <a:ext cx="731520" cy="457200"/>
          </a:xfrm>
          <a:prstGeom prst="rect">
            <a:avLst/>
          </a:prstGeom>
          <a:solidFill>
            <a:srgbClr val="E29578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17647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2350008"/>
            <a:ext cx="4425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an autonomous software system that uses an AI model to reason about a goal, use external tools, and execute multi-step actions until the task is finished.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1234440"/>
            <a:ext cx="3200400" cy="237744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1234440"/>
            <a:ext cx="50292" cy="2377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380744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KIND OF COMPUTER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1746504"/>
            <a:ext cx="2871216" cy="2743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746504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 =  RAM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2093976"/>
            <a:ext cx="2871216" cy="2743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2093976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=  peripherals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2441448"/>
            <a:ext cx="2871216" cy="2743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24414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harness  =  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2788920"/>
            <a:ext cx="2871216" cy="2743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278892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=  application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3191256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harness as OS is the object Lecture 2 opens up and Lecture 4 designs from first principles.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8229600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74904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a new kind of programmable computer, with a different programming model and a different failure model.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serving is a chain, not a request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006D7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REQUEST/RESPONSE SERVING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371600" cy="5029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5361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6D77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1444752"/>
            <a:ext cx="1371600" cy="5029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4447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5361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6D77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1444752"/>
            <a:ext cx="1371600" cy="50292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4447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006D77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1234440" cy="502920"/>
          </a:xfrm>
          <a:prstGeom prst="rect">
            <a:avLst/>
          </a:prstGeom>
          <a:solidFill>
            <a:srgbClr val="006D77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14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91640" y="260604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10512" y="2514600"/>
            <a:ext cx="1234440" cy="5029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2514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44952" y="260604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63824" y="2514600"/>
            <a:ext cx="1234440" cy="502920"/>
          </a:xfrm>
          <a:prstGeom prst="rect">
            <a:avLst/>
          </a:prstGeom>
          <a:solidFill>
            <a:srgbClr val="006D77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2514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98264" y="260604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17136" y="2514600"/>
            <a:ext cx="1234440" cy="5029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17136" y="2514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51576" y="260604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70448" y="2514600"/>
            <a:ext cx="1234440" cy="502920"/>
          </a:xfrm>
          <a:prstGeom prst="rect">
            <a:avLst/>
          </a:prstGeom>
          <a:solidFill>
            <a:srgbClr val="006D77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0448" y="2514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04888" y="260604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23760" y="2514600"/>
            <a:ext cx="1234440" cy="5029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25146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3375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path spans GPU, CPU, storage, network and external services. Inference is the cost center, and efficiency, reliability, performance and sustainability are the framing the course inherits.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to maximize task success subject to latency, cost, resources, reliability and security. Throughput is the wrong objective.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stack an agentic system runs 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6583680" cy="43891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0292" cy="43891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/ User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12801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92224"/>
            <a:ext cx="6583680" cy="438912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92224"/>
            <a:ext cx="50292" cy="43891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922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/ Harness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7922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context, memory, tools, subagents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6583680" cy="43891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04288"/>
            <a:ext cx="50292" cy="43891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042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230428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16352"/>
            <a:ext cx="6583680" cy="438912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16352"/>
            <a:ext cx="50292" cy="43891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163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Serving 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8163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batching, scheduling, routing, caching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28416"/>
            <a:ext cx="6583680" cy="438912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28416"/>
            <a:ext cx="50292" cy="43891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2841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/ Kernels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32841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6D7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CUDA, Triton, collectives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6583680" cy="438912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840480"/>
            <a:ext cx="50292" cy="43891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840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17520" y="38404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40880" y="2505456"/>
            <a:ext cx="274320" cy="0"/>
          </a:xfrm>
          <a:prstGeom prst="line">
            <a:avLst/>
          </a:prstGeom>
          <a:noFill/>
          <a:ln w="19050">
            <a:solidFill>
              <a:srgbClr val="E2957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315200" y="2011680"/>
            <a:ext cx="1371600" cy="1005840"/>
          </a:xfrm>
          <a:prstGeom prst="rect">
            <a:avLst/>
          </a:prstGeom>
          <a:solidFill>
            <a:srgbClr val="83C5BE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20116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Environment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 not end at the hardware: an External Environment sits alongside the stack.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Throughput is the wrong objective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6002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1600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BUT INSUFFICIENT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73352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 / TPOT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latency</a:t>
            </a:r>
            <a:endParaRPr lang="en-US" sz="11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utilization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600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50292" cy="16002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8074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OPTIMIZED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673352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/ accuracy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task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/ successful task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/ successful task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6D77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tokens per second can still mean a slower, costlier agent. This is what students get wrong.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8229600" cy="123444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73552"/>
            <a:ext cx="50292" cy="123444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19856"/>
            <a:ext cx="7900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QUESTIONS THE COURSE ANSWERS, FOR EXAMPLE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1246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batching improves throughput but hurts agent latency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 larger model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KV and prefix state lives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712464"/>
            <a:ext cx="3877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spawn a subagent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a 30-minute agent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$ per successful task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SYLLABUS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workload property is a systems problem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210312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50292" cy="21031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8010144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2487168"/>
                <a:gridCol w="1517904"/>
                <a:gridCol w="2487168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workload property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problem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workload property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DF6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problem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trajectories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and context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prefixes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 caching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dependencies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Dependency-aware scheduling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tool latency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Asynchronous execution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and communication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Huge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hierarchy and retrieval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Branching reasoning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Speculative execution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models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side effects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and isolation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Long-running tasks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Checkpointing and fault tolerance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3C5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383280"/>
            <a:ext cx="50292" cy="73152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529584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effectively the syllabus: each row is a lecture topic later in the course.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cannot optimize what you cannot observe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937760" cy="32004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0292" cy="3200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0744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DISTRIBUTED TRACE BECOMES A NESTED TRAJECTORY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46504"/>
            <a:ext cx="4572000" cy="25146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83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2020824"/>
            <a:ext cx="4114800" cy="205740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574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97280" y="2295144"/>
            <a:ext cx="3657600" cy="16002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3317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step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25880" y="2615184"/>
            <a:ext cx="960120" cy="4114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261518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request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77440" y="2615184"/>
            <a:ext cx="960120" cy="4114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261518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29000" y="2615184"/>
            <a:ext cx="960120" cy="4114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61518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25880" y="3209544"/>
            <a:ext cx="2011680" cy="36576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32095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(recursive)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577840" y="1234440"/>
            <a:ext cx="3108960" cy="320040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1234440"/>
            <a:ext cx="50292" cy="320040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380744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EXPLICITLY EXCLUDES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1673352"/>
            <a:ext cx="27797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data pipelines, checkpointing</a:t>
            </a:r>
            <a:endParaRPr lang="en-US" sz="10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Pre-training, fine-tuning, post-training, RL rollout</a:t>
            </a:r>
            <a:endParaRPr lang="en-US" sz="10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management</a:t>
            </a:r>
            <a:endParaRPr lang="en-US" sz="10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design</a:t>
            </a:r>
            <a:endParaRPr lang="en-US" sz="10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Communication, power and energy</a:t>
            </a:r>
            <a:endParaRPr lang="en-US" sz="10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hardware design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3749040"/>
            <a:ext cx="3108960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3749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of study is the agentic serving system.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40" kern="0" dirty="0">
                <a:solidFill>
                  <a:srgbClr val="E29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carry out of Lecture 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868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0292" cy="868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73352"/>
            <a:ext cx="329184" cy="329184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3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563624"/>
            <a:ext cx="7443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systems course: the object of study is the whole agentic serving system, not the model.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868680"/>
          </a:xfrm>
          <a:prstGeom prst="rect">
            <a:avLst/>
          </a:prstGeom>
          <a:solidFill>
            <a:srgbClr val="FFDDD2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50292" cy="868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724912"/>
            <a:ext cx="329184" cy="329184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615184"/>
            <a:ext cx="7443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a new kind of computer with a new programming model and a different failure model, so their systems problems do not map onto classic request/response serving.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868680"/>
          </a:xfrm>
          <a:prstGeom prst="rect">
            <a:avLst/>
          </a:prstGeom>
          <a:solidFill>
            <a:srgbClr val="EDF6F9"/>
          </a:solidFill>
          <a:ln w="9525">
            <a:solidFill>
              <a:srgbClr val="83C5BE"/>
            </a:solidFill>
            <a:prstDash val="solid"/>
          </a:ln>
          <a:effectLst>
            <a:outerShdw sx="100000" sy="100000" kx="0" ky="0" algn="bl" rotWithShape="0" blurRad="101600" dist="25400" dir="5400000">
              <a:srgbClr val="006d7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50292" cy="868680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76472"/>
            <a:ext cx="329184" cy="329184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666744"/>
            <a:ext cx="7443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task success per dollar and per unit of energy, not tokens per second. Every agentic workload property is a systems problem this course will solve.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85632" y="4645152"/>
            <a:ext cx="420624" cy="274320"/>
          </a:xfrm>
          <a:prstGeom prst="roundRect">
            <a:avLst>
              <a:gd name="adj" fmla="val 26667"/>
            </a:avLst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464515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7772400" cy="10973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731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6D77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https://cs2680.seas.harvard.edu/slides/1_intro.pdf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Derived from the public CS2680 course site, Harvard SEAS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lecture-01-course-overview</dc:title>
  <dc:subject>CS2680 Modern AI Systems: Agents and System Optimizations</dc:subject>
  <dc:creator>CS2680 Courseware (personal study mirror)</dc:creator>
  <cp:lastModifiedBy>CS2680 Courseware (personal study mirror)</cp:lastModifiedBy>
  <cp:revision>1</cp:revision>
  <dcterms:created xsi:type="dcterms:W3CDTF">2026-10-19T17:39:52Z</dcterms:created>
  <dcterms:modified xsi:type="dcterms:W3CDTF">2026-10-19T17:39:52Z</dcterms:modified>
</cp:coreProperties>
</file>