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DF6F9"/>
        </a:solidFill>
      </p:bgPr>
    </p:bg>
    <p:spTree>
      <p:nvGrpSpPr>
        <p:cNvPr id="1" name=""/>
        <p:cNvGrpSpPr/>
        <p:nvPr/>
      </p:nvGrpSpPr>
      <p:grpSpPr>
        <a:xfrm>
          <a:off x="0" y="0"/>
          <a:ext cx="0" cy="0"/>
          <a:chOff x="0" y="0"/>
          <a:chExt cx="0" cy="0"/>
        </a:xfrm>
      </p:grpSpPr>
      <p:sp>
        <p:nvSpPr>
          <p:cNvPr id="2" name="Shape 0"/>
          <p:cNvSpPr/>
          <p:nvPr/>
        </p:nvSpPr>
        <p:spPr>
          <a:xfrm>
            <a:off x="5623560" y="0"/>
            <a:ext cx="3520440" cy="4617720"/>
          </a:xfrm>
          <a:prstGeom prst="rect">
            <a:avLst/>
          </a:prstGeom>
          <a:solidFill>
            <a:srgbClr val="006D77"/>
          </a:solidFill>
          <a:ln w="12700">
            <a:solidFill>
              <a:srgbClr val="006D77"/>
            </a:solidFill>
            <a:prstDash val="solid"/>
          </a:ln>
        </p:spPr>
      </p:sp>
      <p:sp>
        <p:nvSpPr>
          <p:cNvPr id="3" name="Text 1"/>
          <p:cNvSpPr/>
          <p:nvPr/>
        </p:nvSpPr>
        <p:spPr>
          <a:xfrm>
            <a:off x="5989320" y="457200"/>
            <a:ext cx="2834640" cy="274320"/>
          </a:xfrm>
          <a:prstGeom prst="rect">
            <a:avLst/>
          </a:prstGeom>
          <a:noFill/>
          <a:ln/>
        </p:spPr>
        <p:txBody>
          <a:bodyPr wrap="square" lIns="0" tIns="0" rIns="0" bIns="0" rtlCol="0" anchor="ctr"/>
          <a:lstStyle/>
          <a:p>
            <a:pPr algn="l" indent="0" marL="0">
              <a:buNone/>
            </a:pPr>
            <a:r>
              <a:rPr lang="en-US" sz="900" spc="100" kern="0" dirty="0">
                <a:solidFill>
                  <a:srgbClr val="EDF6F9">
                    <a:alpha val="80000"/>
                  </a:srgbClr>
                </a:solidFill>
                <a:latin typeface="Calibri" pitchFamily="34" charset="0"/>
                <a:ea typeface="Calibri" pitchFamily="34" charset="-122"/>
                <a:cs typeface="Calibri" pitchFamily="34" charset="-120"/>
              </a:rPr>
              <a:t>THE AGENTIC LOOP</a:t>
            </a:r>
            <a:endParaRPr lang="en-US" sz="900" dirty="0"/>
          </a:p>
        </p:txBody>
      </p:sp>
      <p:sp>
        <p:nvSpPr>
          <p:cNvPr id="4" name="Shape 2"/>
          <p:cNvSpPr/>
          <p:nvPr/>
        </p:nvSpPr>
        <p:spPr>
          <a:xfrm>
            <a:off x="5989320" y="868680"/>
            <a:ext cx="2834640" cy="548640"/>
          </a:xfrm>
          <a:prstGeom prst="rect">
            <a:avLst/>
          </a:prstGeom>
          <a:solidFill>
            <a:srgbClr val="EDF6F9"/>
          </a:solidFill>
          <a:ln w="6350">
            <a:solidFill>
              <a:srgbClr val="EDF6F9"/>
            </a:solidFill>
            <a:prstDash val="solid"/>
          </a:ln>
        </p:spPr>
      </p:sp>
      <p:sp>
        <p:nvSpPr>
          <p:cNvPr id="5" name="Shape 3"/>
          <p:cNvSpPr/>
          <p:nvPr/>
        </p:nvSpPr>
        <p:spPr>
          <a:xfrm>
            <a:off x="5989320" y="868680"/>
            <a:ext cx="50292" cy="548640"/>
          </a:xfrm>
          <a:prstGeom prst="rect">
            <a:avLst/>
          </a:prstGeom>
          <a:solidFill>
            <a:srgbClr val="E29578"/>
          </a:solidFill>
          <a:ln w="12700">
            <a:solidFill>
              <a:srgbClr val="E29578"/>
            </a:solidFill>
            <a:prstDash val="solid"/>
          </a:ln>
        </p:spPr>
      </p:sp>
      <p:sp>
        <p:nvSpPr>
          <p:cNvPr id="6" name="Text 4"/>
          <p:cNvSpPr/>
          <p:nvPr/>
        </p:nvSpPr>
        <p:spPr>
          <a:xfrm>
            <a:off x="6144768" y="923544"/>
            <a:ext cx="2560320" cy="219456"/>
          </a:xfrm>
          <a:prstGeom prst="rect">
            <a:avLst/>
          </a:prstGeom>
          <a:noFill/>
          <a:ln/>
        </p:spPr>
        <p:txBody>
          <a:bodyPr wrap="square" lIns="0" tIns="0" rIns="0" bIns="0" rtlCol="0" anchor="ctr"/>
          <a:lstStyle/>
          <a:p>
            <a:pPr algn="l" indent="0" marL="0">
              <a:buNone/>
            </a:pPr>
            <a:r>
              <a:rPr lang="en-US" sz="1100" b="1" dirty="0">
                <a:solidFill>
                  <a:srgbClr val="006D77"/>
                </a:solidFill>
                <a:latin typeface="Georgia" pitchFamily="34" charset="0"/>
                <a:ea typeface="Georgia" pitchFamily="34" charset="-122"/>
                <a:cs typeface="Georgia" pitchFamily="34" charset="-120"/>
              </a:rPr>
              <a:t>1  Gather context</a:t>
            </a:r>
            <a:endParaRPr lang="en-US" sz="1100" dirty="0"/>
          </a:p>
        </p:txBody>
      </p:sp>
      <p:sp>
        <p:nvSpPr>
          <p:cNvPr id="7" name="Text 5"/>
          <p:cNvSpPr/>
          <p:nvPr/>
        </p:nvSpPr>
        <p:spPr>
          <a:xfrm>
            <a:off x="6144768" y="1143000"/>
            <a:ext cx="2560320" cy="219456"/>
          </a:xfrm>
          <a:prstGeom prst="rect">
            <a:avLst/>
          </a:prstGeom>
          <a:noFill/>
          <a:ln/>
        </p:spPr>
        <p:txBody>
          <a:bodyPr wrap="square" lIns="0" tIns="0" rIns="0" bIns="0" rtlCol="0" anchor="ctr"/>
          <a:lstStyle/>
          <a:p>
            <a:pPr algn="l" indent="0" marL="0">
              <a:buNone/>
            </a:pPr>
            <a:r>
              <a:rPr lang="en-US" sz="850" dirty="0">
                <a:solidFill>
                  <a:srgbClr val="006D77">
                    <a:alpha val="85000"/>
                  </a:srgbClr>
                </a:solidFill>
                <a:latin typeface="Calibri" pitchFamily="34" charset="0"/>
                <a:ea typeface="Calibri" pitchFamily="34" charset="-122"/>
                <a:cs typeface="Calibri" pitchFamily="34" charset="-120"/>
              </a:rPr>
              <a:t>prompt, files, tool results</a:t>
            </a:r>
            <a:endParaRPr lang="en-US" sz="850" dirty="0"/>
          </a:p>
        </p:txBody>
      </p:sp>
      <p:sp>
        <p:nvSpPr>
          <p:cNvPr id="8" name="Shape 6"/>
          <p:cNvSpPr/>
          <p:nvPr/>
        </p:nvSpPr>
        <p:spPr>
          <a:xfrm>
            <a:off x="5989320" y="1527048"/>
            <a:ext cx="2834640" cy="548640"/>
          </a:xfrm>
          <a:prstGeom prst="rect">
            <a:avLst/>
          </a:prstGeom>
          <a:solidFill>
            <a:srgbClr val="EDF6F9"/>
          </a:solidFill>
          <a:ln w="6350">
            <a:solidFill>
              <a:srgbClr val="EDF6F9"/>
            </a:solidFill>
            <a:prstDash val="solid"/>
          </a:ln>
        </p:spPr>
      </p:sp>
      <p:sp>
        <p:nvSpPr>
          <p:cNvPr id="9" name="Shape 7"/>
          <p:cNvSpPr/>
          <p:nvPr/>
        </p:nvSpPr>
        <p:spPr>
          <a:xfrm>
            <a:off x="5989320" y="1527048"/>
            <a:ext cx="50292" cy="548640"/>
          </a:xfrm>
          <a:prstGeom prst="rect">
            <a:avLst/>
          </a:prstGeom>
          <a:solidFill>
            <a:srgbClr val="E29578"/>
          </a:solidFill>
          <a:ln w="12700">
            <a:solidFill>
              <a:srgbClr val="E29578"/>
            </a:solidFill>
            <a:prstDash val="solid"/>
          </a:ln>
        </p:spPr>
      </p:sp>
      <p:sp>
        <p:nvSpPr>
          <p:cNvPr id="10" name="Text 8"/>
          <p:cNvSpPr/>
          <p:nvPr/>
        </p:nvSpPr>
        <p:spPr>
          <a:xfrm>
            <a:off x="6144768" y="1581912"/>
            <a:ext cx="2560320" cy="219456"/>
          </a:xfrm>
          <a:prstGeom prst="rect">
            <a:avLst/>
          </a:prstGeom>
          <a:noFill/>
          <a:ln/>
        </p:spPr>
        <p:txBody>
          <a:bodyPr wrap="square" lIns="0" tIns="0" rIns="0" bIns="0" rtlCol="0" anchor="ctr"/>
          <a:lstStyle/>
          <a:p>
            <a:pPr algn="l" indent="0" marL="0">
              <a:buNone/>
            </a:pPr>
            <a:r>
              <a:rPr lang="en-US" sz="1100" b="1" dirty="0">
                <a:solidFill>
                  <a:srgbClr val="006D77"/>
                </a:solidFill>
                <a:latin typeface="Georgia" pitchFamily="34" charset="0"/>
                <a:ea typeface="Georgia" pitchFamily="34" charset="-122"/>
                <a:cs typeface="Georgia" pitchFamily="34" charset="-120"/>
              </a:rPr>
              <a:t>2  Generate action</a:t>
            </a:r>
            <a:endParaRPr lang="en-US" sz="1100" dirty="0"/>
          </a:p>
        </p:txBody>
      </p:sp>
      <p:sp>
        <p:nvSpPr>
          <p:cNvPr id="11" name="Text 9"/>
          <p:cNvSpPr/>
          <p:nvPr/>
        </p:nvSpPr>
        <p:spPr>
          <a:xfrm>
            <a:off x="6144768" y="1801368"/>
            <a:ext cx="2560320" cy="219456"/>
          </a:xfrm>
          <a:prstGeom prst="rect">
            <a:avLst/>
          </a:prstGeom>
          <a:noFill/>
          <a:ln/>
        </p:spPr>
        <p:txBody>
          <a:bodyPr wrap="square" lIns="0" tIns="0" rIns="0" bIns="0" rtlCol="0" anchor="ctr"/>
          <a:lstStyle/>
          <a:p>
            <a:pPr algn="l" indent="0" marL="0">
              <a:buNone/>
            </a:pPr>
            <a:r>
              <a:rPr lang="en-US" sz="850" dirty="0">
                <a:solidFill>
                  <a:srgbClr val="006D77">
                    <a:alpha val="85000"/>
                  </a:srgbClr>
                </a:solidFill>
                <a:latin typeface="Calibri" pitchFamily="34" charset="0"/>
                <a:ea typeface="Calibri" pitchFamily="34" charset="-122"/>
                <a:cs typeface="Calibri" pitchFamily="34" charset="-120"/>
              </a:rPr>
              <a:t>run a tool: bash, read, edit</a:t>
            </a:r>
            <a:endParaRPr lang="en-US" sz="850" dirty="0"/>
          </a:p>
        </p:txBody>
      </p:sp>
      <p:sp>
        <p:nvSpPr>
          <p:cNvPr id="12" name="Shape 10"/>
          <p:cNvSpPr/>
          <p:nvPr/>
        </p:nvSpPr>
        <p:spPr>
          <a:xfrm>
            <a:off x="5989320" y="2185416"/>
            <a:ext cx="2834640" cy="548640"/>
          </a:xfrm>
          <a:prstGeom prst="rect">
            <a:avLst/>
          </a:prstGeom>
          <a:solidFill>
            <a:srgbClr val="EDF6F9"/>
          </a:solidFill>
          <a:ln w="6350">
            <a:solidFill>
              <a:srgbClr val="EDF6F9"/>
            </a:solidFill>
            <a:prstDash val="solid"/>
          </a:ln>
        </p:spPr>
      </p:sp>
      <p:sp>
        <p:nvSpPr>
          <p:cNvPr id="13" name="Shape 11"/>
          <p:cNvSpPr/>
          <p:nvPr/>
        </p:nvSpPr>
        <p:spPr>
          <a:xfrm>
            <a:off x="5989320" y="2185416"/>
            <a:ext cx="50292" cy="548640"/>
          </a:xfrm>
          <a:prstGeom prst="rect">
            <a:avLst/>
          </a:prstGeom>
          <a:solidFill>
            <a:srgbClr val="E29578"/>
          </a:solidFill>
          <a:ln w="12700">
            <a:solidFill>
              <a:srgbClr val="E29578"/>
            </a:solidFill>
            <a:prstDash val="solid"/>
          </a:ln>
        </p:spPr>
      </p:sp>
      <p:sp>
        <p:nvSpPr>
          <p:cNvPr id="14" name="Text 12"/>
          <p:cNvSpPr/>
          <p:nvPr/>
        </p:nvSpPr>
        <p:spPr>
          <a:xfrm>
            <a:off x="6144768" y="2240280"/>
            <a:ext cx="2560320" cy="219456"/>
          </a:xfrm>
          <a:prstGeom prst="rect">
            <a:avLst/>
          </a:prstGeom>
          <a:noFill/>
          <a:ln/>
        </p:spPr>
        <p:txBody>
          <a:bodyPr wrap="square" lIns="0" tIns="0" rIns="0" bIns="0" rtlCol="0" anchor="ctr"/>
          <a:lstStyle/>
          <a:p>
            <a:pPr algn="l" indent="0" marL="0">
              <a:buNone/>
            </a:pPr>
            <a:r>
              <a:rPr lang="en-US" sz="1100" b="1" dirty="0">
                <a:solidFill>
                  <a:srgbClr val="006D77"/>
                </a:solidFill>
                <a:latin typeface="Georgia" pitchFamily="34" charset="0"/>
                <a:ea typeface="Georgia" pitchFamily="34" charset="-122"/>
                <a:cs typeface="Georgia" pitchFamily="34" charset="-120"/>
              </a:rPr>
              <a:t>3  Run tool</a:t>
            </a:r>
            <a:endParaRPr lang="en-US" sz="1100" dirty="0"/>
          </a:p>
        </p:txBody>
      </p:sp>
      <p:sp>
        <p:nvSpPr>
          <p:cNvPr id="15" name="Text 13"/>
          <p:cNvSpPr/>
          <p:nvPr/>
        </p:nvSpPr>
        <p:spPr>
          <a:xfrm>
            <a:off x="6144768" y="2459736"/>
            <a:ext cx="2560320" cy="219456"/>
          </a:xfrm>
          <a:prstGeom prst="rect">
            <a:avLst/>
          </a:prstGeom>
          <a:noFill/>
          <a:ln/>
        </p:spPr>
        <p:txBody>
          <a:bodyPr wrap="square" lIns="0" tIns="0" rIns="0" bIns="0" rtlCol="0" anchor="ctr"/>
          <a:lstStyle/>
          <a:p>
            <a:pPr algn="l" indent="0" marL="0">
              <a:buNone/>
            </a:pPr>
            <a:r>
              <a:rPr lang="en-US" sz="850" dirty="0">
                <a:solidFill>
                  <a:srgbClr val="006D77">
                    <a:alpha val="85000"/>
                  </a:srgbClr>
                </a:solidFill>
                <a:latin typeface="Calibri" pitchFamily="34" charset="0"/>
                <a:ea typeface="Calibri" pitchFamily="34" charset="-122"/>
                <a:cs typeface="Calibri" pitchFamily="34" charset="-120"/>
              </a:rPr>
              <a:t>tests, output, re-read state</a:t>
            </a:r>
            <a:endParaRPr lang="en-US" sz="850" dirty="0"/>
          </a:p>
        </p:txBody>
      </p:sp>
      <p:sp>
        <p:nvSpPr>
          <p:cNvPr id="16" name="Shape 14"/>
          <p:cNvSpPr/>
          <p:nvPr/>
        </p:nvSpPr>
        <p:spPr>
          <a:xfrm>
            <a:off x="5989320" y="2880360"/>
            <a:ext cx="2834640" cy="457200"/>
          </a:xfrm>
          <a:prstGeom prst="rect">
            <a:avLst/>
          </a:prstGeom>
          <a:solidFill>
            <a:srgbClr val="E29578"/>
          </a:solidFill>
          <a:ln w="12700">
            <a:solidFill>
              <a:srgbClr val="E29578"/>
            </a:solidFill>
            <a:prstDash val="solid"/>
          </a:ln>
        </p:spPr>
      </p:sp>
      <p:sp>
        <p:nvSpPr>
          <p:cNvPr id="17" name="Text 15"/>
          <p:cNvSpPr/>
          <p:nvPr/>
        </p:nvSpPr>
        <p:spPr>
          <a:xfrm>
            <a:off x="5989320" y="2880360"/>
            <a:ext cx="2834640" cy="457200"/>
          </a:xfrm>
          <a:prstGeom prst="rect">
            <a:avLst/>
          </a:prstGeom>
          <a:noFill/>
          <a:ln/>
        </p:spPr>
        <p:txBody>
          <a:bodyPr wrap="square" lIns="0" tIns="0" rIns="0" bIns="0" rtlCol="0" anchor="ctr"/>
          <a:lstStyle/>
          <a:p>
            <a:pPr algn="ctr" indent="0" marL="0">
              <a:buNone/>
            </a:pPr>
            <a:r>
              <a:rPr lang="en-US" sz="1100" b="1" spc="100" kern="0" dirty="0">
                <a:solidFill>
                  <a:srgbClr val="006D77"/>
                </a:solidFill>
                <a:latin typeface="Georgia" pitchFamily="34" charset="0"/>
                <a:ea typeface="Georgia" pitchFamily="34" charset="-122"/>
                <a:cs typeface="Georgia" pitchFamily="34" charset="-120"/>
              </a:rPr>
              <a:t>REPEAT</a:t>
            </a:r>
            <a:endParaRPr lang="en-US" sz="1100" dirty="0"/>
          </a:p>
        </p:txBody>
      </p:sp>
      <p:sp>
        <p:nvSpPr>
          <p:cNvPr id="18" name="Text 16"/>
          <p:cNvSpPr/>
          <p:nvPr/>
        </p:nvSpPr>
        <p:spPr>
          <a:xfrm>
            <a:off x="5989320" y="3520440"/>
            <a:ext cx="2834640" cy="548640"/>
          </a:xfrm>
          <a:prstGeom prst="rect">
            <a:avLst/>
          </a:prstGeom>
          <a:noFill/>
          <a:ln/>
        </p:spPr>
        <p:txBody>
          <a:bodyPr wrap="square" lIns="0" tIns="0" rIns="0" bIns="0" rtlCol="0" anchor="ctr"/>
          <a:lstStyle/>
          <a:p>
            <a:pPr algn="l" indent="0" marL="0">
              <a:buNone/>
            </a:pPr>
            <a:r>
              <a:rPr lang="en-US" sz="900" dirty="0">
                <a:solidFill>
                  <a:srgbClr val="EDF6F9">
                    <a:alpha val="85000"/>
                  </a:srgbClr>
                </a:solidFill>
                <a:latin typeface="Calibri" pitchFamily="34" charset="0"/>
                <a:ea typeface="Calibri" pitchFamily="34" charset="-122"/>
                <a:cs typeface="Calibri" pitchFamily="34" charset="-120"/>
              </a:rPr>
              <a:t>Every step is conditioned on what the last one returned.</a:t>
            </a:r>
            <a:endParaRPr lang="en-US" sz="900" dirty="0"/>
          </a:p>
        </p:txBody>
      </p:sp>
      <p:sp>
        <p:nvSpPr>
          <p:cNvPr id="19" name="Text 17"/>
          <p:cNvSpPr/>
          <p:nvPr/>
        </p:nvSpPr>
        <p:spPr>
          <a:xfrm>
            <a:off x="548640" y="777240"/>
            <a:ext cx="4937760" cy="274320"/>
          </a:xfrm>
          <a:prstGeom prst="rect">
            <a:avLst/>
          </a:prstGeom>
          <a:noFill/>
          <a:ln/>
        </p:spPr>
        <p:txBody>
          <a:bodyPr wrap="square" lIns="0" tIns="0" rIns="0" bIns="0" rtlCol="0" anchor="ctr"/>
          <a:lstStyle/>
          <a:p>
            <a:pPr algn="l" indent="0" marL="0">
              <a:buNone/>
            </a:pPr>
            <a:r>
              <a:rPr lang="en-US" sz="1200" spc="200" kern="0" dirty="0">
                <a:solidFill>
                  <a:srgbClr val="006D77"/>
                </a:solidFill>
                <a:latin typeface="Calibri" pitchFamily="34" charset="0"/>
                <a:ea typeface="Calibri" pitchFamily="34" charset="-122"/>
                <a:cs typeface="Calibri" pitchFamily="34" charset="-120"/>
              </a:rPr>
              <a:t>CS2680 - HARVARD SEAS - LECTURE 2</a:t>
            </a:r>
            <a:endParaRPr lang="en-US" sz="1200" dirty="0"/>
          </a:p>
        </p:txBody>
      </p:sp>
      <p:sp>
        <p:nvSpPr>
          <p:cNvPr id="20" name="Text 18"/>
          <p:cNvSpPr/>
          <p:nvPr/>
        </p:nvSpPr>
        <p:spPr>
          <a:xfrm>
            <a:off x="548640" y="1097280"/>
            <a:ext cx="4937760" cy="1188720"/>
          </a:xfrm>
          <a:prstGeom prst="rect">
            <a:avLst/>
          </a:prstGeom>
          <a:noFill/>
          <a:ln/>
        </p:spPr>
        <p:txBody>
          <a:bodyPr wrap="square" lIns="0" tIns="0" rIns="0" bIns="0" rtlCol="0" anchor="ctr">
            <a:normAutofit/>
          </a:bodyPr>
          <a:lstStyle/>
          <a:p>
            <a:pPr algn="l" indent="0" marL="0">
              <a:buNone/>
            </a:pPr>
            <a:r>
              <a:rPr lang="en-US" sz="3400" b="1" dirty="0">
                <a:solidFill>
                  <a:srgbClr val="006D77"/>
                </a:solidFill>
                <a:latin typeface="Georgia" pitchFamily="34" charset="0"/>
                <a:ea typeface="Georgia" pitchFamily="34" charset="-122"/>
                <a:cs typeface="Georgia" pitchFamily="34" charset="-120"/>
              </a:rPr>
              <a:t>Agents use I: How Claude Code Works</a:t>
            </a:r>
            <a:endParaRPr lang="en-US" sz="3400" dirty="0"/>
          </a:p>
        </p:txBody>
      </p:sp>
      <p:sp>
        <p:nvSpPr>
          <p:cNvPr id="21" name="Text 19"/>
          <p:cNvSpPr/>
          <p:nvPr/>
        </p:nvSpPr>
        <p:spPr>
          <a:xfrm>
            <a:off x="548640" y="2331720"/>
            <a:ext cx="4937760" cy="457200"/>
          </a:xfrm>
          <a:prstGeom prst="rect">
            <a:avLst/>
          </a:prstGeom>
          <a:noFill/>
          <a:ln/>
        </p:spPr>
        <p:txBody>
          <a:bodyPr wrap="square" lIns="0" tIns="0" rIns="0" bIns="0" rtlCol="0" anchor="ctr"/>
          <a:lstStyle/>
          <a:p>
            <a:pPr algn="l" indent="0" marL="0">
              <a:buNone/>
            </a:pPr>
            <a:r>
              <a:rPr lang="en-US" sz="1400" dirty="0">
                <a:solidFill>
                  <a:srgbClr val="006D77">
                    <a:alpha val="80000"/>
                  </a:srgbClr>
                </a:solidFill>
                <a:latin typeface="Calibri" pitchFamily="34" charset="0"/>
                <a:ea typeface="Calibri" pitchFamily="34" charset="-122"/>
                <a:cs typeface="Calibri" pitchFamily="34" charset="-120"/>
              </a:rPr>
              <a:t>Lecture 2 - 2026-09-09 - CS2680 / Harvard SEAS / Juncheng Yang</a:t>
            </a:r>
            <a:endParaRPr lang="en-US" sz="1400" dirty="0"/>
          </a:p>
        </p:txBody>
      </p:sp>
      <p:sp>
        <p:nvSpPr>
          <p:cNvPr id="22" name="Text 20"/>
          <p:cNvSpPr/>
          <p:nvPr/>
        </p:nvSpPr>
        <p:spPr>
          <a:xfrm>
            <a:off x="548640" y="2834640"/>
            <a:ext cx="4937760" cy="457200"/>
          </a:xfrm>
          <a:prstGeom prst="rect">
            <a:avLst/>
          </a:prstGeom>
          <a:noFill/>
          <a:ln/>
        </p:spPr>
        <p:txBody>
          <a:bodyPr wrap="square" lIns="0" tIns="0" rIns="0" bIns="0" rtlCol="0" anchor="t"/>
          <a:lstStyle/>
          <a:p>
            <a:pPr algn="l" indent="0" marL="0">
              <a:buNone/>
            </a:pPr>
            <a:r>
              <a:rPr lang="en-US" sz="1100" dirty="0">
                <a:solidFill>
                  <a:srgbClr val="006D77">
                    <a:alpha val="70000"/>
                  </a:srgbClr>
                </a:solidFill>
                <a:latin typeface="Calibri" pitchFamily="34" charset="0"/>
                <a:ea typeface="Calibri" pitchFamily="34" charset="-122"/>
                <a:cs typeface="Calibri" pitchFamily="34" charset="-120"/>
              </a:rPr>
              <a:t>The agent from the user's side: one prompt expands into many model calls and many tool executions.</a:t>
            </a:r>
            <a:endParaRPr lang="en-US" sz="1100" dirty="0"/>
          </a:p>
        </p:txBody>
      </p:sp>
      <p:sp>
        <p:nvSpPr>
          <p:cNvPr id="23" name="Text 21"/>
          <p:cNvSpPr/>
          <p:nvPr/>
        </p:nvSpPr>
        <p:spPr>
          <a:xfrm>
            <a:off x="548640" y="3383280"/>
            <a:ext cx="1463040" cy="658368"/>
          </a:xfrm>
          <a:prstGeom prst="rect">
            <a:avLst/>
          </a:prstGeom>
          <a:noFill/>
          <a:ln/>
        </p:spPr>
        <p:txBody>
          <a:bodyPr wrap="square" lIns="0" tIns="0" rIns="0" bIns="0" rtlCol="0" anchor="ctr">
            <a:normAutofit/>
          </a:bodyPr>
          <a:lstStyle/>
          <a:p>
            <a:pPr algn="l" indent="0" marL="0">
              <a:buNone/>
            </a:pPr>
            <a:r>
              <a:rPr lang="en-US" sz="4000" b="1" dirty="0">
                <a:solidFill>
                  <a:srgbClr val="006D77"/>
                </a:solidFill>
                <a:latin typeface="Georgia" pitchFamily="34" charset="0"/>
                <a:ea typeface="Georgia" pitchFamily="34" charset="-122"/>
                <a:cs typeface="Georgia" pitchFamily="34" charset="-120"/>
              </a:rPr>
              <a:t>53</a:t>
            </a:r>
            <a:endParaRPr lang="en-US" sz="4000" dirty="0"/>
          </a:p>
        </p:txBody>
      </p:sp>
      <p:sp>
        <p:nvSpPr>
          <p:cNvPr id="24" name="Text 22"/>
          <p:cNvSpPr/>
          <p:nvPr/>
        </p:nvSpPr>
        <p:spPr>
          <a:xfrm>
            <a:off x="548640" y="4041648"/>
            <a:ext cx="1463040" cy="420624"/>
          </a:xfrm>
          <a:prstGeom prst="rect">
            <a:avLst/>
          </a:prstGeom>
          <a:noFill/>
          <a:ln/>
        </p:spPr>
        <p:txBody>
          <a:bodyPr wrap="square" lIns="0" tIns="0" rIns="0" bIns="0" rtlCol="0" anchor="t"/>
          <a:lstStyle/>
          <a:p>
            <a:pPr algn="l" indent="0" marL="0">
              <a:buNone/>
            </a:pPr>
            <a:r>
              <a:rPr lang="en-US" sz="1100" dirty="0">
                <a:solidFill>
                  <a:srgbClr val="006D77">
                    <a:alpha val="65000"/>
                  </a:srgbClr>
                </a:solidFill>
                <a:latin typeface="Calibri" pitchFamily="34" charset="0"/>
                <a:ea typeface="Calibri" pitchFamily="34" charset="-122"/>
                <a:cs typeface="Calibri" pitchFamily="34" charset="-120"/>
              </a:rPr>
              <a:t>pages in the source deck</a:t>
            </a:r>
            <a:endParaRPr lang="en-US" sz="1100" dirty="0"/>
          </a:p>
        </p:txBody>
      </p:sp>
      <p:sp>
        <p:nvSpPr>
          <p:cNvPr id="25" name="Text 23"/>
          <p:cNvSpPr/>
          <p:nvPr/>
        </p:nvSpPr>
        <p:spPr>
          <a:xfrm>
            <a:off x="2194560" y="3383280"/>
            <a:ext cx="1463040" cy="658368"/>
          </a:xfrm>
          <a:prstGeom prst="rect">
            <a:avLst/>
          </a:prstGeom>
          <a:noFill/>
          <a:ln/>
        </p:spPr>
        <p:txBody>
          <a:bodyPr wrap="square" lIns="0" tIns="0" rIns="0" bIns="0" rtlCol="0" anchor="ctr">
            <a:normAutofit/>
          </a:bodyPr>
          <a:lstStyle/>
          <a:p>
            <a:pPr algn="l" indent="0" marL="0">
              <a:buNone/>
            </a:pPr>
            <a:r>
              <a:rPr lang="en-US" sz="4000" b="1" dirty="0">
                <a:solidFill>
                  <a:srgbClr val="006D77"/>
                </a:solidFill>
                <a:latin typeface="Georgia" pitchFamily="34" charset="0"/>
                <a:ea typeface="Georgia" pitchFamily="34" charset="-122"/>
                <a:cs typeface="Georgia" pitchFamily="34" charset="-120"/>
              </a:rPr>
              <a:t>10+k</a:t>
            </a:r>
            <a:endParaRPr lang="en-US" sz="4000" dirty="0"/>
          </a:p>
        </p:txBody>
      </p:sp>
      <p:sp>
        <p:nvSpPr>
          <p:cNvPr id="26" name="Text 24"/>
          <p:cNvSpPr/>
          <p:nvPr/>
        </p:nvSpPr>
        <p:spPr>
          <a:xfrm>
            <a:off x="2194560" y="4041648"/>
            <a:ext cx="1463040" cy="420624"/>
          </a:xfrm>
          <a:prstGeom prst="rect">
            <a:avLst/>
          </a:prstGeom>
          <a:noFill/>
          <a:ln/>
        </p:spPr>
        <p:txBody>
          <a:bodyPr wrap="square" lIns="0" tIns="0" rIns="0" bIns="0" rtlCol="0" anchor="t"/>
          <a:lstStyle/>
          <a:p>
            <a:pPr algn="l" indent="0" marL="0">
              <a:buNone/>
            </a:pPr>
            <a:r>
              <a:rPr lang="en-US" sz="1100" dirty="0">
                <a:solidFill>
                  <a:srgbClr val="006D77">
                    <a:alpha val="65000"/>
                  </a:srgbClr>
                </a:solidFill>
                <a:latin typeface="Calibri" pitchFamily="34" charset="0"/>
                <a:ea typeface="Calibri" pitchFamily="34" charset="-122"/>
                <a:cs typeface="Calibri" pitchFamily="34" charset="-120"/>
              </a:rPr>
              <a:t>tokens before you type</a:t>
            </a:r>
            <a:endParaRPr lang="en-US" sz="1100" dirty="0"/>
          </a:p>
        </p:txBody>
      </p:sp>
      <p:sp>
        <p:nvSpPr>
          <p:cNvPr id="27" name="Text 25"/>
          <p:cNvSpPr/>
          <p:nvPr/>
        </p:nvSpPr>
        <p:spPr>
          <a:xfrm>
            <a:off x="3840480" y="3383280"/>
            <a:ext cx="1554480" cy="658368"/>
          </a:xfrm>
          <a:prstGeom prst="rect">
            <a:avLst/>
          </a:prstGeom>
          <a:noFill/>
          <a:ln/>
        </p:spPr>
        <p:txBody>
          <a:bodyPr wrap="square" lIns="0" tIns="0" rIns="0" bIns="0" rtlCol="0" anchor="ctr">
            <a:normAutofit/>
          </a:bodyPr>
          <a:lstStyle/>
          <a:p>
            <a:pPr algn="l" indent="0" marL="0">
              <a:buNone/>
            </a:pPr>
            <a:r>
              <a:rPr lang="en-US" sz="4000" b="1" dirty="0">
                <a:solidFill>
                  <a:srgbClr val="006D77"/>
                </a:solidFill>
                <a:latin typeface="Georgia" pitchFamily="34" charset="0"/>
                <a:ea typeface="Georgia" pitchFamily="34" charset="-122"/>
                <a:cs typeface="Georgia" pitchFamily="34" charset="-120"/>
              </a:rPr>
              <a:t>1M</a:t>
            </a:r>
            <a:endParaRPr lang="en-US" sz="4000" dirty="0"/>
          </a:p>
        </p:txBody>
      </p:sp>
      <p:sp>
        <p:nvSpPr>
          <p:cNvPr id="28" name="Text 26"/>
          <p:cNvSpPr/>
          <p:nvPr/>
        </p:nvSpPr>
        <p:spPr>
          <a:xfrm>
            <a:off x="3840480" y="4041648"/>
            <a:ext cx="1554480" cy="420624"/>
          </a:xfrm>
          <a:prstGeom prst="rect">
            <a:avLst/>
          </a:prstGeom>
          <a:noFill/>
          <a:ln/>
        </p:spPr>
        <p:txBody>
          <a:bodyPr wrap="square" lIns="0" tIns="0" rIns="0" bIns="0" rtlCol="0" anchor="t"/>
          <a:lstStyle/>
          <a:p>
            <a:pPr algn="l" indent="0" marL="0">
              <a:buNone/>
            </a:pPr>
            <a:r>
              <a:rPr lang="en-US" sz="1100" dirty="0">
                <a:solidFill>
                  <a:srgbClr val="006D77">
                    <a:alpha val="65000"/>
                  </a:srgbClr>
                </a:solidFill>
                <a:latin typeface="Calibri" pitchFamily="34" charset="0"/>
                <a:ea typeface="Calibri" pitchFamily="34" charset="-122"/>
                <a:cs typeface="Calibri" pitchFamily="34" charset="-120"/>
              </a:rPr>
              <a:t>typical context size</a:t>
            </a:r>
            <a:endParaRPr lang="en-US" sz="1100" dirty="0"/>
          </a:p>
        </p:txBody>
      </p:sp>
      <p:sp>
        <p:nvSpPr>
          <p:cNvPr id="29" name="Shape 27"/>
          <p:cNvSpPr/>
          <p:nvPr/>
        </p:nvSpPr>
        <p:spPr>
          <a:xfrm>
            <a:off x="457200" y="4754880"/>
            <a:ext cx="7772400" cy="10973"/>
          </a:xfrm>
          <a:prstGeom prst="rect">
            <a:avLst/>
          </a:prstGeom>
          <a:solidFill>
            <a:srgbClr val="83C5BE"/>
          </a:solidFill>
          <a:ln w="12700">
            <a:solidFill>
              <a:srgbClr val="83C5BE"/>
            </a:solidFill>
            <a:prstDash val="solid"/>
          </a:ln>
        </p:spPr>
      </p:sp>
      <p:sp>
        <p:nvSpPr>
          <p:cNvPr id="30" name="Text 28"/>
          <p:cNvSpPr/>
          <p:nvPr/>
        </p:nvSpPr>
        <p:spPr>
          <a:xfrm>
            <a:off x="457200" y="4773168"/>
            <a:ext cx="7772400" cy="219456"/>
          </a:xfrm>
          <a:prstGeom prst="rect">
            <a:avLst/>
          </a:prstGeom>
          <a:noFill/>
          <a:ln/>
        </p:spPr>
        <p:txBody>
          <a:bodyPr wrap="square" lIns="0" tIns="0" rIns="0" bIns="0" rtlCol="0" anchor="ctr"/>
          <a:lstStyle/>
          <a:p>
            <a:pPr algn="l" indent="0" marL="0">
              <a:buNone/>
            </a:pPr>
            <a:r>
              <a:rPr lang="en-US" sz="900" dirty="0">
                <a:solidFill>
                  <a:srgbClr val="006D77">
                    <a:alpha val="55000"/>
                  </a:srgbClr>
                </a:solidFill>
                <a:latin typeface="Calibri" pitchFamily="34" charset="0"/>
                <a:ea typeface="Calibri" pitchFamily="34" charset="-122"/>
                <a:cs typeface="Calibri" pitchFamily="34" charset="-120"/>
              </a:rPr>
              <a:t>Source: https://cs2680.seas.harvard.edu/slides/2_agent_use_1.pdf</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DF6F9"/>
        </a:solidFill>
      </p:bgPr>
    </p:bg>
    <p:spTree>
      <p:nvGrpSpPr>
        <p:cNvPr id="1" name=""/>
        <p:cNvGrpSpPr/>
        <p:nvPr/>
      </p:nvGrpSpPr>
      <p:grpSpPr>
        <a:xfrm>
          <a:off x="0" y="0"/>
          <a:ext cx="0" cy="0"/>
          <a:chOff x="0" y="0"/>
          <a:chExt cx="0" cy="0"/>
        </a:xfrm>
      </p:grpSpPr>
      <p:sp>
        <p:nvSpPr>
          <p:cNvPr id="2" name="Text 0"/>
          <p:cNvSpPr/>
          <p:nvPr/>
        </p:nvSpPr>
        <p:spPr>
          <a:xfrm>
            <a:off x="457200" y="310896"/>
            <a:ext cx="8229600" cy="219456"/>
          </a:xfrm>
          <a:prstGeom prst="rect">
            <a:avLst/>
          </a:prstGeom>
          <a:noFill/>
          <a:ln/>
        </p:spPr>
        <p:txBody>
          <a:bodyPr wrap="square" lIns="0" tIns="0" rIns="0" bIns="0" rtlCol="0" anchor="ctr"/>
          <a:lstStyle/>
          <a:p>
            <a:pPr algn="l" indent="0" marL="0">
              <a:buNone/>
            </a:pPr>
            <a:r>
              <a:rPr lang="en-US" sz="1100" spc="140" kern="0" dirty="0">
                <a:solidFill>
                  <a:srgbClr val="E29578"/>
                </a:solidFill>
                <a:latin typeface="Calibri" pitchFamily="34" charset="0"/>
                <a:ea typeface="Calibri" pitchFamily="34" charset="-122"/>
                <a:cs typeface="Calibri" pitchFamily="34" charset="-120"/>
              </a:rPr>
              <a:t>THE LOOP</a:t>
            </a:r>
            <a:endParaRPr lang="en-US" sz="1100" dirty="0"/>
          </a:p>
        </p:txBody>
      </p:sp>
      <p:sp>
        <p:nvSpPr>
          <p:cNvPr id="3" name="Text 1"/>
          <p:cNvSpPr/>
          <p:nvPr/>
        </p:nvSpPr>
        <p:spPr>
          <a:xfrm>
            <a:off x="457200" y="548640"/>
            <a:ext cx="8229600" cy="566928"/>
          </a:xfrm>
          <a:prstGeom prst="rect">
            <a:avLst/>
          </a:prstGeom>
          <a:noFill/>
          <a:ln/>
        </p:spPr>
        <p:txBody>
          <a:bodyPr wrap="square" lIns="0" tIns="0" rIns="0" bIns="0" rtlCol="0" anchor="ctr">
            <a:normAutofit/>
          </a:bodyPr>
          <a:lstStyle/>
          <a:p>
            <a:pPr algn="l" indent="0" marL="0">
              <a:buNone/>
            </a:pPr>
            <a:r>
              <a:rPr lang="en-US" sz="2700" b="1" dirty="0">
                <a:solidFill>
                  <a:srgbClr val="006D77"/>
                </a:solidFill>
                <a:latin typeface="Georgia" pitchFamily="34" charset="0"/>
                <a:ea typeface="Georgia" pitchFamily="34" charset="-122"/>
                <a:cs typeface="Georgia" pitchFamily="34" charset="-120"/>
              </a:rPr>
              <a:t>The agentic loop is the unit of work</a:t>
            </a:r>
            <a:endParaRPr lang="en-US" sz="2700" dirty="0"/>
          </a:p>
        </p:txBody>
      </p:sp>
      <p:sp>
        <p:nvSpPr>
          <p:cNvPr id="4" name="Shape 2"/>
          <p:cNvSpPr/>
          <p:nvPr/>
        </p:nvSpPr>
        <p:spPr>
          <a:xfrm>
            <a:off x="457200" y="1371600"/>
            <a:ext cx="2377440" cy="1554480"/>
          </a:xfrm>
          <a:prstGeom prst="rect">
            <a:avLst/>
          </a:prstGeom>
          <a:solidFill>
            <a:srgbClr val="EDF6F9"/>
          </a:solidFill>
          <a:ln w="9525">
            <a:solidFill>
              <a:srgbClr val="83C5BE"/>
            </a:solidFill>
            <a:prstDash val="solid"/>
          </a:ln>
          <a:effectLst>
            <a:outerShdw sx="100000" sy="100000" kx="0" ky="0" algn="bl" rotWithShape="0" blurRad="101600" dist="25400" dir="5400000">
              <a:srgbClr val="006d77">
                <a:alpha val="12000"/>
              </a:srgbClr>
            </a:outerShdw>
          </a:effectLst>
        </p:spPr>
      </p:sp>
      <p:sp>
        <p:nvSpPr>
          <p:cNvPr id="5" name="Shape 3"/>
          <p:cNvSpPr/>
          <p:nvPr/>
        </p:nvSpPr>
        <p:spPr>
          <a:xfrm>
            <a:off x="457200" y="1371600"/>
            <a:ext cx="50292" cy="1554480"/>
          </a:xfrm>
          <a:prstGeom prst="rect">
            <a:avLst/>
          </a:prstGeom>
          <a:solidFill>
            <a:srgbClr val="E29578"/>
          </a:solidFill>
          <a:ln w="12700">
            <a:solidFill>
              <a:srgbClr val="E29578"/>
            </a:solidFill>
            <a:prstDash val="solid"/>
          </a:ln>
        </p:spPr>
      </p:sp>
      <p:sp>
        <p:nvSpPr>
          <p:cNvPr id="6" name="Shape 4"/>
          <p:cNvSpPr/>
          <p:nvPr/>
        </p:nvSpPr>
        <p:spPr>
          <a:xfrm>
            <a:off x="640080" y="1517904"/>
            <a:ext cx="292608" cy="292608"/>
          </a:xfrm>
          <a:prstGeom prst="ellipse">
            <a:avLst/>
          </a:prstGeom>
          <a:solidFill>
            <a:srgbClr val="E29578"/>
          </a:solidFill>
          <a:ln w="12700">
            <a:solidFill>
              <a:srgbClr val="E29578"/>
            </a:solidFill>
            <a:prstDash val="solid"/>
          </a:ln>
        </p:spPr>
      </p:sp>
      <p:sp>
        <p:nvSpPr>
          <p:cNvPr id="7" name="Text 5"/>
          <p:cNvSpPr/>
          <p:nvPr/>
        </p:nvSpPr>
        <p:spPr>
          <a:xfrm>
            <a:off x="640080" y="1517904"/>
            <a:ext cx="292608" cy="292608"/>
          </a:xfrm>
          <a:prstGeom prst="rect">
            <a:avLst/>
          </a:prstGeom>
          <a:noFill/>
          <a:ln/>
        </p:spPr>
        <p:txBody>
          <a:bodyPr wrap="square" lIns="0" tIns="0" rIns="0" bIns="0" rtlCol="0" anchor="ctr"/>
          <a:lstStyle/>
          <a:p>
            <a:pPr algn="ctr" indent="0" marL="0">
              <a:buNone/>
            </a:pPr>
            <a:r>
              <a:rPr lang="en-US" sz="1100" dirty="0">
                <a:solidFill>
                  <a:srgbClr val="006D77"/>
                </a:solidFill>
                <a:latin typeface="Calibri" pitchFamily="34" charset="0"/>
                <a:ea typeface="Calibri" pitchFamily="34" charset="-122"/>
                <a:cs typeface="Calibri" pitchFamily="34" charset="-120"/>
              </a:rPr>
              <a:t>1</a:t>
            </a:r>
            <a:endParaRPr lang="en-US" sz="1100" dirty="0"/>
          </a:p>
        </p:txBody>
      </p:sp>
      <p:sp>
        <p:nvSpPr>
          <p:cNvPr id="8" name="Text 6"/>
          <p:cNvSpPr/>
          <p:nvPr/>
        </p:nvSpPr>
        <p:spPr>
          <a:xfrm>
            <a:off x="640080" y="1883664"/>
            <a:ext cx="2048256" cy="237744"/>
          </a:xfrm>
          <a:prstGeom prst="rect">
            <a:avLst/>
          </a:prstGeom>
          <a:noFill/>
          <a:ln/>
        </p:spPr>
        <p:txBody>
          <a:bodyPr wrap="square" lIns="0" tIns="0" rIns="0" bIns="0" rtlCol="0" anchor="ctr"/>
          <a:lstStyle/>
          <a:p>
            <a:pPr algn="l" indent="0" marL="0">
              <a:buNone/>
            </a:pPr>
            <a:r>
              <a:rPr lang="en-US" sz="1300" b="1" dirty="0">
                <a:solidFill>
                  <a:srgbClr val="006D77"/>
                </a:solidFill>
                <a:latin typeface="Georgia" pitchFamily="34" charset="0"/>
                <a:ea typeface="Georgia" pitchFamily="34" charset="-122"/>
                <a:cs typeface="Georgia" pitchFamily="34" charset="-120"/>
              </a:rPr>
              <a:t>Gather context</a:t>
            </a:r>
            <a:endParaRPr lang="en-US" sz="1300" dirty="0"/>
          </a:p>
        </p:txBody>
      </p:sp>
      <p:sp>
        <p:nvSpPr>
          <p:cNvPr id="9" name="Text 7"/>
          <p:cNvSpPr/>
          <p:nvPr/>
        </p:nvSpPr>
        <p:spPr>
          <a:xfrm>
            <a:off x="640080" y="2157984"/>
            <a:ext cx="2048256" cy="585216"/>
          </a:xfrm>
          <a:prstGeom prst="rect">
            <a:avLst/>
          </a:prstGeom>
          <a:noFill/>
          <a:ln/>
        </p:spPr>
        <p:txBody>
          <a:bodyPr wrap="square" lIns="0" tIns="0" rIns="0" bIns="0" rtlCol="0" anchor="t"/>
          <a:lstStyle/>
          <a:p>
            <a:pPr algn="l" indent="0" marL="0">
              <a:buNone/>
            </a:pPr>
            <a:r>
              <a:rPr lang="en-US" sz="1000" dirty="0">
                <a:solidFill>
                  <a:srgbClr val="006D77"/>
                </a:solidFill>
                <a:latin typeface="Calibri" pitchFamily="34" charset="0"/>
                <a:ea typeface="Calibri" pitchFamily="34" charset="-122"/>
                <a:cs typeface="Calibri" pitchFamily="34" charset="-120"/>
              </a:rPr>
              <a:t>The prompt, the files it points at, and the results of the tools that already ran.</a:t>
            </a:r>
            <a:endParaRPr lang="en-US" sz="1000" dirty="0"/>
          </a:p>
        </p:txBody>
      </p:sp>
      <p:sp>
        <p:nvSpPr>
          <p:cNvPr id="10" name="Text 8"/>
          <p:cNvSpPr/>
          <p:nvPr/>
        </p:nvSpPr>
        <p:spPr>
          <a:xfrm>
            <a:off x="2852928" y="2011680"/>
            <a:ext cx="365760" cy="274320"/>
          </a:xfrm>
          <a:prstGeom prst="rect">
            <a:avLst/>
          </a:prstGeom>
          <a:noFill/>
          <a:ln/>
        </p:spPr>
        <p:txBody>
          <a:bodyPr wrap="square" lIns="0" tIns="0" rIns="0" bIns="0" rtlCol="0" anchor="ctr"/>
          <a:lstStyle/>
          <a:p>
            <a:pPr algn="ctr" indent="0" marL="0">
              <a:buNone/>
            </a:pPr>
            <a:r>
              <a:rPr lang="en-US" sz="1500" dirty="0">
                <a:solidFill>
                  <a:srgbClr val="E29578"/>
                </a:solidFill>
                <a:latin typeface="Calibri" pitchFamily="34" charset="0"/>
                <a:ea typeface="Calibri" pitchFamily="34" charset="-122"/>
                <a:cs typeface="Calibri" pitchFamily="34" charset="-120"/>
              </a:rPr>
              <a:t>&gt;</a:t>
            </a:r>
            <a:endParaRPr lang="en-US" sz="1500" dirty="0"/>
          </a:p>
        </p:txBody>
      </p:sp>
      <p:sp>
        <p:nvSpPr>
          <p:cNvPr id="11" name="Shape 9"/>
          <p:cNvSpPr/>
          <p:nvPr/>
        </p:nvSpPr>
        <p:spPr>
          <a:xfrm>
            <a:off x="3246120" y="1371600"/>
            <a:ext cx="2377440" cy="1554480"/>
          </a:xfrm>
          <a:prstGeom prst="rect">
            <a:avLst/>
          </a:prstGeom>
          <a:solidFill>
            <a:srgbClr val="FFDDD2"/>
          </a:solidFill>
          <a:ln w="9525">
            <a:solidFill>
              <a:srgbClr val="83C5BE"/>
            </a:solidFill>
            <a:prstDash val="solid"/>
          </a:ln>
          <a:effectLst>
            <a:outerShdw sx="100000" sy="100000" kx="0" ky="0" algn="bl" rotWithShape="0" blurRad="101600" dist="25400" dir="5400000">
              <a:srgbClr val="006d77">
                <a:alpha val="12000"/>
              </a:srgbClr>
            </a:outerShdw>
          </a:effectLst>
        </p:spPr>
      </p:sp>
      <p:sp>
        <p:nvSpPr>
          <p:cNvPr id="12" name="Shape 10"/>
          <p:cNvSpPr/>
          <p:nvPr/>
        </p:nvSpPr>
        <p:spPr>
          <a:xfrm>
            <a:off x="3246120" y="1371600"/>
            <a:ext cx="50292" cy="1554480"/>
          </a:xfrm>
          <a:prstGeom prst="rect">
            <a:avLst/>
          </a:prstGeom>
          <a:solidFill>
            <a:srgbClr val="E29578"/>
          </a:solidFill>
          <a:ln w="12700">
            <a:solidFill>
              <a:srgbClr val="E29578"/>
            </a:solidFill>
            <a:prstDash val="solid"/>
          </a:ln>
        </p:spPr>
      </p:sp>
      <p:sp>
        <p:nvSpPr>
          <p:cNvPr id="13" name="Shape 11"/>
          <p:cNvSpPr/>
          <p:nvPr/>
        </p:nvSpPr>
        <p:spPr>
          <a:xfrm>
            <a:off x="3429000" y="1517904"/>
            <a:ext cx="292608" cy="292608"/>
          </a:xfrm>
          <a:prstGeom prst="ellipse">
            <a:avLst/>
          </a:prstGeom>
          <a:solidFill>
            <a:srgbClr val="E29578"/>
          </a:solidFill>
          <a:ln w="12700">
            <a:solidFill>
              <a:srgbClr val="E29578"/>
            </a:solidFill>
            <a:prstDash val="solid"/>
          </a:ln>
        </p:spPr>
      </p:sp>
      <p:sp>
        <p:nvSpPr>
          <p:cNvPr id="14" name="Text 12"/>
          <p:cNvSpPr/>
          <p:nvPr/>
        </p:nvSpPr>
        <p:spPr>
          <a:xfrm>
            <a:off x="3429000" y="1517904"/>
            <a:ext cx="292608" cy="292608"/>
          </a:xfrm>
          <a:prstGeom prst="rect">
            <a:avLst/>
          </a:prstGeom>
          <a:noFill/>
          <a:ln/>
        </p:spPr>
        <p:txBody>
          <a:bodyPr wrap="square" lIns="0" tIns="0" rIns="0" bIns="0" rtlCol="0" anchor="ctr"/>
          <a:lstStyle/>
          <a:p>
            <a:pPr algn="ctr" indent="0" marL="0">
              <a:buNone/>
            </a:pPr>
            <a:r>
              <a:rPr lang="en-US" sz="1100" dirty="0">
                <a:solidFill>
                  <a:srgbClr val="006D77"/>
                </a:solidFill>
                <a:latin typeface="Calibri" pitchFamily="34" charset="0"/>
                <a:ea typeface="Calibri" pitchFamily="34" charset="-122"/>
                <a:cs typeface="Calibri" pitchFamily="34" charset="-120"/>
              </a:rPr>
              <a:t>2</a:t>
            </a:r>
            <a:endParaRPr lang="en-US" sz="1100" dirty="0"/>
          </a:p>
        </p:txBody>
      </p:sp>
      <p:sp>
        <p:nvSpPr>
          <p:cNvPr id="15" name="Text 13"/>
          <p:cNvSpPr/>
          <p:nvPr/>
        </p:nvSpPr>
        <p:spPr>
          <a:xfrm>
            <a:off x="3429000" y="1883664"/>
            <a:ext cx="2048256" cy="237744"/>
          </a:xfrm>
          <a:prstGeom prst="rect">
            <a:avLst/>
          </a:prstGeom>
          <a:noFill/>
          <a:ln/>
        </p:spPr>
        <p:txBody>
          <a:bodyPr wrap="square" lIns="0" tIns="0" rIns="0" bIns="0" rtlCol="0" anchor="ctr"/>
          <a:lstStyle/>
          <a:p>
            <a:pPr algn="l" indent="0" marL="0">
              <a:buNone/>
            </a:pPr>
            <a:r>
              <a:rPr lang="en-US" sz="1300" b="1" dirty="0">
                <a:solidFill>
                  <a:srgbClr val="006D77"/>
                </a:solidFill>
                <a:latin typeface="Georgia" pitchFamily="34" charset="0"/>
                <a:ea typeface="Georgia" pitchFamily="34" charset="-122"/>
                <a:cs typeface="Georgia" pitchFamily="34" charset="-120"/>
              </a:rPr>
              <a:t>Generate action</a:t>
            </a:r>
            <a:endParaRPr lang="en-US" sz="1300" dirty="0"/>
          </a:p>
        </p:txBody>
      </p:sp>
      <p:sp>
        <p:nvSpPr>
          <p:cNvPr id="16" name="Text 14"/>
          <p:cNvSpPr/>
          <p:nvPr/>
        </p:nvSpPr>
        <p:spPr>
          <a:xfrm>
            <a:off x="3429000" y="2157984"/>
            <a:ext cx="2048256" cy="585216"/>
          </a:xfrm>
          <a:prstGeom prst="rect">
            <a:avLst/>
          </a:prstGeom>
          <a:noFill/>
          <a:ln/>
        </p:spPr>
        <p:txBody>
          <a:bodyPr wrap="square" lIns="0" tIns="0" rIns="0" bIns="0" rtlCol="0" anchor="t"/>
          <a:lstStyle/>
          <a:p>
            <a:pPr algn="l" indent="0" marL="0">
              <a:buNone/>
            </a:pPr>
            <a:r>
              <a:rPr lang="en-US" sz="1000" dirty="0">
                <a:solidFill>
                  <a:srgbClr val="006D77"/>
                </a:solidFill>
                <a:latin typeface="Calibri" pitchFamily="34" charset="0"/>
                <a:ea typeface="Calibri" pitchFamily="34" charset="-122"/>
                <a:cs typeface="Calibri" pitchFamily="34" charset="-120"/>
              </a:rPr>
              <a:t>The model emits a request for a tool: bash, read, edit.</a:t>
            </a:r>
            <a:endParaRPr lang="en-US" sz="1000" dirty="0"/>
          </a:p>
        </p:txBody>
      </p:sp>
      <p:sp>
        <p:nvSpPr>
          <p:cNvPr id="17" name="Text 15"/>
          <p:cNvSpPr/>
          <p:nvPr/>
        </p:nvSpPr>
        <p:spPr>
          <a:xfrm>
            <a:off x="5641848" y="2011680"/>
            <a:ext cx="365760" cy="274320"/>
          </a:xfrm>
          <a:prstGeom prst="rect">
            <a:avLst/>
          </a:prstGeom>
          <a:noFill/>
          <a:ln/>
        </p:spPr>
        <p:txBody>
          <a:bodyPr wrap="square" lIns="0" tIns="0" rIns="0" bIns="0" rtlCol="0" anchor="ctr"/>
          <a:lstStyle/>
          <a:p>
            <a:pPr algn="ctr" indent="0" marL="0">
              <a:buNone/>
            </a:pPr>
            <a:r>
              <a:rPr lang="en-US" sz="1500" dirty="0">
                <a:solidFill>
                  <a:srgbClr val="E29578"/>
                </a:solidFill>
                <a:latin typeface="Calibri" pitchFamily="34" charset="0"/>
                <a:ea typeface="Calibri" pitchFamily="34" charset="-122"/>
                <a:cs typeface="Calibri" pitchFamily="34" charset="-120"/>
              </a:rPr>
              <a:t>&gt;</a:t>
            </a:r>
            <a:endParaRPr lang="en-US" sz="1500" dirty="0"/>
          </a:p>
        </p:txBody>
      </p:sp>
      <p:sp>
        <p:nvSpPr>
          <p:cNvPr id="18" name="Shape 16"/>
          <p:cNvSpPr/>
          <p:nvPr/>
        </p:nvSpPr>
        <p:spPr>
          <a:xfrm>
            <a:off x="6035040" y="1371600"/>
            <a:ext cx="2377440" cy="1554480"/>
          </a:xfrm>
          <a:prstGeom prst="rect">
            <a:avLst/>
          </a:prstGeom>
          <a:solidFill>
            <a:srgbClr val="EDF6F9"/>
          </a:solidFill>
          <a:ln w="9525">
            <a:solidFill>
              <a:srgbClr val="83C5BE"/>
            </a:solidFill>
            <a:prstDash val="solid"/>
          </a:ln>
          <a:effectLst>
            <a:outerShdw sx="100000" sy="100000" kx="0" ky="0" algn="bl" rotWithShape="0" blurRad="101600" dist="25400" dir="5400000">
              <a:srgbClr val="006d77">
                <a:alpha val="12000"/>
              </a:srgbClr>
            </a:outerShdw>
          </a:effectLst>
        </p:spPr>
      </p:sp>
      <p:sp>
        <p:nvSpPr>
          <p:cNvPr id="19" name="Shape 17"/>
          <p:cNvSpPr/>
          <p:nvPr/>
        </p:nvSpPr>
        <p:spPr>
          <a:xfrm>
            <a:off x="6035040" y="1371600"/>
            <a:ext cx="50292" cy="1554480"/>
          </a:xfrm>
          <a:prstGeom prst="rect">
            <a:avLst/>
          </a:prstGeom>
          <a:solidFill>
            <a:srgbClr val="E29578"/>
          </a:solidFill>
          <a:ln w="12700">
            <a:solidFill>
              <a:srgbClr val="E29578"/>
            </a:solidFill>
            <a:prstDash val="solid"/>
          </a:ln>
        </p:spPr>
      </p:sp>
      <p:sp>
        <p:nvSpPr>
          <p:cNvPr id="20" name="Shape 18"/>
          <p:cNvSpPr/>
          <p:nvPr/>
        </p:nvSpPr>
        <p:spPr>
          <a:xfrm>
            <a:off x="6217920" y="1517904"/>
            <a:ext cx="292608" cy="292608"/>
          </a:xfrm>
          <a:prstGeom prst="ellipse">
            <a:avLst/>
          </a:prstGeom>
          <a:solidFill>
            <a:srgbClr val="E29578"/>
          </a:solidFill>
          <a:ln w="12700">
            <a:solidFill>
              <a:srgbClr val="E29578"/>
            </a:solidFill>
            <a:prstDash val="solid"/>
          </a:ln>
        </p:spPr>
      </p:sp>
      <p:sp>
        <p:nvSpPr>
          <p:cNvPr id="21" name="Text 19"/>
          <p:cNvSpPr/>
          <p:nvPr/>
        </p:nvSpPr>
        <p:spPr>
          <a:xfrm>
            <a:off x="6217920" y="1517904"/>
            <a:ext cx="292608" cy="292608"/>
          </a:xfrm>
          <a:prstGeom prst="rect">
            <a:avLst/>
          </a:prstGeom>
          <a:noFill/>
          <a:ln/>
        </p:spPr>
        <p:txBody>
          <a:bodyPr wrap="square" lIns="0" tIns="0" rIns="0" bIns="0" rtlCol="0" anchor="ctr"/>
          <a:lstStyle/>
          <a:p>
            <a:pPr algn="ctr" indent="0" marL="0">
              <a:buNone/>
            </a:pPr>
            <a:r>
              <a:rPr lang="en-US" sz="1100" dirty="0">
                <a:solidFill>
                  <a:srgbClr val="006D77"/>
                </a:solidFill>
                <a:latin typeface="Calibri" pitchFamily="34" charset="0"/>
                <a:ea typeface="Calibri" pitchFamily="34" charset="-122"/>
                <a:cs typeface="Calibri" pitchFamily="34" charset="-120"/>
              </a:rPr>
              <a:t>3</a:t>
            </a:r>
            <a:endParaRPr lang="en-US" sz="1100" dirty="0"/>
          </a:p>
        </p:txBody>
      </p:sp>
      <p:sp>
        <p:nvSpPr>
          <p:cNvPr id="22" name="Text 20"/>
          <p:cNvSpPr/>
          <p:nvPr/>
        </p:nvSpPr>
        <p:spPr>
          <a:xfrm>
            <a:off x="6217920" y="1883664"/>
            <a:ext cx="2048256" cy="237744"/>
          </a:xfrm>
          <a:prstGeom prst="rect">
            <a:avLst/>
          </a:prstGeom>
          <a:noFill/>
          <a:ln/>
        </p:spPr>
        <p:txBody>
          <a:bodyPr wrap="square" lIns="0" tIns="0" rIns="0" bIns="0" rtlCol="0" anchor="ctr"/>
          <a:lstStyle/>
          <a:p>
            <a:pPr algn="l" indent="0" marL="0">
              <a:buNone/>
            </a:pPr>
            <a:r>
              <a:rPr lang="en-US" sz="1300" b="1" dirty="0">
                <a:solidFill>
                  <a:srgbClr val="006D77"/>
                </a:solidFill>
                <a:latin typeface="Georgia" pitchFamily="34" charset="0"/>
                <a:ea typeface="Georgia" pitchFamily="34" charset="-122"/>
                <a:cs typeface="Georgia" pitchFamily="34" charset="-120"/>
              </a:rPr>
              <a:t>Run tool</a:t>
            </a:r>
            <a:endParaRPr lang="en-US" sz="1300" dirty="0"/>
          </a:p>
        </p:txBody>
      </p:sp>
      <p:sp>
        <p:nvSpPr>
          <p:cNvPr id="23" name="Text 21"/>
          <p:cNvSpPr/>
          <p:nvPr/>
        </p:nvSpPr>
        <p:spPr>
          <a:xfrm>
            <a:off x="6217920" y="2157984"/>
            <a:ext cx="2048256" cy="585216"/>
          </a:xfrm>
          <a:prstGeom prst="rect">
            <a:avLst/>
          </a:prstGeom>
          <a:noFill/>
          <a:ln/>
        </p:spPr>
        <p:txBody>
          <a:bodyPr wrap="square" lIns="0" tIns="0" rIns="0" bIns="0" rtlCol="0" anchor="t"/>
          <a:lstStyle/>
          <a:p>
            <a:pPr algn="l" indent="0" marL="0">
              <a:buNone/>
            </a:pPr>
            <a:r>
              <a:rPr lang="en-US" sz="1000" dirty="0">
                <a:solidFill>
                  <a:srgbClr val="006D77"/>
                </a:solidFill>
                <a:latin typeface="Calibri" pitchFamily="34" charset="0"/>
                <a:ea typeface="Calibri" pitchFamily="34" charset="-122"/>
                <a:cs typeface="Calibri" pitchFamily="34" charset="-120"/>
              </a:rPr>
              <a:t>The tool runs: tests, command output, re-read state.</a:t>
            </a:r>
            <a:endParaRPr lang="en-US" sz="1000" dirty="0"/>
          </a:p>
        </p:txBody>
      </p:sp>
      <p:sp>
        <p:nvSpPr>
          <p:cNvPr id="24" name="Shape 22"/>
          <p:cNvSpPr/>
          <p:nvPr/>
        </p:nvSpPr>
        <p:spPr>
          <a:xfrm>
            <a:off x="457200" y="3154680"/>
            <a:ext cx="8229600" cy="502920"/>
          </a:xfrm>
          <a:prstGeom prst="rect">
            <a:avLst/>
          </a:prstGeom>
          <a:solidFill>
            <a:srgbClr val="006D77"/>
          </a:solidFill>
          <a:ln w="12700">
            <a:solidFill>
              <a:srgbClr val="006D77"/>
            </a:solidFill>
            <a:prstDash val="solid"/>
          </a:ln>
        </p:spPr>
      </p:sp>
      <p:sp>
        <p:nvSpPr>
          <p:cNvPr id="25" name="Text 23"/>
          <p:cNvSpPr/>
          <p:nvPr/>
        </p:nvSpPr>
        <p:spPr>
          <a:xfrm>
            <a:off x="640080" y="3154680"/>
            <a:ext cx="7863840" cy="502920"/>
          </a:xfrm>
          <a:prstGeom prst="rect">
            <a:avLst/>
          </a:prstGeom>
          <a:noFill/>
          <a:ln/>
        </p:spPr>
        <p:txBody>
          <a:bodyPr wrap="square" lIns="0" tIns="0" rIns="0" bIns="0" rtlCol="0" anchor="ctr"/>
          <a:lstStyle/>
          <a:p>
            <a:pPr algn="l" indent="0" marL="0">
              <a:buNone/>
            </a:pPr>
            <a:r>
              <a:rPr lang="en-US" sz="1100" dirty="0">
                <a:solidFill>
                  <a:srgbClr val="EDF6F9"/>
                </a:solidFill>
                <a:latin typeface="Calibri" pitchFamily="34" charset="0"/>
                <a:ea typeface="Calibri" pitchFamily="34" charset="-122"/>
                <a:cs typeface="Calibri" pitchFamily="34" charset="-120"/>
              </a:rPr>
              <a:t>REPEAT - every step is conditioned on what the last one returned. One user prompt is many model calls and many tool executions, not a single request.</a:t>
            </a:r>
            <a:endParaRPr lang="en-US" sz="1100" dirty="0"/>
          </a:p>
        </p:txBody>
      </p:sp>
      <p:sp>
        <p:nvSpPr>
          <p:cNvPr id="26" name="Shape 24"/>
          <p:cNvSpPr/>
          <p:nvPr/>
        </p:nvSpPr>
        <p:spPr>
          <a:xfrm>
            <a:off x="457200" y="3794760"/>
            <a:ext cx="8229600" cy="640080"/>
          </a:xfrm>
          <a:prstGeom prst="rect">
            <a:avLst/>
          </a:prstGeom>
          <a:solidFill>
            <a:srgbClr val="EDF6F9"/>
          </a:solidFill>
          <a:ln w="9525">
            <a:solidFill>
              <a:srgbClr val="83C5BE"/>
            </a:solidFill>
            <a:prstDash val="solid"/>
          </a:ln>
          <a:effectLst>
            <a:outerShdw sx="100000" sy="100000" kx="0" ky="0" algn="bl" rotWithShape="0" blurRad="101600" dist="25400" dir="5400000">
              <a:srgbClr val="006d77">
                <a:alpha val="12000"/>
              </a:srgbClr>
            </a:outerShdw>
          </a:effectLst>
        </p:spPr>
      </p:sp>
      <p:sp>
        <p:nvSpPr>
          <p:cNvPr id="27" name="Shape 25"/>
          <p:cNvSpPr/>
          <p:nvPr/>
        </p:nvSpPr>
        <p:spPr>
          <a:xfrm>
            <a:off x="457200" y="3794760"/>
            <a:ext cx="50292" cy="640080"/>
          </a:xfrm>
          <a:prstGeom prst="rect">
            <a:avLst/>
          </a:prstGeom>
          <a:solidFill>
            <a:srgbClr val="E29578"/>
          </a:solidFill>
          <a:ln w="12700">
            <a:solidFill>
              <a:srgbClr val="E29578"/>
            </a:solidFill>
            <a:prstDash val="solid"/>
          </a:ln>
        </p:spPr>
      </p:sp>
      <p:sp>
        <p:nvSpPr>
          <p:cNvPr id="28" name="Text 26"/>
          <p:cNvSpPr/>
          <p:nvPr/>
        </p:nvSpPr>
        <p:spPr>
          <a:xfrm>
            <a:off x="640080" y="3941064"/>
            <a:ext cx="7900416" cy="365760"/>
          </a:xfrm>
          <a:prstGeom prst="rect">
            <a:avLst/>
          </a:prstGeom>
          <a:noFill/>
          <a:ln/>
        </p:spPr>
        <p:txBody>
          <a:bodyPr wrap="square" lIns="0" tIns="0" rIns="0" bIns="0" rtlCol="0" anchor="ctr"/>
          <a:lstStyle/>
          <a:p>
            <a:pPr algn="l" indent="0" marL="0">
              <a:buNone/>
            </a:pPr>
            <a:r>
              <a:rPr lang="en-US" sz="1100" dirty="0">
                <a:solidFill>
                  <a:srgbClr val="006D77"/>
                </a:solidFill>
                <a:latin typeface="Calibri" pitchFamily="34" charset="0"/>
                <a:ea typeface="Calibri" pitchFamily="34" charset="-122"/>
                <a:cs typeface="Calibri" pitchFamily="34" charset="-120"/>
              </a:rPr>
              <a:t>An agent is a loop plus a trust boundary, not a smarter completion. The model proposes; the harness executes.</a:t>
            </a:r>
            <a:endParaRPr lang="en-US" sz="1100" dirty="0"/>
          </a:p>
        </p:txBody>
      </p:sp>
      <p:sp>
        <p:nvSpPr>
          <p:cNvPr id="29" name="Shape 27"/>
          <p:cNvSpPr/>
          <p:nvPr/>
        </p:nvSpPr>
        <p:spPr>
          <a:xfrm>
            <a:off x="8485632" y="4645152"/>
            <a:ext cx="420624" cy="274320"/>
          </a:xfrm>
          <a:prstGeom prst="roundRect">
            <a:avLst>
              <a:gd name="adj" fmla="val 26667"/>
            </a:avLst>
          </a:prstGeom>
          <a:solidFill>
            <a:srgbClr val="006D77"/>
          </a:solidFill>
          <a:ln w="12700">
            <a:solidFill>
              <a:srgbClr val="006D77"/>
            </a:solidFill>
            <a:prstDash val="solid"/>
          </a:ln>
        </p:spPr>
      </p:sp>
      <p:sp>
        <p:nvSpPr>
          <p:cNvPr id="30" name="Text 28"/>
          <p:cNvSpPr/>
          <p:nvPr/>
        </p:nvSpPr>
        <p:spPr>
          <a:xfrm>
            <a:off x="8485632" y="4645152"/>
            <a:ext cx="420624" cy="274320"/>
          </a:xfrm>
          <a:prstGeom prst="rect">
            <a:avLst/>
          </a:prstGeom>
          <a:noFill/>
          <a:ln/>
        </p:spPr>
        <p:txBody>
          <a:bodyPr wrap="square" lIns="0" tIns="0" rIns="0" bIns="0" rtlCol="0" anchor="ctr"/>
          <a:lstStyle/>
          <a:p>
            <a:pPr algn="ctr" indent="0" marL="0">
              <a:buNone/>
            </a:pPr>
            <a:r>
              <a:rPr lang="en-US" sz="1100" dirty="0">
                <a:solidFill>
                  <a:srgbClr val="EDF6F9"/>
                </a:solidFill>
                <a:latin typeface="Calibri" pitchFamily="34" charset="0"/>
                <a:ea typeface="Calibri" pitchFamily="34" charset="-122"/>
                <a:cs typeface="Calibri" pitchFamily="34" charset="-120"/>
              </a:rPr>
              <a:t>2</a:t>
            </a:r>
            <a:endParaRPr lang="en-US" sz="1100" dirty="0"/>
          </a:p>
        </p:txBody>
      </p:sp>
      <p:sp>
        <p:nvSpPr>
          <p:cNvPr id="31" name="Shape 29"/>
          <p:cNvSpPr/>
          <p:nvPr/>
        </p:nvSpPr>
        <p:spPr>
          <a:xfrm>
            <a:off x="457200" y="4754880"/>
            <a:ext cx="7772400" cy="10973"/>
          </a:xfrm>
          <a:prstGeom prst="rect">
            <a:avLst/>
          </a:prstGeom>
          <a:solidFill>
            <a:srgbClr val="83C5BE"/>
          </a:solidFill>
          <a:ln w="12700">
            <a:solidFill>
              <a:srgbClr val="83C5BE"/>
            </a:solidFill>
            <a:prstDash val="solid"/>
          </a:ln>
        </p:spPr>
      </p:sp>
      <p:sp>
        <p:nvSpPr>
          <p:cNvPr id="32" name="Text 30"/>
          <p:cNvSpPr/>
          <p:nvPr/>
        </p:nvSpPr>
        <p:spPr>
          <a:xfrm>
            <a:off x="457200" y="4773168"/>
            <a:ext cx="7772400" cy="219456"/>
          </a:xfrm>
          <a:prstGeom prst="rect">
            <a:avLst/>
          </a:prstGeom>
          <a:noFill/>
          <a:ln/>
        </p:spPr>
        <p:txBody>
          <a:bodyPr wrap="square" lIns="0" tIns="0" rIns="0" bIns="0" rtlCol="0" anchor="ctr"/>
          <a:lstStyle/>
          <a:p>
            <a:pPr algn="l" indent="0" marL="0">
              <a:buNone/>
            </a:pPr>
            <a:r>
              <a:rPr lang="en-US" sz="900" dirty="0">
                <a:solidFill>
                  <a:srgbClr val="006D77">
                    <a:alpha val="55000"/>
                  </a:srgbClr>
                </a:solidFill>
                <a:latin typeface="Calibri" pitchFamily="34" charset="0"/>
                <a:ea typeface="Calibri" pitchFamily="34" charset="-122"/>
                <a:cs typeface="Calibri" pitchFamily="34" charset="-120"/>
              </a:rPr>
              <a:t>Source: https://cs2680.seas.harvard.edu/slides/2_agent_use_1.pdf</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DF6F9"/>
        </a:solidFill>
      </p:bgPr>
    </p:bg>
    <p:spTree>
      <p:nvGrpSpPr>
        <p:cNvPr id="1" name=""/>
        <p:cNvGrpSpPr/>
        <p:nvPr/>
      </p:nvGrpSpPr>
      <p:grpSpPr>
        <a:xfrm>
          <a:off x="0" y="0"/>
          <a:ext cx="0" cy="0"/>
          <a:chOff x="0" y="0"/>
          <a:chExt cx="0" cy="0"/>
        </a:xfrm>
      </p:grpSpPr>
      <p:sp>
        <p:nvSpPr>
          <p:cNvPr id="2" name="Text 0"/>
          <p:cNvSpPr/>
          <p:nvPr/>
        </p:nvSpPr>
        <p:spPr>
          <a:xfrm>
            <a:off x="457200" y="310896"/>
            <a:ext cx="8229600" cy="219456"/>
          </a:xfrm>
          <a:prstGeom prst="rect">
            <a:avLst/>
          </a:prstGeom>
          <a:noFill/>
          <a:ln/>
        </p:spPr>
        <p:txBody>
          <a:bodyPr wrap="square" lIns="0" tIns="0" rIns="0" bIns="0" rtlCol="0" anchor="ctr"/>
          <a:lstStyle/>
          <a:p>
            <a:pPr algn="l" indent="0" marL="0">
              <a:buNone/>
            </a:pPr>
            <a:r>
              <a:rPr lang="en-US" sz="1100" spc="140" kern="0" dirty="0">
                <a:solidFill>
                  <a:srgbClr val="E29578"/>
                </a:solidFill>
                <a:latin typeface="Calibri" pitchFamily="34" charset="0"/>
                <a:ea typeface="Calibri" pitchFamily="34" charset="-122"/>
                <a:cs typeface="Calibri" pitchFamily="34" charset="-120"/>
              </a:rPr>
              <a:t>THE CONTEXT STACK</a:t>
            </a:r>
            <a:endParaRPr lang="en-US" sz="1100" dirty="0"/>
          </a:p>
        </p:txBody>
      </p:sp>
      <p:sp>
        <p:nvSpPr>
          <p:cNvPr id="3" name="Text 1"/>
          <p:cNvSpPr/>
          <p:nvPr/>
        </p:nvSpPr>
        <p:spPr>
          <a:xfrm>
            <a:off x="457200" y="548640"/>
            <a:ext cx="8229600" cy="566928"/>
          </a:xfrm>
          <a:prstGeom prst="rect">
            <a:avLst/>
          </a:prstGeom>
          <a:noFill/>
          <a:ln/>
        </p:spPr>
        <p:txBody>
          <a:bodyPr wrap="square" lIns="0" tIns="0" rIns="0" bIns="0" rtlCol="0" anchor="ctr">
            <a:normAutofit/>
          </a:bodyPr>
          <a:lstStyle/>
          <a:p>
            <a:pPr algn="l" indent="0" marL="0">
              <a:buNone/>
            </a:pPr>
            <a:r>
              <a:rPr lang="en-US" sz="2700" b="1" dirty="0">
                <a:solidFill>
                  <a:srgbClr val="006D77"/>
                </a:solidFill>
                <a:latin typeface="Georgia" pitchFamily="34" charset="0"/>
                <a:ea typeface="Georgia" pitchFamily="34" charset="-122"/>
                <a:cs typeface="Georgia" pitchFamily="34" charset="-120"/>
              </a:rPr>
              <a:t>Context exists before the first keystroke</a:t>
            </a:r>
            <a:endParaRPr lang="en-US" sz="2700" dirty="0"/>
          </a:p>
        </p:txBody>
      </p:sp>
      <p:sp>
        <p:nvSpPr>
          <p:cNvPr id="4" name="Shape 2"/>
          <p:cNvSpPr/>
          <p:nvPr/>
        </p:nvSpPr>
        <p:spPr>
          <a:xfrm>
            <a:off x="457200" y="1234440"/>
            <a:ext cx="5577840" cy="3200400"/>
          </a:xfrm>
          <a:prstGeom prst="rect">
            <a:avLst/>
          </a:prstGeom>
          <a:solidFill>
            <a:srgbClr val="EDF6F9"/>
          </a:solidFill>
          <a:ln w="9525">
            <a:solidFill>
              <a:srgbClr val="83C5BE"/>
            </a:solidFill>
            <a:prstDash val="solid"/>
          </a:ln>
          <a:effectLst>
            <a:outerShdw sx="100000" sy="100000" kx="0" ky="0" algn="bl" rotWithShape="0" blurRad="101600" dist="25400" dir="5400000">
              <a:srgbClr val="006d77">
                <a:alpha val="12000"/>
              </a:srgbClr>
            </a:outerShdw>
          </a:effectLst>
        </p:spPr>
      </p:sp>
      <p:sp>
        <p:nvSpPr>
          <p:cNvPr id="5" name="Shape 3"/>
          <p:cNvSpPr/>
          <p:nvPr/>
        </p:nvSpPr>
        <p:spPr>
          <a:xfrm>
            <a:off x="457200" y="1234440"/>
            <a:ext cx="50292" cy="3200400"/>
          </a:xfrm>
          <a:prstGeom prst="rect">
            <a:avLst/>
          </a:prstGeom>
          <a:solidFill>
            <a:srgbClr val="E29578"/>
          </a:solidFill>
          <a:ln w="12700">
            <a:solidFill>
              <a:srgbClr val="E29578"/>
            </a:solidFill>
            <a:prstDash val="solid"/>
          </a:ln>
        </p:spPr>
      </p:sp>
      <p:sp>
        <p:nvSpPr>
          <p:cNvPr id="6" name="Text 4"/>
          <p:cNvSpPr/>
          <p:nvPr/>
        </p:nvSpPr>
        <p:spPr>
          <a:xfrm>
            <a:off x="640080" y="1380744"/>
            <a:ext cx="5248656" cy="219456"/>
          </a:xfrm>
          <a:prstGeom prst="rect">
            <a:avLst/>
          </a:prstGeom>
          <a:noFill/>
          <a:ln/>
        </p:spPr>
        <p:txBody>
          <a:bodyPr wrap="square" lIns="0" tIns="0" rIns="0" bIns="0" rtlCol="0" anchor="ctr"/>
          <a:lstStyle/>
          <a:p>
            <a:pPr algn="l" indent="0" marL="0">
              <a:buNone/>
            </a:pPr>
            <a:r>
              <a:rPr lang="en-US" sz="1000" b="1" spc="100" kern="0" dirty="0">
                <a:solidFill>
                  <a:srgbClr val="006D77"/>
                </a:solidFill>
                <a:latin typeface="Calibri" pitchFamily="34" charset="0"/>
                <a:ea typeface="Calibri" pitchFamily="34" charset="-122"/>
                <a:cs typeface="Calibri" pitchFamily="34" charset="-120"/>
              </a:rPr>
              <a:t>SIX LAYERS, ALREADY ASSEMBLED</a:t>
            </a:r>
            <a:endParaRPr lang="en-US" sz="1000" dirty="0"/>
          </a:p>
        </p:txBody>
      </p:sp>
      <p:sp>
        <p:nvSpPr>
          <p:cNvPr id="7" name="Shape 5"/>
          <p:cNvSpPr/>
          <p:nvPr/>
        </p:nvSpPr>
        <p:spPr>
          <a:xfrm>
            <a:off x="640080" y="1691640"/>
            <a:ext cx="1371600" cy="384048"/>
          </a:xfrm>
          <a:prstGeom prst="rect">
            <a:avLst/>
          </a:prstGeom>
          <a:solidFill>
            <a:srgbClr val="006D77"/>
          </a:solidFill>
          <a:ln w="12700">
            <a:solidFill>
              <a:srgbClr val="006D77"/>
            </a:solidFill>
            <a:prstDash val="solid"/>
          </a:ln>
        </p:spPr>
      </p:sp>
      <p:sp>
        <p:nvSpPr>
          <p:cNvPr id="8" name="Text 6"/>
          <p:cNvSpPr/>
          <p:nvPr/>
        </p:nvSpPr>
        <p:spPr>
          <a:xfrm>
            <a:off x="640080" y="1691640"/>
            <a:ext cx="1371600" cy="384048"/>
          </a:xfrm>
          <a:prstGeom prst="rect">
            <a:avLst/>
          </a:prstGeom>
          <a:noFill/>
          <a:ln/>
        </p:spPr>
        <p:txBody>
          <a:bodyPr wrap="square" lIns="0" tIns="0" rIns="0" bIns="0" rtlCol="0" anchor="ctr"/>
          <a:lstStyle/>
          <a:p>
            <a:pPr algn="ctr" indent="0" marL="0">
              <a:buNone/>
            </a:pPr>
            <a:r>
              <a:rPr lang="en-US" sz="900" dirty="0">
                <a:solidFill>
                  <a:srgbClr val="EDF6F9"/>
                </a:solidFill>
                <a:latin typeface="Calibri" pitchFamily="34" charset="0"/>
                <a:ea typeface="Calibri" pitchFamily="34" charset="-122"/>
                <a:cs typeface="Calibri" pitchFamily="34" charset="-120"/>
              </a:rPr>
              <a:t>SYSTEM</a:t>
            </a:r>
            <a:endParaRPr lang="en-US" sz="900" dirty="0"/>
          </a:p>
        </p:txBody>
      </p:sp>
      <p:sp>
        <p:nvSpPr>
          <p:cNvPr id="9" name="Text 7"/>
          <p:cNvSpPr/>
          <p:nvPr/>
        </p:nvSpPr>
        <p:spPr>
          <a:xfrm>
            <a:off x="2121408" y="1691640"/>
            <a:ext cx="3767328" cy="384048"/>
          </a:xfrm>
          <a:prstGeom prst="rect">
            <a:avLst/>
          </a:prstGeom>
          <a:noFill/>
          <a:ln/>
        </p:spPr>
        <p:txBody>
          <a:bodyPr wrap="square" lIns="0" tIns="0" rIns="0" bIns="0" rtlCol="0" anchor="ctr"/>
          <a:lstStyle/>
          <a:p>
            <a:pPr algn="l" indent="0" marL="0">
              <a:buNone/>
            </a:pPr>
            <a:r>
              <a:rPr lang="en-US" sz="1000" dirty="0">
                <a:solidFill>
                  <a:srgbClr val="006D77"/>
                </a:solidFill>
                <a:latin typeface="Calibri" pitchFamily="34" charset="0"/>
                <a:ea typeface="Calibri" pitchFamily="34" charset="-122"/>
                <a:cs typeface="Calibri" pitchFamily="34" charset="-120"/>
              </a:rPr>
              <a:t>Claude Code instructions</a:t>
            </a:r>
            <a:endParaRPr lang="en-US" sz="1000" dirty="0"/>
          </a:p>
        </p:txBody>
      </p:sp>
      <p:sp>
        <p:nvSpPr>
          <p:cNvPr id="10" name="Shape 8"/>
          <p:cNvSpPr/>
          <p:nvPr/>
        </p:nvSpPr>
        <p:spPr>
          <a:xfrm>
            <a:off x="640080" y="2148840"/>
            <a:ext cx="1371600" cy="384048"/>
          </a:xfrm>
          <a:prstGeom prst="rect">
            <a:avLst/>
          </a:prstGeom>
          <a:solidFill>
            <a:srgbClr val="006D77"/>
          </a:solidFill>
          <a:ln w="12700">
            <a:solidFill>
              <a:srgbClr val="006D77"/>
            </a:solidFill>
            <a:prstDash val="solid"/>
          </a:ln>
        </p:spPr>
      </p:sp>
      <p:sp>
        <p:nvSpPr>
          <p:cNvPr id="11" name="Text 9"/>
          <p:cNvSpPr/>
          <p:nvPr/>
        </p:nvSpPr>
        <p:spPr>
          <a:xfrm>
            <a:off x="640080" y="2148840"/>
            <a:ext cx="1371600" cy="384048"/>
          </a:xfrm>
          <a:prstGeom prst="rect">
            <a:avLst/>
          </a:prstGeom>
          <a:noFill/>
          <a:ln/>
        </p:spPr>
        <p:txBody>
          <a:bodyPr wrap="square" lIns="0" tIns="0" rIns="0" bIns="0" rtlCol="0" anchor="ctr"/>
          <a:lstStyle/>
          <a:p>
            <a:pPr algn="ctr" indent="0" marL="0">
              <a:buNone/>
            </a:pPr>
            <a:r>
              <a:rPr lang="en-US" sz="900" dirty="0">
                <a:solidFill>
                  <a:srgbClr val="EDF6F9"/>
                </a:solidFill>
                <a:latin typeface="Calibri" pitchFamily="34" charset="0"/>
                <a:ea typeface="Calibri" pitchFamily="34" charset="-122"/>
                <a:cs typeface="Calibri" pitchFamily="34" charset="-120"/>
              </a:rPr>
              <a:t>PROJECT</a:t>
            </a:r>
            <a:endParaRPr lang="en-US" sz="900" dirty="0"/>
          </a:p>
        </p:txBody>
      </p:sp>
      <p:sp>
        <p:nvSpPr>
          <p:cNvPr id="12" name="Text 10"/>
          <p:cNvSpPr/>
          <p:nvPr/>
        </p:nvSpPr>
        <p:spPr>
          <a:xfrm>
            <a:off x="2121408" y="2148840"/>
            <a:ext cx="3767328" cy="384048"/>
          </a:xfrm>
          <a:prstGeom prst="rect">
            <a:avLst/>
          </a:prstGeom>
          <a:noFill/>
          <a:ln/>
        </p:spPr>
        <p:txBody>
          <a:bodyPr wrap="square" lIns="0" tIns="0" rIns="0" bIns="0" rtlCol="0" anchor="ctr"/>
          <a:lstStyle/>
          <a:p>
            <a:pPr algn="l" indent="0" marL="0">
              <a:buNone/>
            </a:pPr>
            <a:r>
              <a:rPr lang="en-US" sz="1000" dirty="0">
                <a:solidFill>
                  <a:srgbClr val="006D77"/>
                </a:solidFill>
                <a:latin typeface="Calibri" pitchFamily="34" charset="0"/>
                <a:ea typeface="Calibri" pitchFamily="34" charset="-122"/>
                <a:cs typeface="Calibri" pitchFamily="34" charset="-120"/>
              </a:rPr>
              <a:t>the environment</a:t>
            </a:r>
            <a:endParaRPr lang="en-US" sz="1000" dirty="0"/>
          </a:p>
        </p:txBody>
      </p:sp>
      <p:sp>
        <p:nvSpPr>
          <p:cNvPr id="13" name="Shape 11"/>
          <p:cNvSpPr/>
          <p:nvPr/>
        </p:nvSpPr>
        <p:spPr>
          <a:xfrm>
            <a:off x="640080" y="2606040"/>
            <a:ext cx="1371600" cy="384048"/>
          </a:xfrm>
          <a:prstGeom prst="rect">
            <a:avLst/>
          </a:prstGeom>
          <a:solidFill>
            <a:srgbClr val="006D77"/>
          </a:solidFill>
          <a:ln w="12700">
            <a:solidFill>
              <a:srgbClr val="006D77"/>
            </a:solidFill>
            <a:prstDash val="solid"/>
          </a:ln>
        </p:spPr>
      </p:sp>
      <p:sp>
        <p:nvSpPr>
          <p:cNvPr id="14" name="Text 12"/>
          <p:cNvSpPr/>
          <p:nvPr/>
        </p:nvSpPr>
        <p:spPr>
          <a:xfrm>
            <a:off x="640080" y="2606040"/>
            <a:ext cx="1371600" cy="384048"/>
          </a:xfrm>
          <a:prstGeom prst="rect">
            <a:avLst/>
          </a:prstGeom>
          <a:noFill/>
          <a:ln/>
        </p:spPr>
        <p:txBody>
          <a:bodyPr wrap="square" lIns="0" tIns="0" rIns="0" bIns="0" rtlCol="0" anchor="ctr"/>
          <a:lstStyle/>
          <a:p>
            <a:pPr algn="ctr" indent="0" marL="0">
              <a:buNone/>
            </a:pPr>
            <a:r>
              <a:rPr lang="en-US" sz="900" dirty="0">
                <a:solidFill>
                  <a:srgbClr val="EDF6F9"/>
                </a:solidFill>
                <a:latin typeface="Calibri" pitchFamily="34" charset="0"/>
                <a:ea typeface="Calibri" pitchFamily="34" charset="-122"/>
                <a:cs typeface="Calibri" pitchFamily="34" charset="-120"/>
              </a:rPr>
              <a:t>MEMORY</a:t>
            </a:r>
            <a:endParaRPr lang="en-US" sz="900" dirty="0"/>
          </a:p>
        </p:txBody>
      </p:sp>
      <p:sp>
        <p:nvSpPr>
          <p:cNvPr id="15" name="Text 13"/>
          <p:cNvSpPr/>
          <p:nvPr/>
        </p:nvSpPr>
        <p:spPr>
          <a:xfrm>
            <a:off x="2121408" y="2606040"/>
            <a:ext cx="3767328" cy="384048"/>
          </a:xfrm>
          <a:prstGeom prst="rect">
            <a:avLst/>
          </a:prstGeom>
          <a:noFill/>
          <a:ln/>
        </p:spPr>
        <p:txBody>
          <a:bodyPr wrap="square" lIns="0" tIns="0" rIns="0" bIns="0" rtlCol="0" anchor="ctr"/>
          <a:lstStyle/>
          <a:p>
            <a:pPr algn="l" indent="0" marL="0">
              <a:buNone/>
            </a:pPr>
            <a:r>
              <a:rPr lang="en-US" sz="1000" dirty="0">
                <a:solidFill>
                  <a:srgbClr val="006D77"/>
                </a:solidFill>
                <a:latin typeface="Calibri" pitchFamily="34" charset="0"/>
                <a:ea typeface="Calibri" pitchFamily="34" charset="-122"/>
                <a:cs typeface="Calibri" pitchFamily="34" charset="-120"/>
              </a:rPr>
              <a:t>persistent project and user notes, CLAUDE.md</a:t>
            </a:r>
            <a:endParaRPr lang="en-US" sz="1000" dirty="0"/>
          </a:p>
        </p:txBody>
      </p:sp>
      <p:sp>
        <p:nvSpPr>
          <p:cNvPr id="16" name="Shape 14"/>
          <p:cNvSpPr/>
          <p:nvPr/>
        </p:nvSpPr>
        <p:spPr>
          <a:xfrm>
            <a:off x="640080" y="3063240"/>
            <a:ext cx="1371600" cy="384048"/>
          </a:xfrm>
          <a:prstGeom prst="rect">
            <a:avLst/>
          </a:prstGeom>
          <a:solidFill>
            <a:srgbClr val="006D77"/>
          </a:solidFill>
          <a:ln w="12700">
            <a:solidFill>
              <a:srgbClr val="006D77"/>
            </a:solidFill>
            <a:prstDash val="solid"/>
          </a:ln>
        </p:spPr>
      </p:sp>
      <p:sp>
        <p:nvSpPr>
          <p:cNvPr id="17" name="Text 15"/>
          <p:cNvSpPr/>
          <p:nvPr/>
        </p:nvSpPr>
        <p:spPr>
          <a:xfrm>
            <a:off x="640080" y="3063240"/>
            <a:ext cx="1371600" cy="384048"/>
          </a:xfrm>
          <a:prstGeom prst="rect">
            <a:avLst/>
          </a:prstGeom>
          <a:noFill/>
          <a:ln/>
        </p:spPr>
        <p:txBody>
          <a:bodyPr wrap="square" lIns="0" tIns="0" rIns="0" bIns="0" rtlCol="0" anchor="ctr"/>
          <a:lstStyle/>
          <a:p>
            <a:pPr algn="ctr" indent="0" marL="0">
              <a:buNone/>
            </a:pPr>
            <a:r>
              <a:rPr lang="en-US" sz="900" dirty="0">
                <a:solidFill>
                  <a:srgbClr val="EDF6F9"/>
                </a:solidFill>
                <a:latin typeface="Calibri" pitchFamily="34" charset="0"/>
                <a:ea typeface="Calibri" pitchFamily="34" charset="-122"/>
                <a:cs typeface="Calibri" pitchFamily="34" charset="-120"/>
              </a:rPr>
              <a:t>TOOLS</a:t>
            </a:r>
            <a:endParaRPr lang="en-US" sz="900" dirty="0"/>
          </a:p>
        </p:txBody>
      </p:sp>
      <p:sp>
        <p:nvSpPr>
          <p:cNvPr id="18" name="Text 16"/>
          <p:cNvSpPr/>
          <p:nvPr/>
        </p:nvSpPr>
        <p:spPr>
          <a:xfrm>
            <a:off x="2121408" y="3063240"/>
            <a:ext cx="3767328" cy="384048"/>
          </a:xfrm>
          <a:prstGeom prst="rect">
            <a:avLst/>
          </a:prstGeom>
          <a:noFill/>
          <a:ln/>
        </p:spPr>
        <p:txBody>
          <a:bodyPr wrap="square" lIns="0" tIns="0" rIns="0" bIns="0" rtlCol="0" anchor="ctr"/>
          <a:lstStyle/>
          <a:p>
            <a:pPr algn="l" indent="0" marL="0">
              <a:buNone/>
            </a:pPr>
            <a:r>
              <a:rPr lang="en-US" sz="1000" dirty="0">
                <a:solidFill>
                  <a:srgbClr val="006D77"/>
                </a:solidFill>
                <a:latin typeface="Calibri" pitchFamily="34" charset="0"/>
                <a:ea typeface="Calibri" pitchFamily="34" charset="-122"/>
                <a:cs typeface="Calibri" pitchFamily="34" charset="-120"/>
              </a:rPr>
              <a:t>Read, Edit, Bash, Glob, Grep, Web, Agent</a:t>
            </a:r>
            <a:endParaRPr lang="en-US" sz="1000" dirty="0"/>
          </a:p>
        </p:txBody>
      </p:sp>
      <p:sp>
        <p:nvSpPr>
          <p:cNvPr id="19" name="Shape 17"/>
          <p:cNvSpPr/>
          <p:nvPr/>
        </p:nvSpPr>
        <p:spPr>
          <a:xfrm>
            <a:off x="640080" y="3520440"/>
            <a:ext cx="1371600" cy="384048"/>
          </a:xfrm>
          <a:prstGeom prst="rect">
            <a:avLst/>
          </a:prstGeom>
          <a:solidFill>
            <a:srgbClr val="006D77"/>
          </a:solidFill>
          <a:ln w="12700">
            <a:solidFill>
              <a:srgbClr val="006D77"/>
            </a:solidFill>
            <a:prstDash val="solid"/>
          </a:ln>
        </p:spPr>
      </p:sp>
      <p:sp>
        <p:nvSpPr>
          <p:cNvPr id="20" name="Text 18"/>
          <p:cNvSpPr/>
          <p:nvPr/>
        </p:nvSpPr>
        <p:spPr>
          <a:xfrm>
            <a:off x="640080" y="3520440"/>
            <a:ext cx="1371600" cy="384048"/>
          </a:xfrm>
          <a:prstGeom prst="rect">
            <a:avLst/>
          </a:prstGeom>
          <a:noFill/>
          <a:ln/>
        </p:spPr>
        <p:txBody>
          <a:bodyPr wrap="square" lIns="0" tIns="0" rIns="0" bIns="0" rtlCol="0" anchor="ctr"/>
          <a:lstStyle/>
          <a:p>
            <a:pPr algn="ctr" indent="0" marL="0">
              <a:buNone/>
            </a:pPr>
            <a:r>
              <a:rPr lang="en-US" sz="900" dirty="0">
                <a:solidFill>
                  <a:srgbClr val="EDF6F9"/>
                </a:solidFill>
                <a:latin typeface="Calibri" pitchFamily="34" charset="0"/>
                <a:ea typeface="Calibri" pitchFamily="34" charset="-122"/>
                <a:cs typeface="Calibri" pitchFamily="34" charset="-120"/>
              </a:rPr>
              <a:t>SKILLS / MCP</a:t>
            </a:r>
            <a:endParaRPr lang="en-US" sz="900" dirty="0"/>
          </a:p>
        </p:txBody>
      </p:sp>
      <p:sp>
        <p:nvSpPr>
          <p:cNvPr id="21" name="Text 19"/>
          <p:cNvSpPr/>
          <p:nvPr/>
        </p:nvSpPr>
        <p:spPr>
          <a:xfrm>
            <a:off x="2121408" y="3520440"/>
            <a:ext cx="3767328" cy="384048"/>
          </a:xfrm>
          <a:prstGeom prst="rect">
            <a:avLst/>
          </a:prstGeom>
          <a:noFill/>
          <a:ln/>
        </p:spPr>
        <p:txBody>
          <a:bodyPr wrap="square" lIns="0" tIns="0" rIns="0" bIns="0" rtlCol="0" anchor="ctr"/>
          <a:lstStyle/>
          <a:p>
            <a:pPr algn="l" indent="0" marL="0">
              <a:buNone/>
            </a:pPr>
            <a:r>
              <a:rPr lang="en-US" sz="1000" dirty="0">
                <a:solidFill>
                  <a:srgbClr val="006D77"/>
                </a:solidFill>
                <a:latin typeface="Calibri" pitchFamily="34" charset="0"/>
                <a:ea typeface="Calibri" pitchFamily="34" charset="-122"/>
                <a:cs typeface="Calibri" pitchFamily="34" charset="-120"/>
              </a:rPr>
              <a:t>names and descriptions only</a:t>
            </a:r>
            <a:endParaRPr lang="en-US" sz="1000" dirty="0"/>
          </a:p>
        </p:txBody>
      </p:sp>
      <p:sp>
        <p:nvSpPr>
          <p:cNvPr id="22" name="Shape 20"/>
          <p:cNvSpPr/>
          <p:nvPr/>
        </p:nvSpPr>
        <p:spPr>
          <a:xfrm>
            <a:off x="640080" y="3977640"/>
            <a:ext cx="1371600" cy="384048"/>
          </a:xfrm>
          <a:prstGeom prst="rect">
            <a:avLst/>
          </a:prstGeom>
          <a:solidFill>
            <a:srgbClr val="006D77"/>
          </a:solidFill>
          <a:ln w="12700">
            <a:solidFill>
              <a:srgbClr val="006D77"/>
            </a:solidFill>
            <a:prstDash val="solid"/>
          </a:ln>
        </p:spPr>
      </p:sp>
      <p:sp>
        <p:nvSpPr>
          <p:cNvPr id="23" name="Text 21"/>
          <p:cNvSpPr/>
          <p:nvPr/>
        </p:nvSpPr>
        <p:spPr>
          <a:xfrm>
            <a:off x="640080" y="3977640"/>
            <a:ext cx="1371600" cy="384048"/>
          </a:xfrm>
          <a:prstGeom prst="rect">
            <a:avLst/>
          </a:prstGeom>
          <a:noFill/>
          <a:ln/>
        </p:spPr>
        <p:txBody>
          <a:bodyPr wrap="square" lIns="0" tIns="0" rIns="0" bIns="0" rtlCol="0" anchor="ctr"/>
          <a:lstStyle/>
          <a:p>
            <a:pPr algn="ctr" indent="0" marL="0">
              <a:buNone/>
            </a:pPr>
            <a:r>
              <a:rPr lang="en-US" sz="900" dirty="0">
                <a:solidFill>
                  <a:srgbClr val="EDF6F9"/>
                </a:solidFill>
                <a:latin typeface="Calibri" pitchFamily="34" charset="0"/>
                <a:ea typeface="Calibri" pitchFamily="34" charset="-122"/>
                <a:cs typeface="Calibri" pitchFamily="34" charset="-120"/>
              </a:rPr>
              <a:t>USER</a:t>
            </a:r>
            <a:endParaRPr lang="en-US" sz="900" dirty="0"/>
          </a:p>
        </p:txBody>
      </p:sp>
      <p:sp>
        <p:nvSpPr>
          <p:cNvPr id="24" name="Text 22"/>
          <p:cNvSpPr/>
          <p:nvPr/>
        </p:nvSpPr>
        <p:spPr>
          <a:xfrm>
            <a:off x="2121408" y="3977640"/>
            <a:ext cx="3767328" cy="384048"/>
          </a:xfrm>
          <a:prstGeom prst="rect">
            <a:avLst/>
          </a:prstGeom>
          <a:noFill/>
          <a:ln/>
        </p:spPr>
        <p:txBody>
          <a:bodyPr wrap="square" lIns="0" tIns="0" rIns="0" bIns="0" rtlCol="0" anchor="ctr"/>
          <a:lstStyle/>
          <a:p>
            <a:pPr algn="l" indent="0" marL="0">
              <a:buNone/>
            </a:pPr>
            <a:r>
              <a:rPr lang="en-US" sz="1000" dirty="0">
                <a:solidFill>
                  <a:srgbClr val="006D77"/>
                </a:solidFill>
                <a:latin typeface="Calibri" pitchFamily="34" charset="0"/>
                <a:ea typeface="Calibri" pitchFamily="34" charset="-122"/>
                <a:cs typeface="Calibri" pitchFamily="34" charset="-120"/>
              </a:rPr>
              <a:t>the request</a:t>
            </a:r>
            <a:endParaRPr lang="en-US" sz="1000" dirty="0"/>
          </a:p>
        </p:txBody>
      </p:sp>
      <p:sp>
        <p:nvSpPr>
          <p:cNvPr id="25" name="Shape 23"/>
          <p:cNvSpPr/>
          <p:nvPr/>
        </p:nvSpPr>
        <p:spPr>
          <a:xfrm>
            <a:off x="6217920" y="1234440"/>
            <a:ext cx="2468880" cy="3200400"/>
          </a:xfrm>
          <a:prstGeom prst="rect">
            <a:avLst/>
          </a:prstGeom>
          <a:solidFill>
            <a:srgbClr val="FFDDD2"/>
          </a:solidFill>
          <a:ln w="9525">
            <a:solidFill>
              <a:srgbClr val="83C5BE"/>
            </a:solidFill>
            <a:prstDash val="solid"/>
          </a:ln>
          <a:effectLst>
            <a:outerShdw sx="100000" sy="100000" kx="0" ky="0" algn="bl" rotWithShape="0" blurRad="101600" dist="25400" dir="5400000">
              <a:srgbClr val="006d77">
                <a:alpha val="12000"/>
              </a:srgbClr>
            </a:outerShdw>
          </a:effectLst>
        </p:spPr>
      </p:sp>
      <p:sp>
        <p:nvSpPr>
          <p:cNvPr id="26" name="Shape 24"/>
          <p:cNvSpPr/>
          <p:nvPr/>
        </p:nvSpPr>
        <p:spPr>
          <a:xfrm>
            <a:off x="6217920" y="1234440"/>
            <a:ext cx="50292" cy="3200400"/>
          </a:xfrm>
          <a:prstGeom prst="rect">
            <a:avLst/>
          </a:prstGeom>
          <a:solidFill>
            <a:srgbClr val="E29578"/>
          </a:solidFill>
          <a:ln w="12700">
            <a:solidFill>
              <a:srgbClr val="E29578"/>
            </a:solidFill>
            <a:prstDash val="solid"/>
          </a:ln>
        </p:spPr>
      </p:sp>
      <p:sp>
        <p:nvSpPr>
          <p:cNvPr id="27" name="Text 25"/>
          <p:cNvSpPr/>
          <p:nvPr/>
        </p:nvSpPr>
        <p:spPr>
          <a:xfrm>
            <a:off x="6400800" y="1426464"/>
            <a:ext cx="2103120" cy="658368"/>
          </a:xfrm>
          <a:prstGeom prst="rect">
            <a:avLst/>
          </a:prstGeom>
          <a:noFill/>
          <a:ln/>
        </p:spPr>
        <p:txBody>
          <a:bodyPr wrap="square" lIns="0" tIns="0" rIns="0" bIns="0" rtlCol="0" anchor="ctr">
            <a:normAutofit/>
          </a:bodyPr>
          <a:lstStyle/>
          <a:p>
            <a:pPr algn="l" indent="0" marL="0">
              <a:buNone/>
            </a:pPr>
            <a:r>
              <a:rPr lang="en-US" sz="4000" b="1" dirty="0">
                <a:solidFill>
                  <a:srgbClr val="006D77"/>
                </a:solidFill>
                <a:latin typeface="Georgia" pitchFamily="34" charset="0"/>
                <a:ea typeface="Georgia" pitchFamily="34" charset="-122"/>
                <a:cs typeface="Georgia" pitchFamily="34" charset="-120"/>
              </a:rPr>
              <a:t>10+k</a:t>
            </a:r>
            <a:endParaRPr lang="en-US" sz="4000" dirty="0"/>
          </a:p>
        </p:txBody>
      </p:sp>
      <p:sp>
        <p:nvSpPr>
          <p:cNvPr id="28" name="Text 26"/>
          <p:cNvSpPr/>
          <p:nvPr/>
        </p:nvSpPr>
        <p:spPr>
          <a:xfrm>
            <a:off x="6400800" y="2084832"/>
            <a:ext cx="2103120" cy="420624"/>
          </a:xfrm>
          <a:prstGeom prst="rect">
            <a:avLst/>
          </a:prstGeom>
          <a:noFill/>
          <a:ln/>
        </p:spPr>
        <p:txBody>
          <a:bodyPr wrap="square" lIns="0" tIns="0" rIns="0" bIns="0" rtlCol="0" anchor="t"/>
          <a:lstStyle/>
          <a:p>
            <a:pPr algn="l" indent="0" marL="0">
              <a:buNone/>
            </a:pPr>
            <a:r>
              <a:rPr lang="en-US" sz="1100" dirty="0">
                <a:solidFill>
                  <a:srgbClr val="006D77">
                    <a:alpha val="65000"/>
                  </a:srgbClr>
                </a:solidFill>
                <a:latin typeface="Calibri" pitchFamily="34" charset="0"/>
                <a:ea typeface="Calibri" pitchFamily="34" charset="-122"/>
                <a:cs typeface="Calibri" pitchFamily="34" charset="-120"/>
              </a:rPr>
              <a:t>tokens before you type</a:t>
            </a:r>
            <a:endParaRPr lang="en-US" sz="1100" dirty="0"/>
          </a:p>
        </p:txBody>
      </p:sp>
      <p:sp>
        <p:nvSpPr>
          <p:cNvPr id="29" name="Text 27"/>
          <p:cNvSpPr/>
          <p:nvPr/>
        </p:nvSpPr>
        <p:spPr>
          <a:xfrm>
            <a:off x="6400800" y="2660904"/>
            <a:ext cx="2139696" cy="1463040"/>
          </a:xfrm>
          <a:prstGeom prst="rect">
            <a:avLst/>
          </a:prstGeom>
          <a:noFill/>
          <a:ln/>
        </p:spPr>
        <p:txBody>
          <a:bodyPr wrap="square" lIns="0" tIns="0" rIns="0" bIns="0" rtlCol="0" anchor="t"/>
          <a:lstStyle/>
          <a:p>
            <a:pPr algn="l" marL="152400" indent="-152400">
              <a:spcAft>
                <a:spcPts val="600"/>
              </a:spcAft>
              <a:buSzPct val="100000"/>
              <a:buChar char="•"/>
            </a:pPr>
            <a:r>
              <a:rPr lang="en-US" sz="1000" dirty="0">
                <a:solidFill>
                  <a:srgbClr val="006D77"/>
                </a:solidFill>
                <a:latin typeface="Calibri" pitchFamily="34" charset="0"/>
                <a:ea typeface="Calibri" pitchFamily="34" charset="-122"/>
                <a:cs typeface="Calibri" pitchFamily="34" charset="-120"/>
              </a:rPr>
              <a:t>Skill and MCP entries start as names only</a:t>
            </a:r>
            <a:endParaRPr lang="en-US" sz="1000" dirty="0"/>
          </a:p>
          <a:p>
            <a:pPr algn="l" marL="152400" indent="-152400">
              <a:spcAft>
                <a:spcPts val="600"/>
              </a:spcAft>
              <a:buSzPct val="100000"/>
              <a:buChar char="•"/>
            </a:pPr>
            <a:r>
              <a:rPr lang="en-US" sz="1000" dirty="0">
                <a:solidFill>
                  <a:srgbClr val="006D77"/>
                </a:solidFill>
                <a:latin typeface="Calibri" pitchFamily="34" charset="0"/>
                <a:ea typeface="Calibri" pitchFamily="34" charset="-122"/>
                <a:cs typeface="Calibri" pitchFamily="34" charset="-120"/>
              </a:rPr>
              <a:t>They load in full when the agent reaches for them</a:t>
            </a:r>
            <a:endParaRPr lang="en-US" sz="1000" dirty="0"/>
          </a:p>
        </p:txBody>
      </p:sp>
      <p:sp>
        <p:nvSpPr>
          <p:cNvPr id="30" name="Shape 28"/>
          <p:cNvSpPr/>
          <p:nvPr/>
        </p:nvSpPr>
        <p:spPr>
          <a:xfrm>
            <a:off x="8485632" y="4645152"/>
            <a:ext cx="420624" cy="274320"/>
          </a:xfrm>
          <a:prstGeom prst="roundRect">
            <a:avLst>
              <a:gd name="adj" fmla="val 26667"/>
            </a:avLst>
          </a:prstGeom>
          <a:solidFill>
            <a:srgbClr val="006D77"/>
          </a:solidFill>
          <a:ln w="12700">
            <a:solidFill>
              <a:srgbClr val="006D77"/>
            </a:solidFill>
            <a:prstDash val="solid"/>
          </a:ln>
        </p:spPr>
      </p:sp>
      <p:sp>
        <p:nvSpPr>
          <p:cNvPr id="31" name="Text 29"/>
          <p:cNvSpPr/>
          <p:nvPr/>
        </p:nvSpPr>
        <p:spPr>
          <a:xfrm>
            <a:off x="8485632" y="4645152"/>
            <a:ext cx="420624" cy="274320"/>
          </a:xfrm>
          <a:prstGeom prst="rect">
            <a:avLst/>
          </a:prstGeom>
          <a:noFill/>
          <a:ln/>
        </p:spPr>
        <p:txBody>
          <a:bodyPr wrap="square" lIns="0" tIns="0" rIns="0" bIns="0" rtlCol="0" anchor="ctr"/>
          <a:lstStyle/>
          <a:p>
            <a:pPr algn="ctr" indent="0" marL="0">
              <a:buNone/>
            </a:pPr>
            <a:r>
              <a:rPr lang="en-US" sz="1100" dirty="0">
                <a:solidFill>
                  <a:srgbClr val="EDF6F9"/>
                </a:solidFill>
                <a:latin typeface="Calibri" pitchFamily="34" charset="0"/>
                <a:ea typeface="Calibri" pitchFamily="34" charset="-122"/>
                <a:cs typeface="Calibri" pitchFamily="34" charset="-120"/>
              </a:rPr>
              <a:t>3</a:t>
            </a:r>
            <a:endParaRPr lang="en-US" sz="1100" dirty="0"/>
          </a:p>
        </p:txBody>
      </p:sp>
      <p:sp>
        <p:nvSpPr>
          <p:cNvPr id="32" name="Shape 30"/>
          <p:cNvSpPr/>
          <p:nvPr/>
        </p:nvSpPr>
        <p:spPr>
          <a:xfrm>
            <a:off x="457200" y="4754880"/>
            <a:ext cx="7772400" cy="10973"/>
          </a:xfrm>
          <a:prstGeom prst="rect">
            <a:avLst/>
          </a:prstGeom>
          <a:solidFill>
            <a:srgbClr val="83C5BE"/>
          </a:solidFill>
          <a:ln w="12700">
            <a:solidFill>
              <a:srgbClr val="83C5BE"/>
            </a:solidFill>
            <a:prstDash val="solid"/>
          </a:ln>
        </p:spPr>
      </p:sp>
      <p:sp>
        <p:nvSpPr>
          <p:cNvPr id="33" name="Text 31"/>
          <p:cNvSpPr/>
          <p:nvPr/>
        </p:nvSpPr>
        <p:spPr>
          <a:xfrm>
            <a:off x="457200" y="4773168"/>
            <a:ext cx="7772400" cy="219456"/>
          </a:xfrm>
          <a:prstGeom prst="rect">
            <a:avLst/>
          </a:prstGeom>
          <a:noFill/>
          <a:ln/>
        </p:spPr>
        <p:txBody>
          <a:bodyPr wrap="square" lIns="0" tIns="0" rIns="0" bIns="0" rtlCol="0" anchor="ctr"/>
          <a:lstStyle/>
          <a:p>
            <a:pPr algn="l" indent="0" marL="0">
              <a:buNone/>
            </a:pPr>
            <a:r>
              <a:rPr lang="en-US" sz="900" dirty="0">
                <a:solidFill>
                  <a:srgbClr val="006D77">
                    <a:alpha val="55000"/>
                  </a:srgbClr>
                </a:solidFill>
                <a:latin typeface="Calibri" pitchFamily="34" charset="0"/>
                <a:ea typeface="Calibri" pitchFamily="34" charset="-122"/>
                <a:cs typeface="Calibri" pitchFamily="34" charset="-120"/>
              </a:rPr>
              <a:t>Source: https://cs2680.seas.harvard.edu/slides/2_agent_use_1.pdf</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DF6F9"/>
        </a:solidFill>
      </p:bgPr>
    </p:bg>
    <p:spTree>
      <p:nvGrpSpPr>
        <p:cNvPr id="1" name=""/>
        <p:cNvGrpSpPr/>
        <p:nvPr/>
      </p:nvGrpSpPr>
      <p:grpSpPr>
        <a:xfrm>
          <a:off x="0" y="0"/>
          <a:ext cx="0" cy="0"/>
          <a:chOff x="0" y="0"/>
          <a:chExt cx="0" cy="0"/>
        </a:xfrm>
      </p:grpSpPr>
      <p:sp>
        <p:nvSpPr>
          <p:cNvPr id="2" name="Text 0"/>
          <p:cNvSpPr/>
          <p:nvPr/>
        </p:nvSpPr>
        <p:spPr>
          <a:xfrm>
            <a:off x="457200" y="310896"/>
            <a:ext cx="8229600" cy="219456"/>
          </a:xfrm>
          <a:prstGeom prst="rect">
            <a:avLst/>
          </a:prstGeom>
          <a:noFill/>
          <a:ln/>
        </p:spPr>
        <p:txBody>
          <a:bodyPr wrap="square" lIns="0" tIns="0" rIns="0" bIns="0" rtlCol="0" anchor="ctr"/>
          <a:lstStyle/>
          <a:p>
            <a:pPr algn="l" indent="0" marL="0">
              <a:buNone/>
            </a:pPr>
            <a:r>
              <a:rPr lang="en-US" sz="1100" spc="140" kern="0" dirty="0">
                <a:solidFill>
                  <a:srgbClr val="E29578"/>
                </a:solidFill>
                <a:latin typeface="Calibri" pitchFamily="34" charset="0"/>
                <a:ea typeface="Calibri" pitchFamily="34" charset="-122"/>
                <a:cs typeface="Calibri" pitchFamily="34" charset="-120"/>
              </a:rPr>
              <a:t>TRUST BOUNDARY</a:t>
            </a:r>
            <a:endParaRPr lang="en-US" sz="1100" dirty="0"/>
          </a:p>
        </p:txBody>
      </p:sp>
      <p:sp>
        <p:nvSpPr>
          <p:cNvPr id="3" name="Text 1"/>
          <p:cNvSpPr/>
          <p:nvPr/>
        </p:nvSpPr>
        <p:spPr>
          <a:xfrm>
            <a:off x="457200" y="548640"/>
            <a:ext cx="8229600" cy="566928"/>
          </a:xfrm>
          <a:prstGeom prst="rect">
            <a:avLst/>
          </a:prstGeom>
          <a:noFill/>
          <a:ln/>
        </p:spPr>
        <p:txBody>
          <a:bodyPr wrap="square" lIns="0" tIns="0" rIns="0" bIns="0" rtlCol="0" anchor="ctr">
            <a:normAutofit/>
          </a:bodyPr>
          <a:lstStyle/>
          <a:p>
            <a:pPr algn="l" indent="0" marL="0">
              <a:buNone/>
            </a:pPr>
            <a:r>
              <a:rPr lang="en-US" sz="2700" b="1" dirty="0">
                <a:solidFill>
                  <a:srgbClr val="006D77"/>
                </a:solidFill>
                <a:latin typeface="Georgia" pitchFamily="34" charset="0"/>
                <a:ea typeface="Georgia" pitchFamily="34" charset="-122"/>
                <a:cs typeface="Georgia" pitchFamily="34" charset="-120"/>
              </a:rPr>
              <a:t>The model proposes, the harness executes</a:t>
            </a:r>
            <a:endParaRPr lang="en-US" sz="2700" dirty="0"/>
          </a:p>
        </p:txBody>
      </p:sp>
      <p:sp>
        <p:nvSpPr>
          <p:cNvPr id="4" name="Shape 2"/>
          <p:cNvSpPr/>
          <p:nvPr/>
        </p:nvSpPr>
        <p:spPr>
          <a:xfrm>
            <a:off x="457200" y="1280160"/>
            <a:ext cx="2606040" cy="1600200"/>
          </a:xfrm>
          <a:prstGeom prst="rect">
            <a:avLst/>
          </a:prstGeom>
          <a:solidFill>
            <a:srgbClr val="EDF6F9"/>
          </a:solidFill>
          <a:ln w="9525">
            <a:solidFill>
              <a:srgbClr val="83C5BE"/>
            </a:solidFill>
            <a:prstDash val="solid"/>
          </a:ln>
          <a:effectLst>
            <a:outerShdw sx="100000" sy="100000" kx="0" ky="0" algn="bl" rotWithShape="0" blurRad="101600" dist="25400" dir="5400000">
              <a:srgbClr val="006d77">
                <a:alpha val="12000"/>
              </a:srgbClr>
            </a:outerShdw>
          </a:effectLst>
        </p:spPr>
      </p:sp>
      <p:sp>
        <p:nvSpPr>
          <p:cNvPr id="5" name="Shape 3"/>
          <p:cNvSpPr/>
          <p:nvPr/>
        </p:nvSpPr>
        <p:spPr>
          <a:xfrm>
            <a:off x="457200" y="1280160"/>
            <a:ext cx="50292" cy="1600200"/>
          </a:xfrm>
          <a:prstGeom prst="rect">
            <a:avLst/>
          </a:prstGeom>
          <a:solidFill>
            <a:srgbClr val="E29578"/>
          </a:solidFill>
          <a:ln w="12700">
            <a:solidFill>
              <a:srgbClr val="E29578"/>
            </a:solidFill>
            <a:prstDash val="solid"/>
          </a:ln>
        </p:spPr>
      </p:sp>
      <p:sp>
        <p:nvSpPr>
          <p:cNvPr id="6" name="Text 4"/>
          <p:cNvSpPr/>
          <p:nvPr/>
        </p:nvSpPr>
        <p:spPr>
          <a:xfrm>
            <a:off x="640080" y="1426464"/>
            <a:ext cx="2276856" cy="237744"/>
          </a:xfrm>
          <a:prstGeom prst="rect">
            <a:avLst/>
          </a:prstGeom>
          <a:noFill/>
          <a:ln/>
        </p:spPr>
        <p:txBody>
          <a:bodyPr wrap="square" lIns="0" tIns="0" rIns="0" bIns="0" rtlCol="0" anchor="ctr"/>
          <a:lstStyle/>
          <a:p>
            <a:pPr algn="l" indent="0" marL="0">
              <a:buNone/>
            </a:pPr>
            <a:r>
              <a:rPr lang="en-US" sz="1100" b="1" spc="100" kern="0" dirty="0">
                <a:solidFill>
                  <a:srgbClr val="006D77"/>
                </a:solidFill>
                <a:latin typeface="Calibri" pitchFamily="34" charset="0"/>
                <a:ea typeface="Calibri" pitchFamily="34" charset="-122"/>
                <a:cs typeface="Calibri" pitchFamily="34" charset="-120"/>
              </a:rPr>
              <a:t>MODEL</a:t>
            </a:r>
            <a:endParaRPr lang="en-US" sz="1100" dirty="0"/>
          </a:p>
        </p:txBody>
      </p:sp>
      <p:sp>
        <p:nvSpPr>
          <p:cNvPr id="7" name="Text 5"/>
          <p:cNvSpPr/>
          <p:nvPr/>
        </p:nvSpPr>
        <p:spPr>
          <a:xfrm>
            <a:off x="640080" y="1719072"/>
            <a:ext cx="2276856" cy="978408"/>
          </a:xfrm>
          <a:prstGeom prst="rect">
            <a:avLst/>
          </a:prstGeom>
          <a:noFill/>
          <a:ln/>
        </p:spPr>
        <p:txBody>
          <a:bodyPr wrap="square" lIns="0" tIns="0" rIns="0" bIns="0" rtlCol="0" anchor="t"/>
          <a:lstStyle/>
          <a:p>
            <a:pPr algn="l" indent="0" marL="0">
              <a:buNone/>
            </a:pPr>
            <a:r>
              <a:rPr lang="en-US" sz="1000" dirty="0">
                <a:solidFill>
                  <a:srgbClr val="006D77"/>
                </a:solidFill>
                <a:latin typeface="Calibri" pitchFamily="34" charset="0"/>
                <a:ea typeface="Calibri" pitchFamily="34" charset="-122"/>
                <a:cs typeface="Calibri" pitchFamily="34" charset="-120"/>
              </a:rPr>
              <a:t>The model emits a request such as Bash("pytest"). It proposes; it does not execute.</a:t>
            </a:r>
            <a:endParaRPr lang="en-US" sz="1000" dirty="0"/>
          </a:p>
        </p:txBody>
      </p:sp>
      <p:sp>
        <p:nvSpPr>
          <p:cNvPr id="8" name="Text 6"/>
          <p:cNvSpPr/>
          <p:nvPr/>
        </p:nvSpPr>
        <p:spPr>
          <a:xfrm>
            <a:off x="3081528" y="1920240"/>
            <a:ext cx="146304" cy="274320"/>
          </a:xfrm>
          <a:prstGeom prst="rect">
            <a:avLst/>
          </a:prstGeom>
          <a:noFill/>
          <a:ln/>
        </p:spPr>
        <p:txBody>
          <a:bodyPr wrap="square" lIns="0" tIns="0" rIns="0" bIns="0" rtlCol="0" anchor="ctr"/>
          <a:lstStyle/>
          <a:p>
            <a:pPr algn="ctr" indent="0" marL="0">
              <a:buNone/>
            </a:pPr>
            <a:r>
              <a:rPr lang="en-US" sz="1400" dirty="0">
                <a:solidFill>
                  <a:srgbClr val="E29578"/>
                </a:solidFill>
                <a:latin typeface="Calibri" pitchFamily="34" charset="0"/>
                <a:ea typeface="Calibri" pitchFamily="34" charset="-122"/>
                <a:cs typeface="Calibri" pitchFamily="34" charset="-120"/>
              </a:rPr>
              <a:t>&gt;</a:t>
            </a:r>
            <a:endParaRPr lang="en-US" sz="1400" dirty="0"/>
          </a:p>
        </p:txBody>
      </p:sp>
      <p:sp>
        <p:nvSpPr>
          <p:cNvPr id="9" name="Shape 7"/>
          <p:cNvSpPr/>
          <p:nvPr/>
        </p:nvSpPr>
        <p:spPr>
          <a:xfrm>
            <a:off x="3246120" y="1280160"/>
            <a:ext cx="2606040" cy="1600200"/>
          </a:xfrm>
          <a:prstGeom prst="rect">
            <a:avLst/>
          </a:prstGeom>
          <a:solidFill>
            <a:srgbClr val="FFDDD2"/>
          </a:solidFill>
          <a:ln w="9525">
            <a:solidFill>
              <a:srgbClr val="83C5BE"/>
            </a:solidFill>
            <a:prstDash val="solid"/>
          </a:ln>
          <a:effectLst>
            <a:outerShdw sx="100000" sy="100000" kx="0" ky="0" algn="bl" rotWithShape="0" blurRad="101600" dist="25400" dir="5400000">
              <a:srgbClr val="006d77">
                <a:alpha val="12000"/>
              </a:srgbClr>
            </a:outerShdw>
          </a:effectLst>
        </p:spPr>
      </p:sp>
      <p:sp>
        <p:nvSpPr>
          <p:cNvPr id="10" name="Shape 8"/>
          <p:cNvSpPr/>
          <p:nvPr/>
        </p:nvSpPr>
        <p:spPr>
          <a:xfrm>
            <a:off x="3246120" y="1280160"/>
            <a:ext cx="50292" cy="1600200"/>
          </a:xfrm>
          <a:prstGeom prst="rect">
            <a:avLst/>
          </a:prstGeom>
          <a:solidFill>
            <a:srgbClr val="E29578"/>
          </a:solidFill>
          <a:ln w="12700">
            <a:solidFill>
              <a:srgbClr val="E29578"/>
            </a:solidFill>
            <a:prstDash val="solid"/>
          </a:ln>
        </p:spPr>
      </p:sp>
      <p:sp>
        <p:nvSpPr>
          <p:cNvPr id="11" name="Text 9"/>
          <p:cNvSpPr/>
          <p:nvPr/>
        </p:nvSpPr>
        <p:spPr>
          <a:xfrm>
            <a:off x="3429000" y="1426464"/>
            <a:ext cx="2276856" cy="237744"/>
          </a:xfrm>
          <a:prstGeom prst="rect">
            <a:avLst/>
          </a:prstGeom>
          <a:noFill/>
          <a:ln/>
        </p:spPr>
        <p:txBody>
          <a:bodyPr wrap="square" lIns="0" tIns="0" rIns="0" bIns="0" rtlCol="0" anchor="ctr"/>
          <a:lstStyle/>
          <a:p>
            <a:pPr algn="l" indent="0" marL="0">
              <a:buNone/>
            </a:pPr>
            <a:r>
              <a:rPr lang="en-US" sz="1100" b="1" spc="100" kern="0" dirty="0">
                <a:solidFill>
                  <a:srgbClr val="006D77"/>
                </a:solidFill>
                <a:latin typeface="Calibri" pitchFamily="34" charset="0"/>
                <a:ea typeface="Calibri" pitchFamily="34" charset="-122"/>
                <a:cs typeface="Calibri" pitchFamily="34" charset="-120"/>
              </a:rPr>
              <a:t>HARNESS</a:t>
            </a:r>
            <a:endParaRPr lang="en-US" sz="1100" dirty="0"/>
          </a:p>
        </p:txBody>
      </p:sp>
      <p:sp>
        <p:nvSpPr>
          <p:cNvPr id="12" name="Text 10"/>
          <p:cNvSpPr/>
          <p:nvPr/>
        </p:nvSpPr>
        <p:spPr>
          <a:xfrm>
            <a:off x="3429000" y="1719072"/>
            <a:ext cx="2276856" cy="978408"/>
          </a:xfrm>
          <a:prstGeom prst="rect">
            <a:avLst/>
          </a:prstGeom>
          <a:noFill/>
          <a:ln/>
        </p:spPr>
        <p:txBody>
          <a:bodyPr wrap="square" lIns="0" tIns="0" rIns="0" bIns="0" rtlCol="0" anchor="t"/>
          <a:lstStyle/>
          <a:p>
            <a:pPr algn="l" indent="0" marL="0">
              <a:buNone/>
            </a:pPr>
            <a:r>
              <a:rPr lang="en-US" sz="1000" dirty="0">
                <a:solidFill>
                  <a:srgbClr val="006D77"/>
                </a:solidFill>
                <a:latin typeface="Calibri" pitchFamily="34" charset="0"/>
                <a:ea typeface="Calibri" pitchFamily="34" charset="-122"/>
                <a:cs typeface="Calibri" pitchFamily="34" charset="-120"/>
              </a:rPr>
              <a:t>The Claude Code harness resolves the request, checks permissions, and executes it.</a:t>
            </a:r>
            <a:endParaRPr lang="en-US" sz="1000" dirty="0"/>
          </a:p>
        </p:txBody>
      </p:sp>
      <p:sp>
        <p:nvSpPr>
          <p:cNvPr id="13" name="Text 11"/>
          <p:cNvSpPr/>
          <p:nvPr/>
        </p:nvSpPr>
        <p:spPr>
          <a:xfrm>
            <a:off x="5870448" y="1920240"/>
            <a:ext cx="146304" cy="274320"/>
          </a:xfrm>
          <a:prstGeom prst="rect">
            <a:avLst/>
          </a:prstGeom>
          <a:noFill/>
          <a:ln/>
        </p:spPr>
        <p:txBody>
          <a:bodyPr wrap="square" lIns="0" tIns="0" rIns="0" bIns="0" rtlCol="0" anchor="ctr"/>
          <a:lstStyle/>
          <a:p>
            <a:pPr algn="ctr" indent="0" marL="0">
              <a:buNone/>
            </a:pPr>
            <a:r>
              <a:rPr lang="en-US" sz="1400" dirty="0">
                <a:solidFill>
                  <a:srgbClr val="E29578"/>
                </a:solidFill>
                <a:latin typeface="Calibri" pitchFamily="34" charset="0"/>
                <a:ea typeface="Calibri" pitchFamily="34" charset="-122"/>
                <a:cs typeface="Calibri" pitchFamily="34" charset="-120"/>
              </a:rPr>
              <a:t>&gt;</a:t>
            </a:r>
            <a:endParaRPr lang="en-US" sz="1400" dirty="0"/>
          </a:p>
        </p:txBody>
      </p:sp>
      <p:sp>
        <p:nvSpPr>
          <p:cNvPr id="14" name="Shape 12"/>
          <p:cNvSpPr/>
          <p:nvPr/>
        </p:nvSpPr>
        <p:spPr>
          <a:xfrm>
            <a:off x="6035040" y="1280160"/>
            <a:ext cx="2606040" cy="1600200"/>
          </a:xfrm>
          <a:prstGeom prst="rect">
            <a:avLst/>
          </a:prstGeom>
          <a:solidFill>
            <a:srgbClr val="EDF6F9"/>
          </a:solidFill>
          <a:ln w="9525">
            <a:solidFill>
              <a:srgbClr val="83C5BE"/>
            </a:solidFill>
            <a:prstDash val="solid"/>
          </a:ln>
          <a:effectLst>
            <a:outerShdw sx="100000" sy="100000" kx="0" ky="0" algn="bl" rotWithShape="0" blurRad="101600" dist="25400" dir="5400000">
              <a:srgbClr val="006d77">
                <a:alpha val="12000"/>
              </a:srgbClr>
            </a:outerShdw>
          </a:effectLst>
        </p:spPr>
      </p:sp>
      <p:sp>
        <p:nvSpPr>
          <p:cNvPr id="15" name="Shape 13"/>
          <p:cNvSpPr/>
          <p:nvPr/>
        </p:nvSpPr>
        <p:spPr>
          <a:xfrm>
            <a:off x="6035040" y="1280160"/>
            <a:ext cx="50292" cy="1600200"/>
          </a:xfrm>
          <a:prstGeom prst="rect">
            <a:avLst/>
          </a:prstGeom>
          <a:solidFill>
            <a:srgbClr val="E29578"/>
          </a:solidFill>
          <a:ln w="12700">
            <a:solidFill>
              <a:srgbClr val="E29578"/>
            </a:solidFill>
            <a:prstDash val="solid"/>
          </a:ln>
        </p:spPr>
      </p:sp>
      <p:sp>
        <p:nvSpPr>
          <p:cNvPr id="16" name="Text 14"/>
          <p:cNvSpPr/>
          <p:nvPr/>
        </p:nvSpPr>
        <p:spPr>
          <a:xfrm>
            <a:off x="6217920" y="1426464"/>
            <a:ext cx="2276856" cy="237744"/>
          </a:xfrm>
          <a:prstGeom prst="rect">
            <a:avLst/>
          </a:prstGeom>
          <a:noFill/>
          <a:ln/>
        </p:spPr>
        <p:txBody>
          <a:bodyPr wrap="square" lIns="0" tIns="0" rIns="0" bIns="0" rtlCol="0" anchor="ctr"/>
          <a:lstStyle/>
          <a:p>
            <a:pPr algn="l" indent="0" marL="0">
              <a:buNone/>
            </a:pPr>
            <a:r>
              <a:rPr lang="en-US" sz="1100" b="1" spc="100" kern="0" dirty="0">
                <a:solidFill>
                  <a:srgbClr val="006D77"/>
                </a:solidFill>
                <a:latin typeface="Calibri" pitchFamily="34" charset="0"/>
                <a:ea typeface="Calibri" pitchFamily="34" charset="-122"/>
                <a:cs typeface="Calibri" pitchFamily="34" charset="-120"/>
              </a:rPr>
              <a:t>YOUR MACHINE</a:t>
            </a:r>
            <a:endParaRPr lang="en-US" sz="1100" dirty="0"/>
          </a:p>
        </p:txBody>
      </p:sp>
      <p:sp>
        <p:nvSpPr>
          <p:cNvPr id="17" name="Text 15"/>
          <p:cNvSpPr/>
          <p:nvPr/>
        </p:nvSpPr>
        <p:spPr>
          <a:xfrm>
            <a:off x="6217920" y="1719072"/>
            <a:ext cx="2276856" cy="978408"/>
          </a:xfrm>
          <a:prstGeom prst="rect">
            <a:avLst/>
          </a:prstGeom>
          <a:noFill/>
          <a:ln/>
        </p:spPr>
        <p:txBody>
          <a:bodyPr wrap="square" lIns="0" tIns="0" rIns="0" bIns="0" rtlCol="0" anchor="t"/>
          <a:lstStyle/>
          <a:p>
            <a:pPr algn="l" indent="0" marL="0">
              <a:buNone/>
            </a:pPr>
            <a:r>
              <a:rPr lang="en-US" sz="1000" dirty="0">
                <a:solidFill>
                  <a:srgbClr val="006D77"/>
                </a:solidFill>
                <a:latin typeface="Calibri" pitchFamily="34" charset="0"/>
                <a:ea typeface="Calibri" pitchFamily="34" charset="-122"/>
                <a:cs typeface="Calibri" pitchFamily="34" charset="-120"/>
              </a:rPr>
              <a:t>The tool runs where you are. The repository never leaves disk: Claude pulls slices of it on demand.</a:t>
            </a:r>
            <a:endParaRPr lang="en-US" sz="1000" dirty="0"/>
          </a:p>
        </p:txBody>
      </p:sp>
      <p:sp>
        <p:nvSpPr>
          <p:cNvPr id="18" name="Shape 16"/>
          <p:cNvSpPr/>
          <p:nvPr/>
        </p:nvSpPr>
        <p:spPr>
          <a:xfrm>
            <a:off x="457200" y="3154680"/>
            <a:ext cx="1536192" cy="502920"/>
          </a:xfrm>
          <a:prstGeom prst="rect">
            <a:avLst/>
          </a:prstGeom>
          <a:solidFill>
            <a:srgbClr val="FFDDD2"/>
          </a:solidFill>
          <a:ln w="9525">
            <a:solidFill>
              <a:srgbClr val="83C5BE"/>
            </a:solidFill>
            <a:prstDash val="solid"/>
          </a:ln>
        </p:spPr>
      </p:sp>
      <p:sp>
        <p:nvSpPr>
          <p:cNvPr id="19" name="Text 17"/>
          <p:cNvSpPr/>
          <p:nvPr/>
        </p:nvSpPr>
        <p:spPr>
          <a:xfrm>
            <a:off x="457200" y="3154680"/>
            <a:ext cx="1536192" cy="502920"/>
          </a:xfrm>
          <a:prstGeom prst="rect">
            <a:avLst/>
          </a:prstGeom>
          <a:noFill/>
          <a:ln/>
        </p:spPr>
        <p:txBody>
          <a:bodyPr wrap="square" lIns="0" tIns="0" rIns="0" bIns="0" rtlCol="0" anchor="ctr"/>
          <a:lstStyle/>
          <a:p>
            <a:pPr algn="ctr" indent="0" marL="0">
              <a:buNone/>
            </a:pPr>
            <a:r>
              <a:rPr lang="en-US" sz="900" dirty="0">
                <a:solidFill>
                  <a:srgbClr val="006D77"/>
                </a:solidFill>
                <a:latin typeface="Calibri" pitchFamily="34" charset="0"/>
                <a:ea typeface="Calibri" pitchFamily="34" charset="-122"/>
                <a:cs typeface="Calibri" pitchFamily="34" charset="-120"/>
              </a:rPr>
              <a:t>propose</a:t>
            </a:r>
            <a:endParaRPr lang="en-US" sz="900" dirty="0"/>
          </a:p>
        </p:txBody>
      </p:sp>
      <p:sp>
        <p:nvSpPr>
          <p:cNvPr id="20" name="Text 18"/>
          <p:cNvSpPr/>
          <p:nvPr/>
        </p:nvSpPr>
        <p:spPr>
          <a:xfrm>
            <a:off x="1993392" y="3246120"/>
            <a:ext cx="137160" cy="320040"/>
          </a:xfrm>
          <a:prstGeom prst="rect">
            <a:avLst/>
          </a:prstGeom>
          <a:noFill/>
          <a:ln/>
        </p:spPr>
        <p:txBody>
          <a:bodyPr wrap="square" lIns="0" tIns="0" rIns="0" bIns="0" rtlCol="0" anchor="ctr"/>
          <a:lstStyle/>
          <a:p>
            <a:pPr algn="ctr" indent="0" marL="0">
              <a:buNone/>
            </a:pPr>
            <a:r>
              <a:rPr lang="en-US" sz="1100" dirty="0">
                <a:solidFill>
                  <a:srgbClr val="E29578"/>
                </a:solidFill>
                <a:latin typeface="Calibri" pitchFamily="34" charset="0"/>
                <a:ea typeface="Calibri" pitchFamily="34" charset="-122"/>
                <a:cs typeface="Calibri" pitchFamily="34" charset="-120"/>
              </a:rPr>
              <a:t>&gt;</a:t>
            </a:r>
            <a:endParaRPr lang="en-US" sz="1100" dirty="0"/>
          </a:p>
        </p:txBody>
      </p:sp>
      <p:sp>
        <p:nvSpPr>
          <p:cNvPr id="21" name="Shape 19"/>
          <p:cNvSpPr/>
          <p:nvPr/>
        </p:nvSpPr>
        <p:spPr>
          <a:xfrm>
            <a:off x="2130552" y="3154680"/>
            <a:ext cx="1536192" cy="502920"/>
          </a:xfrm>
          <a:prstGeom prst="rect">
            <a:avLst/>
          </a:prstGeom>
          <a:solidFill>
            <a:srgbClr val="FFDDD2"/>
          </a:solidFill>
          <a:ln w="9525">
            <a:solidFill>
              <a:srgbClr val="83C5BE"/>
            </a:solidFill>
            <a:prstDash val="solid"/>
          </a:ln>
        </p:spPr>
      </p:sp>
      <p:sp>
        <p:nvSpPr>
          <p:cNvPr id="22" name="Text 20"/>
          <p:cNvSpPr/>
          <p:nvPr/>
        </p:nvSpPr>
        <p:spPr>
          <a:xfrm>
            <a:off x="2130552" y="3154680"/>
            <a:ext cx="1536192" cy="502920"/>
          </a:xfrm>
          <a:prstGeom prst="rect">
            <a:avLst/>
          </a:prstGeom>
          <a:noFill/>
          <a:ln/>
        </p:spPr>
        <p:txBody>
          <a:bodyPr wrap="square" lIns="0" tIns="0" rIns="0" bIns="0" rtlCol="0" anchor="ctr"/>
          <a:lstStyle/>
          <a:p>
            <a:pPr algn="ctr" indent="0" marL="0">
              <a:buNone/>
            </a:pPr>
            <a:r>
              <a:rPr lang="en-US" sz="900" dirty="0">
                <a:solidFill>
                  <a:srgbClr val="006D77"/>
                </a:solidFill>
                <a:latin typeface="Calibri" pitchFamily="34" charset="0"/>
                <a:ea typeface="Calibri" pitchFamily="34" charset="-122"/>
                <a:cs typeface="Calibri" pitchFamily="34" charset="-120"/>
              </a:rPr>
              <a:t>resolve</a:t>
            </a:r>
            <a:endParaRPr lang="en-US" sz="900" dirty="0"/>
          </a:p>
        </p:txBody>
      </p:sp>
      <p:sp>
        <p:nvSpPr>
          <p:cNvPr id="23" name="Text 21"/>
          <p:cNvSpPr/>
          <p:nvPr/>
        </p:nvSpPr>
        <p:spPr>
          <a:xfrm>
            <a:off x="3666744" y="3246120"/>
            <a:ext cx="137160" cy="320040"/>
          </a:xfrm>
          <a:prstGeom prst="rect">
            <a:avLst/>
          </a:prstGeom>
          <a:noFill/>
          <a:ln/>
        </p:spPr>
        <p:txBody>
          <a:bodyPr wrap="square" lIns="0" tIns="0" rIns="0" bIns="0" rtlCol="0" anchor="ctr"/>
          <a:lstStyle/>
          <a:p>
            <a:pPr algn="ctr" indent="0" marL="0">
              <a:buNone/>
            </a:pPr>
            <a:r>
              <a:rPr lang="en-US" sz="1100" dirty="0">
                <a:solidFill>
                  <a:srgbClr val="E29578"/>
                </a:solidFill>
                <a:latin typeface="Calibri" pitchFamily="34" charset="0"/>
                <a:ea typeface="Calibri" pitchFamily="34" charset="-122"/>
                <a:cs typeface="Calibri" pitchFamily="34" charset="-120"/>
              </a:rPr>
              <a:t>&gt;</a:t>
            </a:r>
            <a:endParaRPr lang="en-US" sz="1100" dirty="0"/>
          </a:p>
        </p:txBody>
      </p:sp>
      <p:sp>
        <p:nvSpPr>
          <p:cNvPr id="24" name="Shape 22"/>
          <p:cNvSpPr/>
          <p:nvPr/>
        </p:nvSpPr>
        <p:spPr>
          <a:xfrm>
            <a:off x="3803904" y="3154680"/>
            <a:ext cx="1536192" cy="502920"/>
          </a:xfrm>
          <a:prstGeom prst="rect">
            <a:avLst/>
          </a:prstGeom>
          <a:solidFill>
            <a:srgbClr val="FFDDD2"/>
          </a:solidFill>
          <a:ln w="9525">
            <a:solidFill>
              <a:srgbClr val="83C5BE"/>
            </a:solidFill>
            <a:prstDash val="solid"/>
          </a:ln>
        </p:spPr>
      </p:sp>
      <p:sp>
        <p:nvSpPr>
          <p:cNvPr id="25" name="Text 23"/>
          <p:cNvSpPr/>
          <p:nvPr/>
        </p:nvSpPr>
        <p:spPr>
          <a:xfrm>
            <a:off x="3803904" y="3154680"/>
            <a:ext cx="1536192" cy="502920"/>
          </a:xfrm>
          <a:prstGeom prst="rect">
            <a:avLst/>
          </a:prstGeom>
          <a:noFill/>
          <a:ln/>
        </p:spPr>
        <p:txBody>
          <a:bodyPr wrap="square" lIns="0" tIns="0" rIns="0" bIns="0" rtlCol="0" anchor="ctr"/>
          <a:lstStyle/>
          <a:p>
            <a:pPr algn="ctr" indent="0" marL="0">
              <a:buNone/>
            </a:pPr>
            <a:r>
              <a:rPr lang="en-US" sz="900" dirty="0">
                <a:solidFill>
                  <a:srgbClr val="006D77"/>
                </a:solidFill>
                <a:latin typeface="Calibri" pitchFamily="34" charset="0"/>
                <a:ea typeface="Calibri" pitchFamily="34" charset="-122"/>
                <a:cs typeface="Calibri" pitchFamily="34" charset="-120"/>
              </a:rPr>
              <a:t>check permission</a:t>
            </a:r>
            <a:endParaRPr lang="en-US" sz="900" dirty="0"/>
          </a:p>
        </p:txBody>
      </p:sp>
      <p:sp>
        <p:nvSpPr>
          <p:cNvPr id="26" name="Text 24"/>
          <p:cNvSpPr/>
          <p:nvPr/>
        </p:nvSpPr>
        <p:spPr>
          <a:xfrm>
            <a:off x="5340096" y="3246120"/>
            <a:ext cx="137160" cy="320040"/>
          </a:xfrm>
          <a:prstGeom prst="rect">
            <a:avLst/>
          </a:prstGeom>
          <a:noFill/>
          <a:ln/>
        </p:spPr>
        <p:txBody>
          <a:bodyPr wrap="square" lIns="0" tIns="0" rIns="0" bIns="0" rtlCol="0" anchor="ctr"/>
          <a:lstStyle/>
          <a:p>
            <a:pPr algn="ctr" indent="0" marL="0">
              <a:buNone/>
            </a:pPr>
            <a:r>
              <a:rPr lang="en-US" sz="1100" dirty="0">
                <a:solidFill>
                  <a:srgbClr val="E29578"/>
                </a:solidFill>
                <a:latin typeface="Calibri" pitchFamily="34" charset="0"/>
                <a:ea typeface="Calibri" pitchFamily="34" charset="-122"/>
                <a:cs typeface="Calibri" pitchFamily="34" charset="-120"/>
              </a:rPr>
              <a:t>&gt;</a:t>
            </a:r>
            <a:endParaRPr lang="en-US" sz="1100" dirty="0"/>
          </a:p>
        </p:txBody>
      </p:sp>
      <p:sp>
        <p:nvSpPr>
          <p:cNvPr id="27" name="Shape 25"/>
          <p:cNvSpPr/>
          <p:nvPr/>
        </p:nvSpPr>
        <p:spPr>
          <a:xfrm>
            <a:off x="5477256" y="3154680"/>
            <a:ext cx="1536192" cy="502920"/>
          </a:xfrm>
          <a:prstGeom prst="rect">
            <a:avLst/>
          </a:prstGeom>
          <a:solidFill>
            <a:srgbClr val="FFDDD2"/>
          </a:solidFill>
          <a:ln w="9525">
            <a:solidFill>
              <a:srgbClr val="83C5BE"/>
            </a:solidFill>
            <a:prstDash val="solid"/>
          </a:ln>
        </p:spPr>
      </p:sp>
      <p:sp>
        <p:nvSpPr>
          <p:cNvPr id="28" name="Text 26"/>
          <p:cNvSpPr/>
          <p:nvPr/>
        </p:nvSpPr>
        <p:spPr>
          <a:xfrm>
            <a:off x="5477256" y="3154680"/>
            <a:ext cx="1536192" cy="502920"/>
          </a:xfrm>
          <a:prstGeom prst="rect">
            <a:avLst/>
          </a:prstGeom>
          <a:noFill/>
          <a:ln/>
        </p:spPr>
        <p:txBody>
          <a:bodyPr wrap="square" lIns="0" tIns="0" rIns="0" bIns="0" rtlCol="0" anchor="ctr"/>
          <a:lstStyle/>
          <a:p>
            <a:pPr algn="ctr" indent="0" marL="0">
              <a:buNone/>
            </a:pPr>
            <a:r>
              <a:rPr lang="en-US" sz="900" dirty="0">
                <a:solidFill>
                  <a:srgbClr val="006D77"/>
                </a:solidFill>
                <a:latin typeface="Calibri" pitchFamily="34" charset="0"/>
                <a:ea typeface="Calibri" pitchFamily="34" charset="-122"/>
                <a:cs typeface="Calibri" pitchFamily="34" charset="-120"/>
              </a:rPr>
              <a:t>execute</a:t>
            </a:r>
            <a:endParaRPr lang="en-US" sz="900" dirty="0"/>
          </a:p>
        </p:txBody>
      </p:sp>
      <p:sp>
        <p:nvSpPr>
          <p:cNvPr id="29" name="Text 27"/>
          <p:cNvSpPr/>
          <p:nvPr/>
        </p:nvSpPr>
        <p:spPr>
          <a:xfrm>
            <a:off x="7013448" y="3246120"/>
            <a:ext cx="137160" cy="320040"/>
          </a:xfrm>
          <a:prstGeom prst="rect">
            <a:avLst/>
          </a:prstGeom>
          <a:noFill/>
          <a:ln/>
        </p:spPr>
        <p:txBody>
          <a:bodyPr wrap="square" lIns="0" tIns="0" rIns="0" bIns="0" rtlCol="0" anchor="ctr"/>
          <a:lstStyle/>
          <a:p>
            <a:pPr algn="ctr" indent="0" marL="0">
              <a:buNone/>
            </a:pPr>
            <a:r>
              <a:rPr lang="en-US" sz="1100" dirty="0">
                <a:solidFill>
                  <a:srgbClr val="E29578"/>
                </a:solidFill>
                <a:latin typeface="Calibri" pitchFamily="34" charset="0"/>
                <a:ea typeface="Calibri" pitchFamily="34" charset="-122"/>
                <a:cs typeface="Calibri" pitchFamily="34" charset="-120"/>
              </a:rPr>
              <a:t>&gt;</a:t>
            </a:r>
            <a:endParaRPr lang="en-US" sz="1100" dirty="0"/>
          </a:p>
        </p:txBody>
      </p:sp>
      <p:sp>
        <p:nvSpPr>
          <p:cNvPr id="30" name="Shape 28"/>
          <p:cNvSpPr/>
          <p:nvPr/>
        </p:nvSpPr>
        <p:spPr>
          <a:xfrm>
            <a:off x="7150608" y="3154680"/>
            <a:ext cx="1536192" cy="502920"/>
          </a:xfrm>
          <a:prstGeom prst="rect">
            <a:avLst/>
          </a:prstGeom>
          <a:solidFill>
            <a:srgbClr val="E29578"/>
          </a:solidFill>
          <a:ln w="9525">
            <a:solidFill>
              <a:srgbClr val="83C5BE"/>
            </a:solidFill>
            <a:prstDash val="solid"/>
          </a:ln>
        </p:spPr>
      </p:sp>
      <p:sp>
        <p:nvSpPr>
          <p:cNvPr id="31" name="Text 29"/>
          <p:cNvSpPr/>
          <p:nvPr/>
        </p:nvSpPr>
        <p:spPr>
          <a:xfrm>
            <a:off x="7150608" y="3154680"/>
            <a:ext cx="1536192" cy="502920"/>
          </a:xfrm>
          <a:prstGeom prst="rect">
            <a:avLst/>
          </a:prstGeom>
          <a:noFill/>
          <a:ln/>
        </p:spPr>
        <p:txBody>
          <a:bodyPr wrap="square" lIns="0" tIns="0" rIns="0" bIns="0" rtlCol="0" anchor="ctr"/>
          <a:lstStyle/>
          <a:p>
            <a:pPr algn="ctr" indent="0" marL="0">
              <a:buNone/>
            </a:pPr>
            <a:r>
              <a:rPr lang="en-US" sz="900" dirty="0">
                <a:solidFill>
                  <a:srgbClr val="006D77"/>
                </a:solidFill>
                <a:latin typeface="Calibri" pitchFamily="34" charset="0"/>
                <a:ea typeface="Calibri" pitchFamily="34" charset="-122"/>
                <a:cs typeface="Calibri" pitchFamily="34" charset="-120"/>
              </a:rPr>
              <a:t>tool_result returns</a:t>
            </a:r>
            <a:endParaRPr lang="en-US" sz="900" dirty="0"/>
          </a:p>
        </p:txBody>
      </p:sp>
      <p:sp>
        <p:nvSpPr>
          <p:cNvPr id="32" name="Shape 30"/>
          <p:cNvSpPr/>
          <p:nvPr/>
        </p:nvSpPr>
        <p:spPr>
          <a:xfrm>
            <a:off x="457200" y="3840480"/>
            <a:ext cx="8229600" cy="594360"/>
          </a:xfrm>
          <a:prstGeom prst="rect">
            <a:avLst/>
          </a:prstGeom>
          <a:solidFill>
            <a:srgbClr val="EDF6F9"/>
          </a:solidFill>
          <a:ln w="9525">
            <a:solidFill>
              <a:srgbClr val="83C5BE"/>
            </a:solidFill>
            <a:prstDash val="solid"/>
          </a:ln>
          <a:effectLst>
            <a:outerShdw sx="100000" sy="100000" kx="0" ky="0" algn="bl" rotWithShape="0" blurRad="101600" dist="25400" dir="5400000">
              <a:srgbClr val="006d77">
                <a:alpha val="12000"/>
              </a:srgbClr>
            </a:outerShdw>
          </a:effectLst>
        </p:spPr>
      </p:sp>
      <p:sp>
        <p:nvSpPr>
          <p:cNvPr id="33" name="Shape 31"/>
          <p:cNvSpPr/>
          <p:nvPr/>
        </p:nvSpPr>
        <p:spPr>
          <a:xfrm>
            <a:off x="457200" y="3840480"/>
            <a:ext cx="50292" cy="594360"/>
          </a:xfrm>
          <a:prstGeom prst="rect">
            <a:avLst/>
          </a:prstGeom>
          <a:solidFill>
            <a:srgbClr val="E29578"/>
          </a:solidFill>
          <a:ln w="12700">
            <a:solidFill>
              <a:srgbClr val="E29578"/>
            </a:solidFill>
            <a:prstDash val="solid"/>
          </a:ln>
        </p:spPr>
      </p:sp>
      <p:sp>
        <p:nvSpPr>
          <p:cNvPr id="34" name="Text 32"/>
          <p:cNvSpPr/>
          <p:nvPr/>
        </p:nvSpPr>
        <p:spPr>
          <a:xfrm>
            <a:off x="640080" y="3986784"/>
            <a:ext cx="7900416" cy="320040"/>
          </a:xfrm>
          <a:prstGeom prst="rect">
            <a:avLst/>
          </a:prstGeom>
          <a:noFill/>
          <a:ln/>
        </p:spPr>
        <p:txBody>
          <a:bodyPr wrap="square" lIns="0" tIns="0" rIns="0" bIns="0" rtlCol="0" anchor="ctr"/>
          <a:lstStyle/>
          <a:p>
            <a:pPr algn="l" indent="0" marL="0">
              <a:buNone/>
            </a:pPr>
            <a:r>
              <a:rPr lang="en-US" sz="1100" dirty="0">
                <a:solidFill>
                  <a:srgbClr val="006D77"/>
                </a:solidFill>
                <a:latin typeface="Calibri" pitchFamily="34" charset="0"/>
                <a:ea typeface="Calibri" pitchFamily="34" charset="-122"/>
                <a:cs typeface="Calibri" pitchFamily="34" charset="-120"/>
              </a:rPr>
              <a:t>The tool_result goes back into the model's context. The harness owns the loop, the context and the permissions.</a:t>
            </a:r>
            <a:endParaRPr lang="en-US" sz="1100" dirty="0"/>
          </a:p>
        </p:txBody>
      </p:sp>
      <p:sp>
        <p:nvSpPr>
          <p:cNvPr id="35" name="Shape 33"/>
          <p:cNvSpPr/>
          <p:nvPr/>
        </p:nvSpPr>
        <p:spPr>
          <a:xfrm>
            <a:off x="8485632" y="4645152"/>
            <a:ext cx="420624" cy="274320"/>
          </a:xfrm>
          <a:prstGeom prst="roundRect">
            <a:avLst>
              <a:gd name="adj" fmla="val 26667"/>
            </a:avLst>
          </a:prstGeom>
          <a:solidFill>
            <a:srgbClr val="006D77"/>
          </a:solidFill>
          <a:ln w="12700">
            <a:solidFill>
              <a:srgbClr val="006D77"/>
            </a:solidFill>
            <a:prstDash val="solid"/>
          </a:ln>
        </p:spPr>
      </p:sp>
      <p:sp>
        <p:nvSpPr>
          <p:cNvPr id="36" name="Text 34"/>
          <p:cNvSpPr/>
          <p:nvPr/>
        </p:nvSpPr>
        <p:spPr>
          <a:xfrm>
            <a:off x="8485632" y="4645152"/>
            <a:ext cx="420624" cy="274320"/>
          </a:xfrm>
          <a:prstGeom prst="rect">
            <a:avLst/>
          </a:prstGeom>
          <a:noFill/>
          <a:ln/>
        </p:spPr>
        <p:txBody>
          <a:bodyPr wrap="square" lIns="0" tIns="0" rIns="0" bIns="0" rtlCol="0" anchor="ctr"/>
          <a:lstStyle/>
          <a:p>
            <a:pPr algn="ctr" indent="0" marL="0">
              <a:buNone/>
            </a:pPr>
            <a:r>
              <a:rPr lang="en-US" sz="1100" dirty="0">
                <a:solidFill>
                  <a:srgbClr val="EDF6F9"/>
                </a:solidFill>
                <a:latin typeface="Calibri" pitchFamily="34" charset="0"/>
                <a:ea typeface="Calibri" pitchFamily="34" charset="-122"/>
                <a:cs typeface="Calibri" pitchFamily="34" charset="-120"/>
              </a:rPr>
              <a:t>4</a:t>
            </a:r>
            <a:endParaRPr lang="en-US" sz="1100" dirty="0"/>
          </a:p>
        </p:txBody>
      </p:sp>
      <p:sp>
        <p:nvSpPr>
          <p:cNvPr id="37" name="Shape 35"/>
          <p:cNvSpPr/>
          <p:nvPr/>
        </p:nvSpPr>
        <p:spPr>
          <a:xfrm>
            <a:off x="457200" y="4754880"/>
            <a:ext cx="7772400" cy="10973"/>
          </a:xfrm>
          <a:prstGeom prst="rect">
            <a:avLst/>
          </a:prstGeom>
          <a:solidFill>
            <a:srgbClr val="83C5BE"/>
          </a:solidFill>
          <a:ln w="12700">
            <a:solidFill>
              <a:srgbClr val="83C5BE"/>
            </a:solidFill>
            <a:prstDash val="solid"/>
          </a:ln>
        </p:spPr>
      </p:sp>
      <p:sp>
        <p:nvSpPr>
          <p:cNvPr id="38" name="Text 36"/>
          <p:cNvSpPr/>
          <p:nvPr/>
        </p:nvSpPr>
        <p:spPr>
          <a:xfrm>
            <a:off x="457200" y="4773168"/>
            <a:ext cx="7772400" cy="219456"/>
          </a:xfrm>
          <a:prstGeom prst="rect">
            <a:avLst/>
          </a:prstGeom>
          <a:noFill/>
          <a:ln/>
        </p:spPr>
        <p:txBody>
          <a:bodyPr wrap="square" lIns="0" tIns="0" rIns="0" bIns="0" rtlCol="0" anchor="ctr"/>
          <a:lstStyle/>
          <a:p>
            <a:pPr algn="l" indent="0" marL="0">
              <a:buNone/>
            </a:pPr>
            <a:r>
              <a:rPr lang="en-US" sz="900" dirty="0">
                <a:solidFill>
                  <a:srgbClr val="006D77">
                    <a:alpha val="55000"/>
                  </a:srgbClr>
                </a:solidFill>
                <a:latin typeface="Calibri" pitchFamily="34" charset="0"/>
                <a:ea typeface="Calibri" pitchFamily="34" charset="-122"/>
                <a:cs typeface="Calibri" pitchFamily="34" charset="-120"/>
              </a:rPr>
              <a:t>Source: https://cs2680.seas.harvard.edu/slides/2_agent_use_1.pdf</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DF6F9"/>
        </a:solidFill>
      </p:bgPr>
    </p:bg>
    <p:spTree>
      <p:nvGrpSpPr>
        <p:cNvPr id="1" name=""/>
        <p:cNvGrpSpPr/>
        <p:nvPr/>
      </p:nvGrpSpPr>
      <p:grpSpPr>
        <a:xfrm>
          <a:off x="0" y="0"/>
          <a:ext cx="0" cy="0"/>
          <a:chOff x="0" y="0"/>
          <a:chExt cx="0" cy="0"/>
        </a:xfrm>
      </p:grpSpPr>
      <p:sp>
        <p:nvSpPr>
          <p:cNvPr id="2" name="Text 0"/>
          <p:cNvSpPr/>
          <p:nvPr/>
        </p:nvSpPr>
        <p:spPr>
          <a:xfrm>
            <a:off x="457200" y="310896"/>
            <a:ext cx="8229600" cy="219456"/>
          </a:xfrm>
          <a:prstGeom prst="rect">
            <a:avLst/>
          </a:prstGeom>
          <a:noFill/>
          <a:ln/>
        </p:spPr>
        <p:txBody>
          <a:bodyPr wrap="square" lIns="0" tIns="0" rIns="0" bIns="0" rtlCol="0" anchor="ctr"/>
          <a:lstStyle/>
          <a:p>
            <a:pPr algn="l" indent="0" marL="0">
              <a:buNone/>
            </a:pPr>
            <a:r>
              <a:rPr lang="en-US" sz="1100" spc="140" kern="0" dirty="0">
                <a:solidFill>
                  <a:srgbClr val="E29578"/>
                </a:solidFill>
                <a:latin typeface="Calibri" pitchFamily="34" charset="0"/>
                <a:ea typeface="Calibri" pitchFamily="34" charset="-122"/>
                <a:cs typeface="Calibri" pitchFamily="34" charset="-120"/>
              </a:rPr>
              <a:t>THE CHAIN</a:t>
            </a:r>
            <a:endParaRPr lang="en-US" sz="1100" dirty="0"/>
          </a:p>
        </p:txBody>
      </p:sp>
      <p:sp>
        <p:nvSpPr>
          <p:cNvPr id="3" name="Text 1"/>
          <p:cNvSpPr/>
          <p:nvPr/>
        </p:nvSpPr>
        <p:spPr>
          <a:xfrm>
            <a:off x="457200" y="548640"/>
            <a:ext cx="8229600" cy="566928"/>
          </a:xfrm>
          <a:prstGeom prst="rect">
            <a:avLst/>
          </a:prstGeom>
          <a:noFill/>
          <a:ln/>
        </p:spPr>
        <p:txBody>
          <a:bodyPr wrap="square" lIns="0" tIns="0" rIns="0" bIns="0" rtlCol="0" anchor="ctr">
            <a:normAutofit/>
          </a:bodyPr>
          <a:lstStyle/>
          <a:p>
            <a:pPr algn="l" indent="0" marL="0">
              <a:buNone/>
            </a:pPr>
            <a:r>
              <a:rPr lang="en-US" sz="2700" b="1" dirty="0">
                <a:solidFill>
                  <a:srgbClr val="006D77"/>
                </a:solidFill>
                <a:latin typeface="Georgia" pitchFamily="34" charset="0"/>
                <a:ea typeface="Georgia" pitchFamily="34" charset="-122"/>
                <a:cs typeface="Georgia" pitchFamily="34" charset="-120"/>
              </a:rPr>
              <a:t>One user turn expands into many</a:t>
            </a:r>
            <a:endParaRPr lang="en-US" sz="2700" dirty="0"/>
          </a:p>
        </p:txBody>
      </p:sp>
      <p:sp>
        <p:nvSpPr>
          <p:cNvPr id="4" name="Text 2"/>
          <p:cNvSpPr/>
          <p:nvPr/>
        </p:nvSpPr>
        <p:spPr>
          <a:xfrm>
            <a:off x="457200" y="1170432"/>
            <a:ext cx="8229600" cy="237744"/>
          </a:xfrm>
          <a:prstGeom prst="rect">
            <a:avLst/>
          </a:prstGeom>
          <a:noFill/>
          <a:ln/>
        </p:spPr>
        <p:txBody>
          <a:bodyPr wrap="square" lIns="0" tIns="0" rIns="0" bIns="0" rtlCol="0" anchor="ctr"/>
          <a:lstStyle/>
          <a:p>
            <a:pPr algn="l" indent="0" marL="0">
              <a:buNone/>
            </a:pPr>
            <a:r>
              <a:rPr lang="en-US" sz="950" spc="50" kern="0" dirty="0">
                <a:solidFill>
                  <a:srgbClr val="006D77">
                    <a:alpha val="70000"/>
                  </a:srgbClr>
                </a:solidFill>
                <a:latin typeface="Calibri" pitchFamily="34" charset="0"/>
                <a:ea typeface="Calibri" pitchFamily="34" charset="-122"/>
                <a:cs typeface="Calibri" pitchFamily="34" charset="-120"/>
              </a:rPr>
              <a:t>U = user prompt   M = model inference   T = tool   A = answer</a:t>
            </a:r>
            <a:endParaRPr lang="en-US" sz="950" dirty="0"/>
          </a:p>
        </p:txBody>
      </p:sp>
      <p:sp>
        <p:nvSpPr>
          <p:cNvPr id="5" name="Shape 3"/>
          <p:cNvSpPr/>
          <p:nvPr/>
        </p:nvSpPr>
        <p:spPr>
          <a:xfrm>
            <a:off x="457200" y="1481328"/>
            <a:ext cx="1097280" cy="777240"/>
          </a:xfrm>
          <a:prstGeom prst="rect">
            <a:avLst/>
          </a:prstGeom>
          <a:solidFill>
            <a:srgbClr val="E29578"/>
          </a:solidFill>
          <a:ln w="9525">
            <a:solidFill>
              <a:srgbClr val="83C5BE"/>
            </a:solidFill>
            <a:prstDash val="solid"/>
          </a:ln>
        </p:spPr>
      </p:sp>
      <p:sp>
        <p:nvSpPr>
          <p:cNvPr id="6" name="Text 4"/>
          <p:cNvSpPr/>
          <p:nvPr/>
        </p:nvSpPr>
        <p:spPr>
          <a:xfrm>
            <a:off x="457200" y="1536192"/>
            <a:ext cx="1097280" cy="329184"/>
          </a:xfrm>
          <a:prstGeom prst="rect">
            <a:avLst/>
          </a:prstGeom>
          <a:noFill/>
          <a:ln/>
        </p:spPr>
        <p:txBody>
          <a:bodyPr wrap="square" lIns="0" tIns="0" rIns="0" bIns="0" rtlCol="0" anchor="ctr"/>
          <a:lstStyle/>
          <a:p>
            <a:pPr algn="ctr" indent="0" marL="0">
              <a:buNone/>
            </a:pPr>
            <a:r>
              <a:rPr lang="en-US" sz="1600" b="1" dirty="0">
                <a:solidFill>
                  <a:srgbClr val="006D77"/>
                </a:solidFill>
                <a:latin typeface="Georgia" pitchFamily="34" charset="0"/>
                <a:ea typeface="Georgia" pitchFamily="34" charset="-122"/>
                <a:cs typeface="Georgia" pitchFamily="34" charset="-120"/>
              </a:rPr>
              <a:t>U</a:t>
            </a:r>
            <a:endParaRPr lang="en-US" sz="1600" dirty="0"/>
          </a:p>
        </p:txBody>
      </p:sp>
      <p:sp>
        <p:nvSpPr>
          <p:cNvPr id="7" name="Text 5"/>
          <p:cNvSpPr/>
          <p:nvPr/>
        </p:nvSpPr>
        <p:spPr>
          <a:xfrm>
            <a:off x="457200" y="1883664"/>
            <a:ext cx="1097280" cy="292608"/>
          </a:xfrm>
          <a:prstGeom prst="rect">
            <a:avLst/>
          </a:prstGeom>
          <a:noFill/>
          <a:ln/>
        </p:spPr>
        <p:txBody>
          <a:bodyPr wrap="square" lIns="0" tIns="0" rIns="0" bIns="0" rtlCol="0" anchor="ctr"/>
          <a:lstStyle/>
          <a:p>
            <a:pPr algn="ctr" indent="0" marL="0">
              <a:buNone/>
            </a:pPr>
            <a:r>
              <a:rPr lang="en-US" sz="850" dirty="0">
                <a:solidFill>
                  <a:srgbClr val="006D77"/>
                </a:solidFill>
                <a:latin typeface="Calibri" pitchFamily="34" charset="0"/>
                <a:ea typeface="Calibri" pitchFamily="34" charset="-122"/>
                <a:cs typeface="Calibri" pitchFamily="34" charset="-120"/>
              </a:rPr>
              <a:t>user prompt</a:t>
            </a:r>
            <a:endParaRPr lang="en-US" sz="850" dirty="0"/>
          </a:p>
        </p:txBody>
      </p:sp>
      <p:sp>
        <p:nvSpPr>
          <p:cNvPr id="8" name="Text 6"/>
          <p:cNvSpPr/>
          <p:nvPr/>
        </p:nvSpPr>
        <p:spPr>
          <a:xfrm>
            <a:off x="1554480" y="1691640"/>
            <a:ext cx="91440" cy="320040"/>
          </a:xfrm>
          <a:prstGeom prst="rect">
            <a:avLst/>
          </a:prstGeom>
          <a:noFill/>
          <a:ln/>
        </p:spPr>
        <p:txBody>
          <a:bodyPr wrap="square" lIns="0" tIns="0" rIns="0" bIns="0" rtlCol="0" anchor="ctr"/>
          <a:lstStyle/>
          <a:p>
            <a:pPr algn="ctr" indent="0" marL="0">
              <a:buNone/>
            </a:pPr>
            <a:r>
              <a:rPr lang="en-US" sz="1100" dirty="0">
                <a:solidFill>
                  <a:srgbClr val="E29578"/>
                </a:solidFill>
                <a:latin typeface="Calibri" pitchFamily="34" charset="0"/>
                <a:ea typeface="Calibri" pitchFamily="34" charset="-122"/>
                <a:cs typeface="Calibri" pitchFamily="34" charset="-120"/>
              </a:rPr>
              <a:t>&gt;</a:t>
            </a:r>
            <a:endParaRPr lang="en-US" sz="1100" dirty="0"/>
          </a:p>
        </p:txBody>
      </p:sp>
      <p:sp>
        <p:nvSpPr>
          <p:cNvPr id="9" name="Shape 7"/>
          <p:cNvSpPr/>
          <p:nvPr/>
        </p:nvSpPr>
        <p:spPr>
          <a:xfrm>
            <a:off x="1645920" y="1481328"/>
            <a:ext cx="1097280" cy="777240"/>
          </a:xfrm>
          <a:prstGeom prst="rect">
            <a:avLst/>
          </a:prstGeom>
          <a:solidFill>
            <a:srgbClr val="006D77"/>
          </a:solidFill>
          <a:ln w="9525">
            <a:solidFill>
              <a:srgbClr val="83C5BE"/>
            </a:solidFill>
            <a:prstDash val="solid"/>
          </a:ln>
        </p:spPr>
      </p:sp>
      <p:sp>
        <p:nvSpPr>
          <p:cNvPr id="10" name="Text 8"/>
          <p:cNvSpPr/>
          <p:nvPr/>
        </p:nvSpPr>
        <p:spPr>
          <a:xfrm>
            <a:off x="1645920" y="1536192"/>
            <a:ext cx="1097280" cy="329184"/>
          </a:xfrm>
          <a:prstGeom prst="rect">
            <a:avLst/>
          </a:prstGeom>
          <a:noFill/>
          <a:ln/>
        </p:spPr>
        <p:txBody>
          <a:bodyPr wrap="square" lIns="0" tIns="0" rIns="0" bIns="0" rtlCol="0" anchor="ctr"/>
          <a:lstStyle/>
          <a:p>
            <a:pPr algn="ctr" indent="0" marL="0">
              <a:buNone/>
            </a:pPr>
            <a:r>
              <a:rPr lang="en-US" sz="1600" b="1" dirty="0">
                <a:solidFill>
                  <a:srgbClr val="EDF6F9"/>
                </a:solidFill>
                <a:latin typeface="Georgia" pitchFamily="34" charset="0"/>
                <a:ea typeface="Georgia" pitchFamily="34" charset="-122"/>
                <a:cs typeface="Georgia" pitchFamily="34" charset="-120"/>
              </a:rPr>
              <a:t>M1</a:t>
            </a:r>
            <a:endParaRPr lang="en-US" sz="1600" dirty="0"/>
          </a:p>
        </p:txBody>
      </p:sp>
      <p:sp>
        <p:nvSpPr>
          <p:cNvPr id="11" name="Text 9"/>
          <p:cNvSpPr/>
          <p:nvPr/>
        </p:nvSpPr>
        <p:spPr>
          <a:xfrm>
            <a:off x="1645920" y="1883664"/>
            <a:ext cx="1097280" cy="292608"/>
          </a:xfrm>
          <a:prstGeom prst="rect">
            <a:avLst/>
          </a:prstGeom>
          <a:noFill/>
          <a:ln/>
        </p:spPr>
        <p:txBody>
          <a:bodyPr wrap="square" lIns="0" tIns="0" rIns="0" bIns="0" rtlCol="0" anchor="ctr"/>
          <a:lstStyle/>
          <a:p>
            <a:pPr algn="ctr" indent="0" marL="0">
              <a:buNone/>
            </a:pPr>
            <a:r>
              <a:rPr lang="en-US" sz="850" dirty="0">
                <a:solidFill>
                  <a:srgbClr val="EDF6F9"/>
                </a:solidFill>
                <a:latin typeface="Calibri" pitchFamily="34" charset="0"/>
                <a:ea typeface="Calibri" pitchFamily="34" charset="-122"/>
                <a:cs typeface="Calibri" pitchFamily="34" charset="-120"/>
              </a:rPr>
              <a:t>inference</a:t>
            </a:r>
            <a:endParaRPr lang="en-US" sz="850" dirty="0"/>
          </a:p>
        </p:txBody>
      </p:sp>
      <p:sp>
        <p:nvSpPr>
          <p:cNvPr id="12" name="Text 10"/>
          <p:cNvSpPr/>
          <p:nvPr/>
        </p:nvSpPr>
        <p:spPr>
          <a:xfrm>
            <a:off x="2743200" y="1691640"/>
            <a:ext cx="91440" cy="320040"/>
          </a:xfrm>
          <a:prstGeom prst="rect">
            <a:avLst/>
          </a:prstGeom>
          <a:noFill/>
          <a:ln/>
        </p:spPr>
        <p:txBody>
          <a:bodyPr wrap="square" lIns="0" tIns="0" rIns="0" bIns="0" rtlCol="0" anchor="ctr"/>
          <a:lstStyle/>
          <a:p>
            <a:pPr algn="ctr" indent="0" marL="0">
              <a:buNone/>
            </a:pPr>
            <a:r>
              <a:rPr lang="en-US" sz="1100" dirty="0">
                <a:solidFill>
                  <a:srgbClr val="E29578"/>
                </a:solidFill>
                <a:latin typeface="Calibri" pitchFamily="34" charset="0"/>
                <a:ea typeface="Calibri" pitchFamily="34" charset="-122"/>
                <a:cs typeface="Calibri" pitchFamily="34" charset="-120"/>
              </a:rPr>
              <a:t>&gt;</a:t>
            </a:r>
            <a:endParaRPr lang="en-US" sz="1100" dirty="0"/>
          </a:p>
        </p:txBody>
      </p:sp>
      <p:sp>
        <p:nvSpPr>
          <p:cNvPr id="13" name="Shape 11"/>
          <p:cNvSpPr/>
          <p:nvPr/>
        </p:nvSpPr>
        <p:spPr>
          <a:xfrm>
            <a:off x="2834640" y="1481328"/>
            <a:ext cx="1097280" cy="777240"/>
          </a:xfrm>
          <a:prstGeom prst="rect">
            <a:avLst/>
          </a:prstGeom>
          <a:solidFill>
            <a:srgbClr val="FFDDD2"/>
          </a:solidFill>
          <a:ln w="9525">
            <a:solidFill>
              <a:srgbClr val="83C5BE"/>
            </a:solidFill>
            <a:prstDash val="solid"/>
          </a:ln>
        </p:spPr>
      </p:sp>
      <p:sp>
        <p:nvSpPr>
          <p:cNvPr id="14" name="Text 12"/>
          <p:cNvSpPr/>
          <p:nvPr/>
        </p:nvSpPr>
        <p:spPr>
          <a:xfrm>
            <a:off x="2834640" y="1536192"/>
            <a:ext cx="1097280" cy="329184"/>
          </a:xfrm>
          <a:prstGeom prst="rect">
            <a:avLst/>
          </a:prstGeom>
          <a:noFill/>
          <a:ln/>
        </p:spPr>
        <p:txBody>
          <a:bodyPr wrap="square" lIns="0" tIns="0" rIns="0" bIns="0" rtlCol="0" anchor="ctr"/>
          <a:lstStyle/>
          <a:p>
            <a:pPr algn="ctr" indent="0" marL="0">
              <a:buNone/>
            </a:pPr>
            <a:r>
              <a:rPr lang="en-US" sz="1600" b="1" dirty="0">
                <a:solidFill>
                  <a:srgbClr val="006D77"/>
                </a:solidFill>
                <a:latin typeface="Georgia" pitchFamily="34" charset="0"/>
                <a:ea typeface="Georgia" pitchFamily="34" charset="-122"/>
                <a:cs typeface="Georgia" pitchFamily="34" charset="-120"/>
              </a:rPr>
              <a:t>T1</a:t>
            </a:r>
            <a:endParaRPr lang="en-US" sz="1600" dirty="0"/>
          </a:p>
        </p:txBody>
      </p:sp>
      <p:sp>
        <p:nvSpPr>
          <p:cNvPr id="15" name="Text 13"/>
          <p:cNvSpPr/>
          <p:nvPr/>
        </p:nvSpPr>
        <p:spPr>
          <a:xfrm>
            <a:off x="2834640" y="1883664"/>
            <a:ext cx="1097280" cy="292608"/>
          </a:xfrm>
          <a:prstGeom prst="rect">
            <a:avLst/>
          </a:prstGeom>
          <a:noFill/>
          <a:ln/>
        </p:spPr>
        <p:txBody>
          <a:bodyPr wrap="square" lIns="0" tIns="0" rIns="0" bIns="0" rtlCol="0" anchor="ctr"/>
          <a:lstStyle/>
          <a:p>
            <a:pPr algn="ctr" indent="0" marL="0">
              <a:buNone/>
            </a:pPr>
            <a:r>
              <a:rPr lang="en-US" sz="850" dirty="0">
                <a:solidFill>
                  <a:srgbClr val="006D77"/>
                </a:solidFill>
                <a:latin typeface="Calibri" pitchFamily="34" charset="0"/>
                <a:ea typeface="Calibri" pitchFamily="34" charset="-122"/>
                <a:cs typeface="Calibri" pitchFamily="34" charset="-120"/>
              </a:rPr>
              <a:t>tool</a:t>
            </a:r>
            <a:endParaRPr lang="en-US" sz="850" dirty="0"/>
          </a:p>
        </p:txBody>
      </p:sp>
      <p:sp>
        <p:nvSpPr>
          <p:cNvPr id="16" name="Text 14"/>
          <p:cNvSpPr/>
          <p:nvPr/>
        </p:nvSpPr>
        <p:spPr>
          <a:xfrm>
            <a:off x="3931920" y="1691640"/>
            <a:ext cx="91440" cy="320040"/>
          </a:xfrm>
          <a:prstGeom prst="rect">
            <a:avLst/>
          </a:prstGeom>
          <a:noFill/>
          <a:ln/>
        </p:spPr>
        <p:txBody>
          <a:bodyPr wrap="square" lIns="0" tIns="0" rIns="0" bIns="0" rtlCol="0" anchor="ctr"/>
          <a:lstStyle/>
          <a:p>
            <a:pPr algn="ctr" indent="0" marL="0">
              <a:buNone/>
            </a:pPr>
            <a:r>
              <a:rPr lang="en-US" sz="1100" dirty="0">
                <a:solidFill>
                  <a:srgbClr val="E29578"/>
                </a:solidFill>
                <a:latin typeface="Calibri" pitchFamily="34" charset="0"/>
                <a:ea typeface="Calibri" pitchFamily="34" charset="-122"/>
                <a:cs typeface="Calibri" pitchFamily="34" charset="-120"/>
              </a:rPr>
              <a:t>&gt;</a:t>
            </a:r>
            <a:endParaRPr lang="en-US" sz="1100" dirty="0"/>
          </a:p>
        </p:txBody>
      </p:sp>
      <p:sp>
        <p:nvSpPr>
          <p:cNvPr id="17" name="Shape 15"/>
          <p:cNvSpPr/>
          <p:nvPr/>
        </p:nvSpPr>
        <p:spPr>
          <a:xfrm>
            <a:off x="4023360" y="1481328"/>
            <a:ext cx="1097280" cy="777240"/>
          </a:xfrm>
          <a:prstGeom prst="rect">
            <a:avLst/>
          </a:prstGeom>
          <a:solidFill>
            <a:srgbClr val="006D77"/>
          </a:solidFill>
          <a:ln w="9525">
            <a:solidFill>
              <a:srgbClr val="83C5BE"/>
            </a:solidFill>
            <a:prstDash val="solid"/>
          </a:ln>
        </p:spPr>
      </p:sp>
      <p:sp>
        <p:nvSpPr>
          <p:cNvPr id="18" name="Text 16"/>
          <p:cNvSpPr/>
          <p:nvPr/>
        </p:nvSpPr>
        <p:spPr>
          <a:xfrm>
            <a:off x="4023360" y="1536192"/>
            <a:ext cx="1097280" cy="329184"/>
          </a:xfrm>
          <a:prstGeom prst="rect">
            <a:avLst/>
          </a:prstGeom>
          <a:noFill/>
          <a:ln/>
        </p:spPr>
        <p:txBody>
          <a:bodyPr wrap="square" lIns="0" tIns="0" rIns="0" bIns="0" rtlCol="0" anchor="ctr"/>
          <a:lstStyle/>
          <a:p>
            <a:pPr algn="ctr" indent="0" marL="0">
              <a:buNone/>
            </a:pPr>
            <a:r>
              <a:rPr lang="en-US" sz="1600" b="1" dirty="0">
                <a:solidFill>
                  <a:srgbClr val="EDF6F9"/>
                </a:solidFill>
                <a:latin typeface="Georgia" pitchFamily="34" charset="0"/>
                <a:ea typeface="Georgia" pitchFamily="34" charset="-122"/>
                <a:cs typeface="Georgia" pitchFamily="34" charset="-120"/>
              </a:rPr>
              <a:t>M2</a:t>
            </a:r>
            <a:endParaRPr lang="en-US" sz="1600" dirty="0"/>
          </a:p>
        </p:txBody>
      </p:sp>
      <p:sp>
        <p:nvSpPr>
          <p:cNvPr id="19" name="Text 17"/>
          <p:cNvSpPr/>
          <p:nvPr/>
        </p:nvSpPr>
        <p:spPr>
          <a:xfrm>
            <a:off x="4023360" y="1883664"/>
            <a:ext cx="1097280" cy="292608"/>
          </a:xfrm>
          <a:prstGeom prst="rect">
            <a:avLst/>
          </a:prstGeom>
          <a:noFill/>
          <a:ln/>
        </p:spPr>
        <p:txBody>
          <a:bodyPr wrap="square" lIns="0" tIns="0" rIns="0" bIns="0" rtlCol="0" anchor="ctr"/>
          <a:lstStyle/>
          <a:p>
            <a:pPr algn="ctr" indent="0" marL="0">
              <a:buNone/>
            </a:pPr>
            <a:r>
              <a:rPr lang="en-US" sz="850" dirty="0">
                <a:solidFill>
                  <a:srgbClr val="EDF6F9"/>
                </a:solidFill>
                <a:latin typeface="Calibri" pitchFamily="34" charset="0"/>
                <a:ea typeface="Calibri" pitchFamily="34" charset="-122"/>
                <a:cs typeface="Calibri" pitchFamily="34" charset="-120"/>
              </a:rPr>
              <a:t>inference</a:t>
            </a:r>
            <a:endParaRPr lang="en-US" sz="850" dirty="0"/>
          </a:p>
        </p:txBody>
      </p:sp>
      <p:sp>
        <p:nvSpPr>
          <p:cNvPr id="20" name="Text 18"/>
          <p:cNvSpPr/>
          <p:nvPr/>
        </p:nvSpPr>
        <p:spPr>
          <a:xfrm>
            <a:off x="5120640" y="1691640"/>
            <a:ext cx="91440" cy="320040"/>
          </a:xfrm>
          <a:prstGeom prst="rect">
            <a:avLst/>
          </a:prstGeom>
          <a:noFill/>
          <a:ln/>
        </p:spPr>
        <p:txBody>
          <a:bodyPr wrap="square" lIns="0" tIns="0" rIns="0" bIns="0" rtlCol="0" anchor="ctr"/>
          <a:lstStyle/>
          <a:p>
            <a:pPr algn="ctr" indent="0" marL="0">
              <a:buNone/>
            </a:pPr>
            <a:r>
              <a:rPr lang="en-US" sz="1100" dirty="0">
                <a:solidFill>
                  <a:srgbClr val="E29578"/>
                </a:solidFill>
                <a:latin typeface="Calibri" pitchFamily="34" charset="0"/>
                <a:ea typeface="Calibri" pitchFamily="34" charset="-122"/>
                <a:cs typeface="Calibri" pitchFamily="34" charset="-120"/>
              </a:rPr>
              <a:t>&gt;</a:t>
            </a:r>
            <a:endParaRPr lang="en-US" sz="1100" dirty="0"/>
          </a:p>
        </p:txBody>
      </p:sp>
      <p:sp>
        <p:nvSpPr>
          <p:cNvPr id="21" name="Shape 19"/>
          <p:cNvSpPr/>
          <p:nvPr/>
        </p:nvSpPr>
        <p:spPr>
          <a:xfrm>
            <a:off x="5212080" y="1481328"/>
            <a:ext cx="1097280" cy="777240"/>
          </a:xfrm>
          <a:prstGeom prst="rect">
            <a:avLst/>
          </a:prstGeom>
          <a:solidFill>
            <a:srgbClr val="FFDDD2"/>
          </a:solidFill>
          <a:ln w="9525">
            <a:solidFill>
              <a:srgbClr val="83C5BE"/>
            </a:solidFill>
            <a:prstDash val="solid"/>
          </a:ln>
        </p:spPr>
      </p:sp>
      <p:sp>
        <p:nvSpPr>
          <p:cNvPr id="22" name="Text 20"/>
          <p:cNvSpPr/>
          <p:nvPr/>
        </p:nvSpPr>
        <p:spPr>
          <a:xfrm>
            <a:off x="5212080" y="1536192"/>
            <a:ext cx="1097280" cy="329184"/>
          </a:xfrm>
          <a:prstGeom prst="rect">
            <a:avLst/>
          </a:prstGeom>
          <a:noFill/>
          <a:ln/>
        </p:spPr>
        <p:txBody>
          <a:bodyPr wrap="square" lIns="0" tIns="0" rIns="0" bIns="0" rtlCol="0" anchor="ctr"/>
          <a:lstStyle/>
          <a:p>
            <a:pPr algn="ctr" indent="0" marL="0">
              <a:buNone/>
            </a:pPr>
            <a:r>
              <a:rPr lang="en-US" sz="1600" b="1" dirty="0">
                <a:solidFill>
                  <a:srgbClr val="006D77"/>
                </a:solidFill>
                <a:latin typeface="Georgia" pitchFamily="34" charset="0"/>
                <a:ea typeface="Georgia" pitchFamily="34" charset="-122"/>
                <a:cs typeface="Georgia" pitchFamily="34" charset="-120"/>
              </a:rPr>
              <a:t>T2</a:t>
            </a:r>
            <a:endParaRPr lang="en-US" sz="1600" dirty="0"/>
          </a:p>
        </p:txBody>
      </p:sp>
      <p:sp>
        <p:nvSpPr>
          <p:cNvPr id="23" name="Text 21"/>
          <p:cNvSpPr/>
          <p:nvPr/>
        </p:nvSpPr>
        <p:spPr>
          <a:xfrm>
            <a:off x="5212080" y="1883664"/>
            <a:ext cx="1097280" cy="292608"/>
          </a:xfrm>
          <a:prstGeom prst="rect">
            <a:avLst/>
          </a:prstGeom>
          <a:noFill/>
          <a:ln/>
        </p:spPr>
        <p:txBody>
          <a:bodyPr wrap="square" lIns="0" tIns="0" rIns="0" bIns="0" rtlCol="0" anchor="ctr"/>
          <a:lstStyle/>
          <a:p>
            <a:pPr algn="ctr" indent="0" marL="0">
              <a:buNone/>
            </a:pPr>
            <a:r>
              <a:rPr lang="en-US" sz="850" dirty="0">
                <a:solidFill>
                  <a:srgbClr val="006D77"/>
                </a:solidFill>
                <a:latin typeface="Calibri" pitchFamily="34" charset="0"/>
                <a:ea typeface="Calibri" pitchFamily="34" charset="-122"/>
                <a:cs typeface="Calibri" pitchFamily="34" charset="-120"/>
              </a:rPr>
              <a:t>tool</a:t>
            </a:r>
            <a:endParaRPr lang="en-US" sz="850" dirty="0"/>
          </a:p>
        </p:txBody>
      </p:sp>
      <p:sp>
        <p:nvSpPr>
          <p:cNvPr id="24" name="Text 22"/>
          <p:cNvSpPr/>
          <p:nvPr/>
        </p:nvSpPr>
        <p:spPr>
          <a:xfrm>
            <a:off x="6309360" y="1691640"/>
            <a:ext cx="91440" cy="320040"/>
          </a:xfrm>
          <a:prstGeom prst="rect">
            <a:avLst/>
          </a:prstGeom>
          <a:noFill/>
          <a:ln/>
        </p:spPr>
        <p:txBody>
          <a:bodyPr wrap="square" lIns="0" tIns="0" rIns="0" bIns="0" rtlCol="0" anchor="ctr"/>
          <a:lstStyle/>
          <a:p>
            <a:pPr algn="ctr" indent="0" marL="0">
              <a:buNone/>
            </a:pPr>
            <a:r>
              <a:rPr lang="en-US" sz="1100" dirty="0">
                <a:solidFill>
                  <a:srgbClr val="E29578"/>
                </a:solidFill>
                <a:latin typeface="Calibri" pitchFamily="34" charset="0"/>
                <a:ea typeface="Calibri" pitchFamily="34" charset="-122"/>
                <a:cs typeface="Calibri" pitchFamily="34" charset="-120"/>
              </a:rPr>
              <a:t>&gt;</a:t>
            </a:r>
            <a:endParaRPr lang="en-US" sz="1100" dirty="0"/>
          </a:p>
        </p:txBody>
      </p:sp>
      <p:sp>
        <p:nvSpPr>
          <p:cNvPr id="25" name="Shape 23"/>
          <p:cNvSpPr/>
          <p:nvPr/>
        </p:nvSpPr>
        <p:spPr>
          <a:xfrm>
            <a:off x="6400800" y="1481328"/>
            <a:ext cx="1097280" cy="777240"/>
          </a:xfrm>
          <a:prstGeom prst="rect">
            <a:avLst/>
          </a:prstGeom>
          <a:solidFill>
            <a:srgbClr val="006D77"/>
          </a:solidFill>
          <a:ln w="9525">
            <a:solidFill>
              <a:srgbClr val="83C5BE"/>
            </a:solidFill>
            <a:prstDash val="solid"/>
          </a:ln>
        </p:spPr>
      </p:sp>
      <p:sp>
        <p:nvSpPr>
          <p:cNvPr id="26" name="Text 24"/>
          <p:cNvSpPr/>
          <p:nvPr/>
        </p:nvSpPr>
        <p:spPr>
          <a:xfrm>
            <a:off x="6400800" y="1536192"/>
            <a:ext cx="1097280" cy="329184"/>
          </a:xfrm>
          <a:prstGeom prst="rect">
            <a:avLst/>
          </a:prstGeom>
          <a:noFill/>
          <a:ln/>
        </p:spPr>
        <p:txBody>
          <a:bodyPr wrap="square" lIns="0" tIns="0" rIns="0" bIns="0" rtlCol="0" anchor="ctr"/>
          <a:lstStyle/>
          <a:p>
            <a:pPr algn="ctr" indent="0" marL="0">
              <a:buNone/>
            </a:pPr>
            <a:r>
              <a:rPr lang="en-US" sz="1600" b="1" dirty="0">
                <a:solidFill>
                  <a:srgbClr val="EDF6F9"/>
                </a:solidFill>
                <a:latin typeface="Georgia" pitchFamily="34" charset="0"/>
                <a:ea typeface="Georgia" pitchFamily="34" charset="-122"/>
                <a:cs typeface="Georgia" pitchFamily="34" charset="-120"/>
              </a:rPr>
              <a:t>Mn</a:t>
            </a:r>
            <a:endParaRPr lang="en-US" sz="1600" dirty="0"/>
          </a:p>
        </p:txBody>
      </p:sp>
      <p:sp>
        <p:nvSpPr>
          <p:cNvPr id="27" name="Text 25"/>
          <p:cNvSpPr/>
          <p:nvPr/>
        </p:nvSpPr>
        <p:spPr>
          <a:xfrm>
            <a:off x="6400800" y="1883664"/>
            <a:ext cx="1097280" cy="292608"/>
          </a:xfrm>
          <a:prstGeom prst="rect">
            <a:avLst/>
          </a:prstGeom>
          <a:noFill/>
          <a:ln/>
        </p:spPr>
        <p:txBody>
          <a:bodyPr wrap="square" lIns="0" tIns="0" rIns="0" bIns="0" rtlCol="0" anchor="ctr"/>
          <a:lstStyle/>
          <a:p>
            <a:pPr algn="ctr" indent="0" marL="0">
              <a:buNone/>
            </a:pPr>
            <a:r>
              <a:rPr lang="en-US" sz="850" dirty="0">
                <a:solidFill>
                  <a:srgbClr val="EDF6F9"/>
                </a:solidFill>
                <a:latin typeface="Calibri" pitchFamily="34" charset="0"/>
                <a:ea typeface="Calibri" pitchFamily="34" charset="-122"/>
                <a:cs typeface="Calibri" pitchFamily="34" charset="-120"/>
              </a:rPr>
              <a:t>inference</a:t>
            </a:r>
            <a:endParaRPr lang="en-US" sz="850" dirty="0"/>
          </a:p>
        </p:txBody>
      </p:sp>
      <p:sp>
        <p:nvSpPr>
          <p:cNvPr id="28" name="Text 26"/>
          <p:cNvSpPr/>
          <p:nvPr/>
        </p:nvSpPr>
        <p:spPr>
          <a:xfrm>
            <a:off x="7498080" y="1691640"/>
            <a:ext cx="91440" cy="320040"/>
          </a:xfrm>
          <a:prstGeom prst="rect">
            <a:avLst/>
          </a:prstGeom>
          <a:noFill/>
          <a:ln/>
        </p:spPr>
        <p:txBody>
          <a:bodyPr wrap="square" lIns="0" tIns="0" rIns="0" bIns="0" rtlCol="0" anchor="ctr"/>
          <a:lstStyle/>
          <a:p>
            <a:pPr algn="ctr" indent="0" marL="0">
              <a:buNone/>
            </a:pPr>
            <a:r>
              <a:rPr lang="en-US" sz="1100" dirty="0">
                <a:solidFill>
                  <a:srgbClr val="E29578"/>
                </a:solidFill>
                <a:latin typeface="Calibri" pitchFamily="34" charset="0"/>
                <a:ea typeface="Calibri" pitchFamily="34" charset="-122"/>
                <a:cs typeface="Calibri" pitchFamily="34" charset="-120"/>
              </a:rPr>
              <a:t>&gt;</a:t>
            </a:r>
            <a:endParaRPr lang="en-US" sz="1100" dirty="0"/>
          </a:p>
        </p:txBody>
      </p:sp>
      <p:sp>
        <p:nvSpPr>
          <p:cNvPr id="29" name="Shape 27"/>
          <p:cNvSpPr/>
          <p:nvPr/>
        </p:nvSpPr>
        <p:spPr>
          <a:xfrm>
            <a:off x="7589520" y="1481328"/>
            <a:ext cx="1097280" cy="777240"/>
          </a:xfrm>
          <a:prstGeom prst="rect">
            <a:avLst/>
          </a:prstGeom>
          <a:solidFill>
            <a:srgbClr val="E29578"/>
          </a:solidFill>
          <a:ln w="9525">
            <a:solidFill>
              <a:srgbClr val="83C5BE"/>
            </a:solidFill>
            <a:prstDash val="solid"/>
          </a:ln>
        </p:spPr>
      </p:sp>
      <p:sp>
        <p:nvSpPr>
          <p:cNvPr id="30" name="Text 28"/>
          <p:cNvSpPr/>
          <p:nvPr/>
        </p:nvSpPr>
        <p:spPr>
          <a:xfrm>
            <a:off x="7589520" y="1536192"/>
            <a:ext cx="1097280" cy="329184"/>
          </a:xfrm>
          <a:prstGeom prst="rect">
            <a:avLst/>
          </a:prstGeom>
          <a:noFill/>
          <a:ln/>
        </p:spPr>
        <p:txBody>
          <a:bodyPr wrap="square" lIns="0" tIns="0" rIns="0" bIns="0" rtlCol="0" anchor="ctr"/>
          <a:lstStyle/>
          <a:p>
            <a:pPr algn="ctr" indent="0" marL="0">
              <a:buNone/>
            </a:pPr>
            <a:r>
              <a:rPr lang="en-US" sz="1600" b="1" dirty="0">
                <a:solidFill>
                  <a:srgbClr val="006D77"/>
                </a:solidFill>
                <a:latin typeface="Georgia" pitchFamily="34" charset="0"/>
                <a:ea typeface="Georgia" pitchFamily="34" charset="-122"/>
                <a:cs typeface="Georgia" pitchFamily="34" charset="-120"/>
              </a:rPr>
              <a:t>A</a:t>
            </a:r>
            <a:endParaRPr lang="en-US" sz="1600" dirty="0"/>
          </a:p>
        </p:txBody>
      </p:sp>
      <p:sp>
        <p:nvSpPr>
          <p:cNvPr id="31" name="Text 29"/>
          <p:cNvSpPr/>
          <p:nvPr/>
        </p:nvSpPr>
        <p:spPr>
          <a:xfrm>
            <a:off x="7589520" y="1883664"/>
            <a:ext cx="1097280" cy="292608"/>
          </a:xfrm>
          <a:prstGeom prst="rect">
            <a:avLst/>
          </a:prstGeom>
          <a:noFill/>
          <a:ln/>
        </p:spPr>
        <p:txBody>
          <a:bodyPr wrap="square" lIns="0" tIns="0" rIns="0" bIns="0" rtlCol="0" anchor="ctr"/>
          <a:lstStyle/>
          <a:p>
            <a:pPr algn="ctr" indent="0" marL="0">
              <a:buNone/>
            </a:pPr>
            <a:r>
              <a:rPr lang="en-US" sz="850" dirty="0">
                <a:solidFill>
                  <a:srgbClr val="006D77"/>
                </a:solidFill>
                <a:latin typeface="Calibri" pitchFamily="34" charset="0"/>
                <a:ea typeface="Calibri" pitchFamily="34" charset="-122"/>
                <a:cs typeface="Calibri" pitchFamily="34" charset="-120"/>
              </a:rPr>
              <a:t>answer</a:t>
            </a:r>
            <a:endParaRPr lang="en-US" sz="850" dirty="0"/>
          </a:p>
        </p:txBody>
      </p:sp>
      <p:sp>
        <p:nvSpPr>
          <p:cNvPr id="32" name="Shape 30"/>
          <p:cNvSpPr/>
          <p:nvPr/>
        </p:nvSpPr>
        <p:spPr>
          <a:xfrm>
            <a:off x="457200" y="2514600"/>
            <a:ext cx="8229600" cy="1463040"/>
          </a:xfrm>
          <a:prstGeom prst="rect">
            <a:avLst/>
          </a:prstGeom>
          <a:solidFill>
            <a:srgbClr val="EDF6F9"/>
          </a:solidFill>
          <a:ln w="9525">
            <a:solidFill>
              <a:srgbClr val="83C5BE"/>
            </a:solidFill>
            <a:prstDash val="solid"/>
          </a:ln>
          <a:effectLst>
            <a:outerShdw sx="100000" sy="100000" kx="0" ky="0" algn="bl" rotWithShape="0" blurRad="101600" dist="25400" dir="5400000">
              <a:srgbClr val="006d77">
                <a:alpha val="12000"/>
              </a:srgbClr>
            </a:outerShdw>
          </a:effectLst>
        </p:spPr>
      </p:sp>
      <p:sp>
        <p:nvSpPr>
          <p:cNvPr id="33" name="Shape 31"/>
          <p:cNvSpPr/>
          <p:nvPr/>
        </p:nvSpPr>
        <p:spPr>
          <a:xfrm>
            <a:off x="457200" y="2514600"/>
            <a:ext cx="50292" cy="1463040"/>
          </a:xfrm>
          <a:prstGeom prst="rect">
            <a:avLst/>
          </a:prstGeom>
          <a:solidFill>
            <a:srgbClr val="E29578"/>
          </a:solidFill>
          <a:ln w="12700">
            <a:solidFill>
              <a:srgbClr val="E29578"/>
            </a:solidFill>
            <a:prstDash val="solid"/>
          </a:ln>
        </p:spPr>
      </p:sp>
      <p:sp>
        <p:nvSpPr>
          <p:cNvPr id="34" name="Text 32"/>
          <p:cNvSpPr/>
          <p:nvPr/>
        </p:nvSpPr>
        <p:spPr>
          <a:xfrm>
            <a:off x="640080" y="2660904"/>
            <a:ext cx="7900416" cy="219456"/>
          </a:xfrm>
          <a:prstGeom prst="rect">
            <a:avLst/>
          </a:prstGeom>
          <a:noFill/>
          <a:ln/>
        </p:spPr>
        <p:txBody>
          <a:bodyPr wrap="square" lIns="0" tIns="0" rIns="0" bIns="0" rtlCol="0" anchor="ctr"/>
          <a:lstStyle/>
          <a:p>
            <a:pPr algn="l" indent="0" marL="0">
              <a:buNone/>
            </a:pPr>
            <a:r>
              <a:rPr lang="en-US" sz="1000" b="1" spc="100" kern="0" dirty="0">
                <a:solidFill>
                  <a:srgbClr val="006D77"/>
                </a:solidFill>
                <a:latin typeface="Calibri" pitchFamily="34" charset="0"/>
                <a:ea typeface="Calibri" pitchFamily="34" charset="-122"/>
                <a:cs typeface="Calibri" pitchFamily="34" charset="-120"/>
              </a:rPr>
              <a:t>WORKED EXAMPLE OF ONE TURN</a:t>
            </a:r>
            <a:endParaRPr lang="en-US" sz="1000" dirty="0"/>
          </a:p>
        </p:txBody>
      </p:sp>
      <p:sp>
        <p:nvSpPr>
          <p:cNvPr id="35" name="Shape 33"/>
          <p:cNvSpPr/>
          <p:nvPr/>
        </p:nvSpPr>
        <p:spPr>
          <a:xfrm>
            <a:off x="640080" y="2971800"/>
            <a:ext cx="1234440" cy="457200"/>
          </a:xfrm>
          <a:prstGeom prst="rect">
            <a:avLst/>
          </a:prstGeom>
          <a:solidFill>
            <a:srgbClr val="FFDDD2"/>
          </a:solidFill>
          <a:ln w="9525">
            <a:solidFill>
              <a:srgbClr val="83C5BE"/>
            </a:solidFill>
            <a:prstDash val="solid"/>
          </a:ln>
        </p:spPr>
      </p:sp>
      <p:sp>
        <p:nvSpPr>
          <p:cNvPr id="36" name="Text 34"/>
          <p:cNvSpPr/>
          <p:nvPr/>
        </p:nvSpPr>
        <p:spPr>
          <a:xfrm>
            <a:off x="640080" y="2971800"/>
            <a:ext cx="1234440" cy="457200"/>
          </a:xfrm>
          <a:prstGeom prst="rect">
            <a:avLst/>
          </a:prstGeom>
          <a:noFill/>
          <a:ln/>
        </p:spPr>
        <p:txBody>
          <a:bodyPr wrap="square" lIns="0" tIns="0" rIns="0" bIns="0" rtlCol="0" anchor="ctr"/>
          <a:lstStyle/>
          <a:p>
            <a:pPr algn="ctr" indent="0" marL="0">
              <a:buNone/>
            </a:pPr>
            <a:r>
              <a:rPr lang="en-US" sz="850" dirty="0">
                <a:solidFill>
                  <a:srgbClr val="006D77"/>
                </a:solidFill>
                <a:latin typeface="Calibri" pitchFamily="34" charset="0"/>
                <a:ea typeface="Calibri" pitchFamily="34" charset="-122"/>
                <a:cs typeface="Calibri" pitchFamily="34" charset="-120"/>
              </a:rPr>
              <a:t>pytest</a:t>
            </a:r>
            <a:endParaRPr lang="en-US" sz="850" dirty="0"/>
          </a:p>
        </p:txBody>
      </p:sp>
      <p:sp>
        <p:nvSpPr>
          <p:cNvPr id="37" name="Shape 35"/>
          <p:cNvSpPr/>
          <p:nvPr/>
        </p:nvSpPr>
        <p:spPr>
          <a:xfrm>
            <a:off x="1965960" y="2971800"/>
            <a:ext cx="1234440" cy="457200"/>
          </a:xfrm>
          <a:prstGeom prst="rect">
            <a:avLst/>
          </a:prstGeom>
          <a:solidFill>
            <a:srgbClr val="FFDDD2"/>
          </a:solidFill>
          <a:ln w="9525">
            <a:solidFill>
              <a:srgbClr val="83C5BE"/>
            </a:solidFill>
            <a:prstDash val="solid"/>
          </a:ln>
        </p:spPr>
      </p:sp>
      <p:sp>
        <p:nvSpPr>
          <p:cNvPr id="38" name="Text 36"/>
          <p:cNvSpPr/>
          <p:nvPr/>
        </p:nvSpPr>
        <p:spPr>
          <a:xfrm>
            <a:off x="1965960" y="2971800"/>
            <a:ext cx="1234440" cy="457200"/>
          </a:xfrm>
          <a:prstGeom prst="rect">
            <a:avLst/>
          </a:prstGeom>
          <a:noFill/>
          <a:ln/>
        </p:spPr>
        <p:txBody>
          <a:bodyPr wrap="square" lIns="0" tIns="0" rIns="0" bIns="0" rtlCol="0" anchor="ctr"/>
          <a:lstStyle/>
          <a:p>
            <a:pPr algn="ctr" indent="0" marL="0">
              <a:buNone/>
            </a:pPr>
            <a:r>
              <a:rPr lang="en-US" sz="850" dirty="0">
                <a:solidFill>
                  <a:srgbClr val="006D77"/>
                </a:solidFill>
                <a:latin typeface="Calibri" pitchFamily="34" charset="0"/>
                <a:ea typeface="Calibri" pitchFamily="34" charset="-122"/>
                <a:cs typeface="Calibri" pitchFamily="34" charset="-120"/>
              </a:rPr>
              <a:t>read session.py</a:t>
            </a:r>
            <a:endParaRPr lang="en-US" sz="850" dirty="0"/>
          </a:p>
        </p:txBody>
      </p:sp>
      <p:sp>
        <p:nvSpPr>
          <p:cNvPr id="39" name="Shape 37"/>
          <p:cNvSpPr/>
          <p:nvPr/>
        </p:nvSpPr>
        <p:spPr>
          <a:xfrm>
            <a:off x="3291840" y="2971800"/>
            <a:ext cx="1234440" cy="457200"/>
          </a:xfrm>
          <a:prstGeom prst="rect">
            <a:avLst/>
          </a:prstGeom>
          <a:solidFill>
            <a:srgbClr val="FFDDD2"/>
          </a:solidFill>
          <a:ln w="9525">
            <a:solidFill>
              <a:srgbClr val="83C5BE"/>
            </a:solidFill>
            <a:prstDash val="solid"/>
          </a:ln>
        </p:spPr>
      </p:sp>
      <p:sp>
        <p:nvSpPr>
          <p:cNvPr id="40" name="Text 38"/>
          <p:cNvSpPr/>
          <p:nvPr/>
        </p:nvSpPr>
        <p:spPr>
          <a:xfrm>
            <a:off x="3291840" y="2971800"/>
            <a:ext cx="1234440" cy="457200"/>
          </a:xfrm>
          <a:prstGeom prst="rect">
            <a:avLst/>
          </a:prstGeom>
          <a:noFill/>
          <a:ln/>
        </p:spPr>
        <p:txBody>
          <a:bodyPr wrap="square" lIns="0" tIns="0" rIns="0" bIns="0" rtlCol="0" anchor="ctr"/>
          <a:lstStyle/>
          <a:p>
            <a:pPr algn="ctr" indent="0" marL="0">
              <a:buNone/>
            </a:pPr>
            <a:r>
              <a:rPr lang="en-US" sz="850" dirty="0">
                <a:solidFill>
                  <a:srgbClr val="006D77"/>
                </a:solidFill>
                <a:latin typeface="Calibri" pitchFamily="34" charset="0"/>
                <a:ea typeface="Calibri" pitchFamily="34" charset="-122"/>
                <a:cs typeface="Calibri" pitchFamily="34" charset="-120"/>
              </a:rPr>
              <a:t>grep create_session</a:t>
            </a:r>
            <a:endParaRPr lang="en-US" sz="850" dirty="0"/>
          </a:p>
        </p:txBody>
      </p:sp>
      <p:sp>
        <p:nvSpPr>
          <p:cNvPr id="41" name="Shape 39"/>
          <p:cNvSpPr/>
          <p:nvPr/>
        </p:nvSpPr>
        <p:spPr>
          <a:xfrm>
            <a:off x="4617720" y="2971800"/>
            <a:ext cx="1234440" cy="457200"/>
          </a:xfrm>
          <a:prstGeom prst="rect">
            <a:avLst/>
          </a:prstGeom>
          <a:solidFill>
            <a:srgbClr val="FFDDD2"/>
          </a:solidFill>
          <a:ln w="9525">
            <a:solidFill>
              <a:srgbClr val="83C5BE"/>
            </a:solidFill>
            <a:prstDash val="solid"/>
          </a:ln>
        </p:spPr>
      </p:sp>
      <p:sp>
        <p:nvSpPr>
          <p:cNvPr id="42" name="Text 40"/>
          <p:cNvSpPr/>
          <p:nvPr/>
        </p:nvSpPr>
        <p:spPr>
          <a:xfrm>
            <a:off x="4617720" y="2971800"/>
            <a:ext cx="1234440" cy="457200"/>
          </a:xfrm>
          <a:prstGeom prst="rect">
            <a:avLst/>
          </a:prstGeom>
          <a:noFill/>
          <a:ln/>
        </p:spPr>
        <p:txBody>
          <a:bodyPr wrap="square" lIns="0" tIns="0" rIns="0" bIns="0" rtlCol="0" anchor="ctr"/>
          <a:lstStyle/>
          <a:p>
            <a:pPr algn="ctr" indent="0" marL="0">
              <a:buNone/>
            </a:pPr>
            <a:r>
              <a:rPr lang="en-US" sz="850" dirty="0">
                <a:solidFill>
                  <a:srgbClr val="006D77"/>
                </a:solidFill>
                <a:latin typeface="Calibri" pitchFamily="34" charset="0"/>
                <a:ea typeface="Calibri" pitchFamily="34" charset="-122"/>
                <a:cs typeface="Calibri" pitchFamily="34" charset="-120"/>
              </a:rPr>
              <a:t>edit session.py</a:t>
            </a:r>
            <a:endParaRPr lang="en-US" sz="850" dirty="0"/>
          </a:p>
        </p:txBody>
      </p:sp>
      <p:sp>
        <p:nvSpPr>
          <p:cNvPr id="43" name="Shape 41"/>
          <p:cNvSpPr/>
          <p:nvPr/>
        </p:nvSpPr>
        <p:spPr>
          <a:xfrm>
            <a:off x="5943600" y="2971800"/>
            <a:ext cx="1234440" cy="457200"/>
          </a:xfrm>
          <a:prstGeom prst="rect">
            <a:avLst/>
          </a:prstGeom>
          <a:solidFill>
            <a:srgbClr val="FFDDD2"/>
          </a:solidFill>
          <a:ln w="9525">
            <a:solidFill>
              <a:srgbClr val="83C5BE"/>
            </a:solidFill>
            <a:prstDash val="solid"/>
          </a:ln>
        </p:spPr>
      </p:sp>
      <p:sp>
        <p:nvSpPr>
          <p:cNvPr id="44" name="Text 42"/>
          <p:cNvSpPr/>
          <p:nvPr/>
        </p:nvSpPr>
        <p:spPr>
          <a:xfrm>
            <a:off x="5943600" y="2971800"/>
            <a:ext cx="1234440" cy="457200"/>
          </a:xfrm>
          <a:prstGeom prst="rect">
            <a:avLst/>
          </a:prstGeom>
          <a:noFill/>
          <a:ln/>
        </p:spPr>
        <p:txBody>
          <a:bodyPr wrap="square" lIns="0" tIns="0" rIns="0" bIns="0" rtlCol="0" anchor="ctr"/>
          <a:lstStyle/>
          <a:p>
            <a:pPr algn="ctr" indent="0" marL="0">
              <a:buNone/>
            </a:pPr>
            <a:r>
              <a:rPr lang="en-US" sz="850" dirty="0">
                <a:solidFill>
                  <a:srgbClr val="006D77"/>
                </a:solidFill>
                <a:latin typeface="Calibri" pitchFamily="34" charset="0"/>
                <a:ea typeface="Calibri" pitchFamily="34" charset="-122"/>
                <a:cs typeface="Calibri" pitchFamily="34" charset="-120"/>
              </a:rPr>
              <a:t>pytest</a:t>
            </a:r>
            <a:endParaRPr lang="en-US" sz="850" dirty="0"/>
          </a:p>
        </p:txBody>
      </p:sp>
      <p:sp>
        <p:nvSpPr>
          <p:cNvPr id="45" name="Shape 43"/>
          <p:cNvSpPr/>
          <p:nvPr/>
        </p:nvSpPr>
        <p:spPr>
          <a:xfrm>
            <a:off x="7269480" y="2971800"/>
            <a:ext cx="1234440" cy="457200"/>
          </a:xfrm>
          <a:prstGeom prst="rect">
            <a:avLst/>
          </a:prstGeom>
          <a:solidFill>
            <a:srgbClr val="E29578"/>
          </a:solidFill>
          <a:ln w="9525">
            <a:solidFill>
              <a:srgbClr val="83C5BE"/>
            </a:solidFill>
            <a:prstDash val="solid"/>
          </a:ln>
        </p:spPr>
      </p:sp>
      <p:sp>
        <p:nvSpPr>
          <p:cNvPr id="46" name="Text 44"/>
          <p:cNvSpPr/>
          <p:nvPr/>
        </p:nvSpPr>
        <p:spPr>
          <a:xfrm>
            <a:off x="7269480" y="2971800"/>
            <a:ext cx="1234440" cy="457200"/>
          </a:xfrm>
          <a:prstGeom prst="rect">
            <a:avLst/>
          </a:prstGeom>
          <a:noFill/>
          <a:ln/>
        </p:spPr>
        <p:txBody>
          <a:bodyPr wrap="square" lIns="0" tIns="0" rIns="0" bIns="0" rtlCol="0" anchor="ctr"/>
          <a:lstStyle/>
          <a:p>
            <a:pPr algn="ctr" indent="0" marL="0">
              <a:buNone/>
            </a:pPr>
            <a:r>
              <a:rPr lang="en-US" sz="850" dirty="0">
                <a:solidFill>
                  <a:srgbClr val="006D77"/>
                </a:solidFill>
                <a:latin typeface="Calibri" pitchFamily="34" charset="0"/>
                <a:ea typeface="Calibri" pitchFamily="34" charset="-122"/>
                <a:cs typeface="Calibri" pitchFamily="34" charset="-120"/>
              </a:rPr>
              <a:t>all green</a:t>
            </a:r>
            <a:endParaRPr lang="en-US" sz="850" dirty="0"/>
          </a:p>
        </p:txBody>
      </p:sp>
      <p:sp>
        <p:nvSpPr>
          <p:cNvPr id="47" name="Text 45"/>
          <p:cNvSpPr/>
          <p:nvPr/>
        </p:nvSpPr>
        <p:spPr>
          <a:xfrm>
            <a:off x="640080" y="3520440"/>
            <a:ext cx="7900416" cy="237744"/>
          </a:xfrm>
          <a:prstGeom prst="rect">
            <a:avLst/>
          </a:prstGeom>
          <a:noFill/>
          <a:ln/>
        </p:spPr>
        <p:txBody>
          <a:bodyPr wrap="square" lIns="0" tIns="0" rIns="0" bIns="0" rtlCol="0" anchor="ctr"/>
          <a:lstStyle/>
          <a:p>
            <a:pPr algn="l" indent="0" marL="0">
              <a:buNone/>
            </a:pPr>
            <a:r>
              <a:rPr lang="en-US" sz="1000" dirty="0">
                <a:solidFill>
                  <a:srgbClr val="006D77">
                    <a:alpha val="80000"/>
                  </a:srgbClr>
                </a:solidFill>
                <a:latin typeface="Calibri" pitchFamily="34" charset="0"/>
                <a:ea typeface="Calibri" pitchFamily="34" charset="-122"/>
                <a:cs typeface="Calibri" pitchFamily="34" charset="-120"/>
              </a:rPr>
              <a:t>Every request is conditioned on the previous inference and the previous tool result.</a:t>
            </a:r>
            <a:endParaRPr lang="en-US" sz="1000" dirty="0"/>
          </a:p>
        </p:txBody>
      </p:sp>
      <p:sp>
        <p:nvSpPr>
          <p:cNvPr id="48" name="Shape 46"/>
          <p:cNvSpPr/>
          <p:nvPr/>
        </p:nvSpPr>
        <p:spPr>
          <a:xfrm>
            <a:off x="457200" y="4114800"/>
            <a:ext cx="8229600" cy="411480"/>
          </a:xfrm>
          <a:prstGeom prst="rect">
            <a:avLst/>
          </a:prstGeom>
          <a:solidFill>
            <a:srgbClr val="006D77"/>
          </a:solidFill>
          <a:ln w="12700">
            <a:solidFill>
              <a:srgbClr val="006D77"/>
            </a:solidFill>
            <a:prstDash val="solid"/>
          </a:ln>
        </p:spPr>
      </p:sp>
      <p:sp>
        <p:nvSpPr>
          <p:cNvPr id="49" name="Text 47"/>
          <p:cNvSpPr/>
          <p:nvPr/>
        </p:nvSpPr>
        <p:spPr>
          <a:xfrm>
            <a:off x="640080" y="4114800"/>
            <a:ext cx="7863840" cy="411480"/>
          </a:xfrm>
          <a:prstGeom prst="rect">
            <a:avLst/>
          </a:prstGeom>
          <a:noFill/>
          <a:ln/>
        </p:spPr>
        <p:txBody>
          <a:bodyPr wrap="square" lIns="0" tIns="0" rIns="0" bIns="0" rtlCol="0" anchor="ctr"/>
          <a:lstStyle/>
          <a:p>
            <a:pPr algn="l" indent="0" marL="0">
              <a:buNone/>
            </a:pPr>
            <a:r>
              <a:rPr lang="en-US" sz="1100" dirty="0">
                <a:solidFill>
                  <a:srgbClr val="EDF6F9"/>
                </a:solidFill>
                <a:latin typeface="Calibri" pitchFamily="34" charset="0"/>
                <a:ea typeface="Calibri" pitchFamily="34" charset="-122"/>
                <a:cs typeface="Calibri" pitchFamily="34" charset="-120"/>
              </a:rPr>
              <a:t>The agentic loop, not the prompt, is the unit of work.</a:t>
            </a:r>
            <a:endParaRPr lang="en-US" sz="1100" dirty="0"/>
          </a:p>
        </p:txBody>
      </p:sp>
      <p:sp>
        <p:nvSpPr>
          <p:cNvPr id="50" name="Shape 48"/>
          <p:cNvSpPr/>
          <p:nvPr/>
        </p:nvSpPr>
        <p:spPr>
          <a:xfrm>
            <a:off x="8485632" y="4645152"/>
            <a:ext cx="420624" cy="274320"/>
          </a:xfrm>
          <a:prstGeom prst="roundRect">
            <a:avLst>
              <a:gd name="adj" fmla="val 26667"/>
            </a:avLst>
          </a:prstGeom>
          <a:solidFill>
            <a:srgbClr val="006D77"/>
          </a:solidFill>
          <a:ln w="12700">
            <a:solidFill>
              <a:srgbClr val="006D77"/>
            </a:solidFill>
            <a:prstDash val="solid"/>
          </a:ln>
        </p:spPr>
      </p:sp>
      <p:sp>
        <p:nvSpPr>
          <p:cNvPr id="51" name="Text 49"/>
          <p:cNvSpPr/>
          <p:nvPr/>
        </p:nvSpPr>
        <p:spPr>
          <a:xfrm>
            <a:off x="8485632" y="4645152"/>
            <a:ext cx="420624" cy="274320"/>
          </a:xfrm>
          <a:prstGeom prst="rect">
            <a:avLst/>
          </a:prstGeom>
          <a:noFill/>
          <a:ln/>
        </p:spPr>
        <p:txBody>
          <a:bodyPr wrap="square" lIns="0" tIns="0" rIns="0" bIns="0" rtlCol="0" anchor="ctr"/>
          <a:lstStyle/>
          <a:p>
            <a:pPr algn="ctr" indent="0" marL="0">
              <a:buNone/>
            </a:pPr>
            <a:r>
              <a:rPr lang="en-US" sz="1100" dirty="0">
                <a:solidFill>
                  <a:srgbClr val="EDF6F9"/>
                </a:solidFill>
                <a:latin typeface="Calibri" pitchFamily="34" charset="0"/>
                <a:ea typeface="Calibri" pitchFamily="34" charset="-122"/>
                <a:cs typeface="Calibri" pitchFamily="34" charset="-120"/>
              </a:rPr>
              <a:t>5</a:t>
            </a:r>
            <a:endParaRPr lang="en-US" sz="1100" dirty="0"/>
          </a:p>
        </p:txBody>
      </p:sp>
      <p:sp>
        <p:nvSpPr>
          <p:cNvPr id="52" name="Shape 50"/>
          <p:cNvSpPr/>
          <p:nvPr/>
        </p:nvSpPr>
        <p:spPr>
          <a:xfrm>
            <a:off x="457200" y="4754880"/>
            <a:ext cx="7772400" cy="10973"/>
          </a:xfrm>
          <a:prstGeom prst="rect">
            <a:avLst/>
          </a:prstGeom>
          <a:solidFill>
            <a:srgbClr val="83C5BE"/>
          </a:solidFill>
          <a:ln w="12700">
            <a:solidFill>
              <a:srgbClr val="83C5BE"/>
            </a:solidFill>
            <a:prstDash val="solid"/>
          </a:ln>
        </p:spPr>
      </p:sp>
      <p:sp>
        <p:nvSpPr>
          <p:cNvPr id="53" name="Text 51"/>
          <p:cNvSpPr/>
          <p:nvPr/>
        </p:nvSpPr>
        <p:spPr>
          <a:xfrm>
            <a:off x="457200" y="4773168"/>
            <a:ext cx="7772400" cy="219456"/>
          </a:xfrm>
          <a:prstGeom prst="rect">
            <a:avLst/>
          </a:prstGeom>
          <a:noFill/>
          <a:ln/>
        </p:spPr>
        <p:txBody>
          <a:bodyPr wrap="square" lIns="0" tIns="0" rIns="0" bIns="0" rtlCol="0" anchor="ctr"/>
          <a:lstStyle/>
          <a:p>
            <a:pPr algn="l" indent="0" marL="0">
              <a:buNone/>
            </a:pPr>
            <a:r>
              <a:rPr lang="en-US" sz="900" dirty="0">
                <a:solidFill>
                  <a:srgbClr val="006D77">
                    <a:alpha val="55000"/>
                  </a:srgbClr>
                </a:solidFill>
                <a:latin typeface="Calibri" pitchFamily="34" charset="0"/>
                <a:ea typeface="Calibri" pitchFamily="34" charset="-122"/>
                <a:cs typeface="Calibri" pitchFamily="34" charset="-120"/>
              </a:rPr>
              <a:t>Source: https://cs2680.seas.harvard.edu/slides/2_agent_use_1.pdf</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DF6F9"/>
        </a:solidFill>
      </p:bgPr>
    </p:bg>
    <p:spTree>
      <p:nvGrpSpPr>
        <p:cNvPr id="1" name=""/>
        <p:cNvGrpSpPr/>
        <p:nvPr/>
      </p:nvGrpSpPr>
      <p:grpSpPr>
        <a:xfrm>
          <a:off x="0" y="0"/>
          <a:ext cx="0" cy="0"/>
          <a:chOff x="0" y="0"/>
          <a:chExt cx="0" cy="0"/>
        </a:xfrm>
      </p:grpSpPr>
      <p:sp>
        <p:nvSpPr>
          <p:cNvPr id="2" name="Text 0"/>
          <p:cNvSpPr/>
          <p:nvPr/>
        </p:nvSpPr>
        <p:spPr>
          <a:xfrm>
            <a:off x="457200" y="310896"/>
            <a:ext cx="8229600" cy="219456"/>
          </a:xfrm>
          <a:prstGeom prst="rect">
            <a:avLst/>
          </a:prstGeom>
          <a:noFill/>
          <a:ln/>
        </p:spPr>
        <p:txBody>
          <a:bodyPr wrap="square" lIns="0" tIns="0" rIns="0" bIns="0" rtlCol="0" anchor="ctr"/>
          <a:lstStyle/>
          <a:p>
            <a:pPr algn="l" indent="0" marL="0">
              <a:buNone/>
            </a:pPr>
            <a:r>
              <a:rPr lang="en-US" sz="1100" spc="140" kern="0" dirty="0">
                <a:solidFill>
                  <a:srgbClr val="E29578"/>
                </a:solidFill>
                <a:latin typeface="Calibri" pitchFamily="34" charset="0"/>
                <a:ea typeface="Calibri" pitchFamily="34" charset="-122"/>
                <a:cs typeface="Calibri" pitchFamily="34" charset="-120"/>
              </a:rPr>
              <a:t>PERMISSIONS</a:t>
            </a:r>
            <a:endParaRPr lang="en-US" sz="1100" dirty="0"/>
          </a:p>
        </p:txBody>
      </p:sp>
      <p:sp>
        <p:nvSpPr>
          <p:cNvPr id="3" name="Text 1"/>
          <p:cNvSpPr/>
          <p:nvPr/>
        </p:nvSpPr>
        <p:spPr>
          <a:xfrm>
            <a:off x="457200" y="548640"/>
            <a:ext cx="8229600" cy="566928"/>
          </a:xfrm>
          <a:prstGeom prst="rect">
            <a:avLst/>
          </a:prstGeom>
          <a:noFill/>
          <a:ln/>
        </p:spPr>
        <p:txBody>
          <a:bodyPr wrap="square" lIns="0" tIns="0" rIns="0" bIns="0" rtlCol="0" anchor="ctr">
            <a:normAutofit/>
          </a:bodyPr>
          <a:lstStyle/>
          <a:p>
            <a:pPr algn="l" indent="0" marL="0">
              <a:buNone/>
            </a:pPr>
            <a:r>
              <a:rPr lang="en-US" sz="2700" b="1" dirty="0">
                <a:solidFill>
                  <a:srgbClr val="006D77"/>
                </a:solidFill>
                <a:latin typeface="Georgia" pitchFamily="34" charset="0"/>
                <a:ea typeface="Georgia" pitchFamily="34" charset="-122"/>
                <a:cs typeface="Georgia" pitchFamily="34" charset="-120"/>
              </a:rPr>
              <a:t>A tool request is a proposal, not an action</a:t>
            </a:r>
            <a:endParaRPr lang="en-US" sz="2700" dirty="0"/>
          </a:p>
        </p:txBody>
      </p:sp>
      <p:sp>
        <p:nvSpPr>
          <p:cNvPr id="4" name="Shape 2"/>
          <p:cNvSpPr/>
          <p:nvPr/>
        </p:nvSpPr>
        <p:spPr>
          <a:xfrm>
            <a:off x="457200" y="1207008"/>
            <a:ext cx="8229600" cy="457200"/>
          </a:xfrm>
          <a:prstGeom prst="rect">
            <a:avLst/>
          </a:prstGeom>
          <a:solidFill>
            <a:srgbClr val="006D77"/>
          </a:solidFill>
          <a:ln w="12700">
            <a:solidFill>
              <a:srgbClr val="006D77"/>
            </a:solidFill>
            <a:prstDash val="solid"/>
          </a:ln>
        </p:spPr>
      </p:sp>
      <p:sp>
        <p:nvSpPr>
          <p:cNvPr id="5" name="Text 3"/>
          <p:cNvSpPr/>
          <p:nvPr/>
        </p:nvSpPr>
        <p:spPr>
          <a:xfrm>
            <a:off x="640080" y="1207008"/>
            <a:ext cx="7863840" cy="457200"/>
          </a:xfrm>
          <a:prstGeom prst="rect">
            <a:avLst/>
          </a:prstGeom>
          <a:noFill/>
          <a:ln/>
        </p:spPr>
        <p:txBody>
          <a:bodyPr wrap="square" lIns="0" tIns="0" rIns="0" bIns="0" rtlCol="0" anchor="ctr"/>
          <a:lstStyle/>
          <a:p>
            <a:pPr algn="l" indent="0" marL="0">
              <a:buNone/>
            </a:pPr>
            <a:r>
              <a:rPr lang="en-US" sz="1100" dirty="0">
                <a:solidFill>
                  <a:srgbClr val="EDF6F9"/>
                </a:solidFill>
                <a:latin typeface="Calibri" pitchFamily="34" charset="0"/>
                <a:ea typeface="Calibri" pitchFamily="34" charset="-122"/>
                <a:cs typeface="Calibri" pitchFamily="34" charset="-120"/>
              </a:rPr>
              <a:t>The permission layer sits between intent and execution: a tool request needs approval before it runs.</a:t>
            </a:r>
            <a:endParaRPr lang="en-US" sz="1100" dirty="0"/>
          </a:p>
        </p:txBody>
      </p:sp>
      <p:sp>
        <p:nvSpPr>
          <p:cNvPr id="6" name="Shape 4"/>
          <p:cNvSpPr/>
          <p:nvPr/>
        </p:nvSpPr>
        <p:spPr>
          <a:xfrm>
            <a:off x="457200" y="1828800"/>
            <a:ext cx="1920240" cy="1188720"/>
          </a:xfrm>
          <a:prstGeom prst="rect">
            <a:avLst/>
          </a:prstGeom>
          <a:solidFill>
            <a:srgbClr val="EDF6F9"/>
          </a:solidFill>
          <a:ln w="9525">
            <a:solidFill>
              <a:srgbClr val="83C5BE"/>
            </a:solidFill>
            <a:prstDash val="solid"/>
          </a:ln>
          <a:effectLst>
            <a:outerShdw sx="100000" sy="100000" kx="0" ky="0" algn="bl" rotWithShape="0" blurRad="101600" dist="25400" dir="5400000">
              <a:srgbClr val="006d77">
                <a:alpha val="12000"/>
              </a:srgbClr>
            </a:outerShdw>
          </a:effectLst>
        </p:spPr>
      </p:sp>
      <p:sp>
        <p:nvSpPr>
          <p:cNvPr id="7" name="Shape 5"/>
          <p:cNvSpPr/>
          <p:nvPr/>
        </p:nvSpPr>
        <p:spPr>
          <a:xfrm>
            <a:off x="457200" y="1828800"/>
            <a:ext cx="50292" cy="1188720"/>
          </a:xfrm>
          <a:prstGeom prst="rect">
            <a:avLst/>
          </a:prstGeom>
          <a:solidFill>
            <a:srgbClr val="E29578"/>
          </a:solidFill>
          <a:ln w="12700">
            <a:solidFill>
              <a:srgbClr val="E29578"/>
            </a:solidFill>
            <a:prstDash val="solid"/>
          </a:ln>
        </p:spPr>
      </p:sp>
      <p:sp>
        <p:nvSpPr>
          <p:cNvPr id="8" name="Text 6"/>
          <p:cNvSpPr/>
          <p:nvPr/>
        </p:nvSpPr>
        <p:spPr>
          <a:xfrm>
            <a:off x="640080" y="1975104"/>
            <a:ext cx="1591056" cy="274320"/>
          </a:xfrm>
          <a:prstGeom prst="rect">
            <a:avLst/>
          </a:prstGeom>
          <a:noFill/>
          <a:ln/>
        </p:spPr>
        <p:txBody>
          <a:bodyPr wrap="square" lIns="0" tIns="0" rIns="0" bIns="0" rtlCol="0" anchor="ctr"/>
          <a:lstStyle/>
          <a:p>
            <a:pPr algn="l" indent="0" marL="0">
              <a:buNone/>
            </a:pPr>
            <a:r>
              <a:rPr lang="en-US" sz="1200" b="1" dirty="0">
                <a:solidFill>
                  <a:srgbClr val="006D77"/>
                </a:solidFill>
                <a:latin typeface="Georgia" pitchFamily="34" charset="0"/>
                <a:ea typeface="Georgia" pitchFamily="34" charset="-122"/>
                <a:cs typeface="Georgia" pitchFamily="34" charset="-120"/>
              </a:rPr>
              <a:t>Manual</a:t>
            </a:r>
            <a:endParaRPr lang="en-US" sz="1200" dirty="0"/>
          </a:p>
        </p:txBody>
      </p:sp>
      <p:sp>
        <p:nvSpPr>
          <p:cNvPr id="9" name="Text 7"/>
          <p:cNvSpPr/>
          <p:nvPr/>
        </p:nvSpPr>
        <p:spPr>
          <a:xfrm>
            <a:off x="640080" y="2286000"/>
            <a:ext cx="1591056" cy="548640"/>
          </a:xfrm>
          <a:prstGeom prst="rect">
            <a:avLst/>
          </a:prstGeom>
          <a:noFill/>
          <a:ln/>
        </p:spPr>
        <p:txBody>
          <a:bodyPr wrap="square" lIns="0" tIns="0" rIns="0" bIns="0" rtlCol="0" anchor="t"/>
          <a:lstStyle/>
          <a:p>
            <a:pPr algn="l" indent="0" marL="0">
              <a:buNone/>
            </a:pPr>
            <a:r>
              <a:rPr lang="en-US" sz="950" dirty="0">
                <a:solidFill>
                  <a:srgbClr val="006D77"/>
                </a:solidFill>
                <a:latin typeface="Calibri" pitchFamily="34" charset="0"/>
                <a:ea typeface="Calibri" pitchFamily="34" charset="-122"/>
                <a:cs typeface="Calibri" pitchFamily="34" charset="-120"/>
              </a:rPr>
              <a:t>manual approval</a:t>
            </a:r>
            <a:endParaRPr lang="en-US" sz="950" dirty="0"/>
          </a:p>
        </p:txBody>
      </p:sp>
      <p:sp>
        <p:nvSpPr>
          <p:cNvPr id="10" name="Shape 8"/>
          <p:cNvSpPr/>
          <p:nvPr/>
        </p:nvSpPr>
        <p:spPr>
          <a:xfrm>
            <a:off x="2560320" y="1828800"/>
            <a:ext cx="1920240" cy="1188720"/>
          </a:xfrm>
          <a:prstGeom prst="rect">
            <a:avLst/>
          </a:prstGeom>
          <a:solidFill>
            <a:srgbClr val="EDF6F9"/>
          </a:solidFill>
          <a:ln w="9525">
            <a:solidFill>
              <a:srgbClr val="83C5BE"/>
            </a:solidFill>
            <a:prstDash val="solid"/>
          </a:ln>
          <a:effectLst>
            <a:outerShdw sx="100000" sy="100000" kx="0" ky="0" algn="bl" rotWithShape="0" blurRad="101600" dist="25400" dir="5400000">
              <a:srgbClr val="006d77">
                <a:alpha val="12000"/>
              </a:srgbClr>
            </a:outerShdw>
          </a:effectLst>
        </p:spPr>
      </p:sp>
      <p:sp>
        <p:nvSpPr>
          <p:cNvPr id="11" name="Shape 9"/>
          <p:cNvSpPr/>
          <p:nvPr/>
        </p:nvSpPr>
        <p:spPr>
          <a:xfrm>
            <a:off x="2560320" y="1828800"/>
            <a:ext cx="50292" cy="1188720"/>
          </a:xfrm>
          <a:prstGeom prst="rect">
            <a:avLst/>
          </a:prstGeom>
          <a:solidFill>
            <a:srgbClr val="E29578"/>
          </a:solidFill>
          <a:ln w="12700">
            <a:solidFill>
              <a:srgbClr val="E29578"/>
            </a:solidFill>
            <a:prstDash val="solid"/>
          </a:ln>
        </p:spPr>
      </p:sp>
      <p:sp>
        <p:nvSpPr>
          <p:cNvPr id="12" name="Text 10"/>
          <p:cNvSpPr/>
          <p:nvPr/>
        </p:nvSpPr>
        <p:spPr>
          <a:xfrm>
            <a:off x="2743200" y="1975104"/>
            <a:ext cx="1591056" cy="274320"/>
          </a:xfrm>
          <a:prstGeom prst="rect">
            <a:avLst/>
          </a:prstGeom>
          <a:noFill/>
          <a:ln/>
        </p:spPr>
        <p:txBody>
          <a:bodyPr wrap="square" lIns="0" tIns="0" rIns="0" bIns="0" rtlCol="0" anchor="ctr"/>
          <a:lstStyle/>
          <a:p>
            <a:pPr algn="l" indent="0" marL="0">
              <a:buNone/>
            </a:pPr>
            <a:r>
              <a:rPr lang="en-US" sz="1200" b="1" dirty="0">
                <a:solidFill>
                  <a:srgbClr val="006D77"/>
                </a:solidFill>
                <a:latin typeface="Georgia" pitchFamily="34" charset="0"/>
                <a:ea typeface="Georgia" pitchFamily="34" charset="-122"/>
                <a:cs typeface="Georgia" pitchFamily="34" charset="-120"/>
              </a:rPr>
              <a:t>Accept Edits</a:t>
            </a:r>
            <a:endParaRPr lang="en-US" sz="1200" dirty="0"/>
          </a:p>
        </p:txBody>
      </p:sp>
      <p:sp>
        <p:nvSpPr>
          <p:cNvPr id="13" name="Text 11"/>
          <p:cNvSpPr/>
          <p:nvPr/>
        </p:nvSpPr>
        <p:spPr>
          <a:xfrm>
            <a:off x="2743200" y="2286000"/>
            <a:ext cx="1591056" cy="548640"/>
          </a:xfrm>
          <a:prstGeom prst="rect">
            <a:avLst/>
          </a:prstGeom>
          <a:noFill/>
          <a:ln/>
        </p:spPr>
        <p:txBody>
          <a:bodyPr wrap="square" lIns="0" tIns="0" rIns="0" bIns="0" rtlCol="0" anchor="t"/>
          <a:lstStyle/>
          <a:p>
            <a:pPr algn="l" indent="0" marL="0">
              <a:buNone/>
            </a:pPr>
            <a:r>
              <a:rPr lang="en-US" sz="950" dirty="0">
                <a:solidFill>
                  <a:srgbClr val="006D77"/>
                </a:solidFill>
                <a:latin typeface="Calibri" pitchFamily="34" charset="0"/>
                <a:ea typeface="Calibri" pitchFamily="34" charset="-122"/>
                <a:cs typeface="Calibri" pitchFamily="34" charset="-120"/>
              </a:rPr>
              <a:t>edits accepted</a:t>
            </a:r>
            <a:endParaRPr lang="en-US" sz="950" dirty="0"/>
          </a:p>
        </p:txBody>
      </p:sp>
      <p:sp>
        <p:nvSpPr>
          <p:cNvPr id="14" name="Shape 12"/>
          <p:cNvSpPr/>
          <p:nvPr/>
        </p:nvSpPr>
        <p:spPr>
          <a:xfrm>
            <a:off x="4663440" y="1828800"/>
            <a:ext cx="1920240" cy="1188720"/>
          </a:xfrm>
          <a:prstGeom prst="rect">
            <a:avLst/>
          </a:prstGeom>
          <a:solidFill>
            <a:srgbClr val="EDF6F9"/>
          </a:solidFill>
          <a:ln w="9525">
            <a:solidFill>
              <a:srgbClr val="83C5BE"/>
            </a:solidFill>
            <a:prstDash val="solid"/>
          </a:ln>
          <a:effectLst>
            <a:outerShdw sx="100000" sy="100000" kx="0" ky="0" algn="bl" rotWithShape="0" blurRad="101600" dist="25400" dir="5400000">
              <a:srgbClr val="006d77">
                <a:alpha val="12000"/>
              </a:srgbClr>
            </a:outerShdw>
          </a:effectLst>
        </p:spPr>
      </p:sp>
      <p:sp>
        <p:nvSpPr>
          <p:cNvPr id="15" name="Shape 13"/>
          <p:cNvSpPr/>
          <p:nvPr/>
        </p:nvSpPr>
        <p:spPr>
          <a:xfrm>
            <a:off x="4663440" y="1828800"/>
            <a:ext cx="50292" cy="1188720"/>
          </a:xfrm>
          <a:prstGeom prst="rect">
            <a:avLst/>
          </a:prstGeom>
          <a:solidFill>
            <a:srgbClr val="E29578"/>
          </a:solidFill>
          <a:ln w="12700">
            <a:solidFill>
              <a:srgbClr val="E29578"/>
            </a:solidFill>
            <a:prstDash val="solid"/>
          </a:ln>
        </p:spPr>
      </p:sp>
      <p:sp>
        <p:nvSpPr>
          <p:cNvPr id="16" name="Text 14"/>
          <p:cNvSpPr/>
          <p:nvPr/>
        </p:nvSpPr>
        <p:spPr>
          <a:xfrm>
            <a:off x="4846320" y="1975104"/>
            <a:ext cx="1591056" cy="274320"/>
          </a:xfrm>
          <a:prstGeom prst="rect">
            <a:avLst/>
          </a:prstGeom>
          <a:noFill/>
          <a:ln/>
        </p:spPr>
        <p:txBody>
          <a:bodyPr wrap="square" lIns="0" tIns="0" rIns="0" bIns="0" rtlCol="0" anchor="ctr"/>
          <a:lstStyle/>
          <a:p>
            <a:pPr algn="l" indent="0" marL="0">
              <a:buNone/>
            </a:pPr>
            <a:r>
              <a:rPr lang="en-US" sz="1200" b="1" dirty="0">
                <a:solidFill>
                  <a:srgbClr val="006D77"/>
                </a:solidFill>
                <a:latin typeface="Georgia" pitchFamily="34" charset="0"/>
                <a:ea typeface="Georgia" pitchFamily="34" charset="-122"/>
                <a:cs typeface="Georgia" pitchFamily="34" charset="-120"/>
              </a:rPr>
              <a:t>Bypass permission</a:t>
            </a:r>
            <a:endParaRPr lang="en-US" sz="1200" dirty="0"/>
          </a:p>
        </p:txBody>
      </p:sp>
      <p:sp>
        <p:nvSpPr>
          <p:cNvPr id="17" name="Text 15"/>
          <p:cNvSpPr/>
          <p:nvPr/>
        </p:nvSpPr>
        <p:spPr>
          <a:xfrm>
            <a:off x="4846320" y="2286000"/>
            <a:ext cx="1591056" cy="548640"/>
          </a:xfrm>
          <a:prstGeom prst="rect">
            <a:avLst/>
          </a:prstGeom>
          <a:noFill/>
          <a:ln/>
        </p:spPr>
        <p:txBody>
          <a:bodyPr wrap="square" lIns="0" tIns="0" rIns="0" bIns="0" rtlCol="0" anchor="t"/>
          <a:lstStyle/>
          <a:p>
            <a:pPr algn="l" indent="0" marL="0">
              <a:buNone/>
            </a:pPr>
            <a:r>
              <a:rPr lang="en-US" sz="950" dirty="0">
                <a:solidFill>
                  <a:srgbClr val="006D77"/>
                </a:solidFill>
                <a:latin typeface="Calibri" pitchFamily="34" charset="0"/>
                <a:ea typeface="Calibri" pitchFamily="34" charset="-122"/>
                <a:cs typeface="Calibri" pitchFamily="34" charset="-120"/>
              </a:rPr>
              <a:t>permission bypassed</a:t>
            </a:r>
            <a:endParaRPr lang="en-US" sz="950" dirty="0"/>
          </a:p>
        </p:txBody>
      </p:sp>
      <p:sp>
        <p:nvSpPr>
          <p:cNvPr id="18" name="Shape 16"/>
          <p:cNvSpPr/>
          <p:nvPr/>
        </p:nvSpPr>
        <p:spPr>
          <a:xfrm>
            <a:off x="6766560" y="1828800"/>
            <a:ext cx="1920240" cy="1188720"/>
          </a:xfrm>
          <a:prstGeom prst="rect">
            <a:avLst/>
          </a:prstGeom>
          <a:solidFill>
            <a:srgbClr val="FFDDD2"/>
          </a:solidFill>
          <a:ln w="9525">
            <a:solidFill>
              <a:srgbClr val="83C5BE"/>
            </a:solidFill>
            <a:prstDash val="solid"/>
          </a:ln>
          <a:effectLst>
            <a:outerShdw sx="100000" sy="100000" kx="0" ky="0" algn="bl" rotWithShape="0" blurRad="101600" dist="25400" dir="5400000">
              <a:srgbClr val="006d77">
                <a:alpha val="12000"/>
              </a:srgbClr>
            </a:outerShdw>
          </a:effectLst>
        </p:spPr>
      </p:sp>
      <p:sp>
        <p:nvSpPr>
          <p:cNvPr id="19" name="Shape 17"/>
          <p:cNvSpPr/>
          <p:nvPr/>
        </p:nvSpPr>
        <p:spPr>
          <a:xfrm>
            <a:off x="6766560" y="1828800"/>
            <a:ext cx="50292" cy="1188720"/>
          </a:xfrm>
          <a:prstGeom prst="rect">
            <a:avLst/>
          </a:prstGeom>
          <a:solidFill>
            <a:srgbClr val="E29578"/>
          </a:solidFill>
          <a:ln w="12700">
            <a:solidFill>
              <a:srgbClr val="E29578"/>
            </a:solidFill>
            <a:prstDash val="solid"/>
          </a:ln>
        </p:spPr>
      </p:sp>
      <p:sp>
        <p:nvSpPr>
          <p:cNvPr id="20" name="Text 18"/>
          <p:cNvSpPr/>
          <p:nvPr/>
        </p:nvSpPr>
        <p:spPr>
          <a:xfrm>
            <a:off x="6949440" y="1975104"/>
            <a:ext cx="1591056" cy="274320"/>
          </a:xfrm>
          <a:prstGeom prst="rect">
            <a:avLst/>
          </a:prstGeom>
          <a:noFill/>
          <a:ln/>
        </p:spPr>
        <p:txBody>
          <a:bodyPr wrap="square" lIns="0" tIns="0" rIns="0" bIns="0" rtlCol="0" anchor="ctr"/>
          <a:lstStyle/>
          <a:p>
            <a:pPr algn="l" indent="0" marL="0">
              <a:buNone/>
            </a:pPr>
            <a:r>
              <a:rPr lang="en-US" sz="1200" b="1" dirty="0">
                <a:solidFill>
                  <a:srgbClr val="006D77"/>
                </a:solidFill>
                <a:latin typeface="Georgia" pitchFamily="34" charset="0"/>
                <a:ea typeface="Georgia" pitchFamily="34" charset="-122"/>
                <a:cs typeface="Georgia" pitchFamily="34" charset="-120"/>
              </a:rPr>
              <a:t>Auto</a:t>
            </a:r>
            <a:endParaRPr lang="en-US" sz="1200" dirty="0"/>
          </a:p>
        </p:txBody>
      </p:sp>
      <p:sp>
        <p:nvSpPr>
          <p:cNvPr id="21" name="Text 19"/>
          <p:cNvSpPr/>
          <p:nvPr/>
        </p:nvSpPr>
        <p:spPr>
          <a:xfrm>
            <a:off x="6949440" y="2286000"/>
            <a:ext cx="1591056" cy="548640"/>
          </a:xfrm>
          <a:prstGeom prst="rect">
            <a:avLst/>
          </a:prstGeom>
          <a:noFill/>
          <a:ln/>
        </p:spPr>
        <p:txBody>
          <a:bodyPr wrap="square" lIns="0" tIns="0" rIns="0" bIns="0" rtlCol="0" anchor="t"/>
          <a:lstStyle/>
          <a:p>
            <a:pPr algn="l" indent="0" marL="0">
              <a:buNone/>
            </a:pPr>
            <a:r>
              <a:rPr lang="en-US" sz="950" dirty="0">
                <a:solidFill>
                  <a:srgbClr val="006D77"/>
                </a:solidFill>
                <a:latin typeface="Calibri" pitchFamily="34" charset="0"/>
                <a:ea typeface="Calibri" pitchFamily="34" charset="-122"/>
                <a:cs typeface="Calibri" pitchFamily="34" charset="-120"/>
              </a:rPr>
              <a:t>a small model checks it</a:t>
            </a:r>
            <a:endParaRPr lang="en-US" sz="950" dirty="0"/>
          </a:p>
        </p:txBody>
      </p:sp>
      <p:sp>
        <p:nvSpPr>
          <p:cNvPr id="22" name="Text 20"/>
          <p:cNvSpPr/>
          <p:nvPr/>
        </p:nvSpPr>
        <p:spPr>
          <a:xfrm>
            <a:off x="457200" y="3200400"/>
            <a:ext cx="1097280" cy="502920"/>
          </a:xfrm>
          <a:prstGeom prst="rect">
            <a:avLst/>
          </a:prstGeom>
          <a:noFill/>
          <a:ln/>
        </p:spPr>
        <p:txBody>
          <a:bodyPr wrap="square" lIns="0" tIns="0" rIns="0" bIns="0" rtlCol="0" anchor="ctr"/>
          <a:lstStyle/>
          <a:p>
            <a:pPr algn="l" indent="0" marL="0">
              <a:buNone/>
            </a:pPr>
            <a:r>
              <a:rPr lang="en-US" sz="950" spc="100" kern="0" dirty="0">
                <a:solidFill>
                  <a:srgbClr val="006D77"/>
                </a:solidFill>
                <a:latin typeface="Calibri" pitchFamily="34" charset="0"/>
                <a:ea typeface="Calibri" pitchFamily="34" charset="-122"/>
                <a:cs typeface="Calibri" pitchFamily="34" charset="-120"/>
              </a:rPr>
              <a:t>OUTCOME</a:t>
            </a:r>
            <a:endParaRPr lang="en-US" sz="950" dirty="0"/>
          </a:p>
        </p:txBody>
      </p:sp>
      <p:sp>
        <p:nvSpPr>
          <p:cNvPr id="23" name="Shape 21"/>
          <p:cNvSpPr/>
          <p:nvPr/>
        </p:nvSpPr>
        <p:spPr>
          <a:xfrm>
            <a:off x="1645920" y="3200400"/>
            <a:ext cx="2011680" cy="502920"/>
          </a:xfrm>
          <a:prstGeom prst="rect">
            <a:avLst/>
          </a:prstGeom>
          <a:solidFill>
            <a:srgbClr val="FFDDD2"/>
          </a:solidFill>
          <a:ln w="9525">
            <a:solidFill>
              <a:srgbClr val="83C5BE"/>
            </a:solidFill>
            <a:prstDash val="solid"/>
          </a:ln>
        </p:spPr>
      </p:sp>
      <p:sp>
        <p:nvSpPr>
          <p:cNvPr id="24" name="Text 22"/>
          <p:cNvSpPr/>
          <p:nvPr/>
        </p:nvSpPr>
        <p:spPr>
          <a:xfrm>
            <a:off x="1645920" y="3200400"/>
            <a:ext cx="2011680" cy="502920"/>
          </a:xfrm>
          <a:prstGeom prst="rect">
            <a:avLst/>
          </a:prstGeom>
          <a:noFill/>
          <a:ln/>
        </p:spPr>
        <p:txBody>
          <a:bodyPr wrap="square" lIns="0" tIns="0" rIns="0" bIns="0" rtlCol="0" anchor="ctr"/>
          <a:lstStyle/>
          <a:p>
            <a:pPr algn="ctr" indent="0" marL="0">
              <a:buNone/>
            </a:pPr>
            <a:r>
              <a:rPr lang="en-US" sz="1200" dirty="0">
                <a:solidFill>
                  <a:srgbClr val="006D77"/>
                </a:solidFill>
                <a:latin typeface="Calibri" pitchFamily="34" charset="0"/>
                <a:ea typeface="Calibri" pitchFamily="34" charset="-122"/>
                <a:cs typeface="Calibri" pitchFamily="34" charset="-120"/>
              </a:rPr>
              <a:t>allowed</a:t>
            </a:r>
            <a:endParaRPr lang="en-US" sz="1200" dirty="0"/>
          </a:p>
        </p:txBody>
      </p:sp>
      <p:sp>
        <p:nvSpPr>
          <p:cNvPr id="25" name="Shape 23"/>
          <p:cNvSpPr/>
          <p:nvPr/>
        </p:nvSpPr>
        <p:spPr>
          <a:xfrm>
            <a:off x="3749040" y="3200400"/>
            <a:ext cx="2011680" cy="502920"/>
          </a:xfrm>
          <a:prstGeom prst="rect">
            <a:avLst/>
          </a:prstGeom>
          <a:solidFill>
            <a:srgbClr val="E29578"/>
          </a:solidFill>
          <a:ln w="9525">
            <a:solidFill>
              <a:srgbClr val="83C5BE"/>
            </a:solidFill>
            <a:prstDash val="solid"/>
          </a:ln>
        </p:spPr>
      </p:sp>
      <p:sp>
        <p:nvSpPr>
          <p:cNvPr id="26" name="Text 24"/>
          <p:cNvSpPr/>
          <p:nvPr/>
        </p:nvSpPr>
        <p:spPr>
          <a:xfrm>
            <a:off x="3749040" y="3200400"/>
            <a:ext cx="2011680" cy="502920"/>
          </a:xfrm>
          <a:prstGeom prst="rect">
            <a:avLst/>
          </a:prstGeom>
          <a:noFill/>
          <a:ln/>
        </p:spPr>
        <p:txBody>
          <a:bodyPr wrap="square" lIns="0" tIns="0" rIns="0" bIns="0" rtlCol="0" anchor="ctr"/>
          <a:lstStyle/>
          <a:p>
            <a:pPr algn="ctr" indent="0" marL="0">
              <a:buNone/>
            </a:pPr>
            <a:r>
              <a:rPr lang="en-US" sz="1200" dirty="0">
                <a:solidFill>
                  <a:srgbClr val="006D77"/>
                </a:solidFill>
                <a:latin typeface="Calibri" pitchFamily="34" charset="0"/>
                <a:ea typeface="Calibri" pitchFamily="34" charset="-122"/>
                <a:cs typeface="Calibri" pitchFamily="34" charset="-120"/>
              </a:rPr>
              <a:t>ask</a:t>
            </a:r>
            <a:endParaRPr lang="en-US" sz="1200" dirty="0"/>
          </a:p>
        </p:txBody>
      </p:sp>
      <p:sp>
        <p:nvSpPr>
          <p:cNvPr id="27" name="Shape 25"/>
          <p:cNvSpPr/>
          <p:nvPr/>
        </p:nvSpPr>
        <p:spPr>
          <a:xfrm>
            <a:off x="5852160" y="3200400"/>
            <a:ext cx="2011680" cy="502920"/>
          </a:xfrm>
          <a:prstGeom prst="rect">
            <a:avLst/>
          </a:prstGeom>
          <a:solidFill>
            <a:srgbClr val="FFDDD2"/>
          </a:solidFill>
          <a:ln w="9525">
            <a:solidFill>
              <a:srgbClr val="83C5BE"/>
            </a:solidFill>
            <a:prstDash val="solid"/>
          </a:ln>
        </p:spPr>
      </p:sp>
      <p:sp>
        <p:nvSpPr>
          <p:cNvPr id="28" name="Text 26"/>
          <p:cNvSpPr/>
          <p:nvPr/>
        </p:nvSpPr>
        <p:spPr>
          <a:xfrm>
            <a:off x="5852160" y="3200400"/>
            <a:ext cx="2011680" cy="502920"/>
          </a:xfrm>
          <a:prstGeom prst="rect">
            <a:avLst/>
          </a:prstGeom>
          <a:noFill/>
          <a:ln/>
        </p:spPr>
        <p:txBody>
          <a:bodyPr wrap="square" lIns="0" tIns="0" rIns="0" bIns="0" rtlCol="0" anchor="ctr"/>
          <a:lstStyle/>
          <a:p>
            <a:pPr algn="ctr" indent="0" marL="0">
              <a:buNone/>
            </a:pPr>
            <a:r>
              <a:rPr lang="en-US" sz="1200" dirty="0">
                <a:solidFill>
                  <a:srgbClr val="006D77"/>
                </a:solidFill>
                <a:latin typeface="Calibri" pitchFamily="34" charset="0"/>
                <a:ea typeface="Calibri" pitchFamily="34" charset="-122"/>
                <a:cs typeface="Calibri" pitchFamily="34" charset="-120"/>
              </a:rPr>
              <a:t>denied</a:t>
            </a:r>
            <a:endParaRPr lang="en-US" sz="1200" dirty="0"/>
          </a:p>
        </p:txBody>
      </p:sp>
      <p:sp>
        <p:nvSpPr>
          <p:cNvPr id="29" name="Shape 27"/>
          <p:cNvSpPr/>
          <p:nvPr/>
        </p:nvSpPr>
        <p:spPr>
          <a:xfrm>
            <a:off x="457200" y="3886200"/>
            <a:ext cx="8229600" cy="566928"/>
          </a:xfrm>
          <a:prstGeom prst="rect">
            <a:avLst/>
          </a:prstGeom>
          <a:solidFill>
            <a:srgbClr val="EDF6F9"/>
          </a:solidFill>
          <a:ln w="9525">
            <a:solidFill>
              <a:srgbClr val="83C5BE"/>
            </a:solidFill>
            <a:prstDash val="solid"/>
          </a:ln>
          <a:effectLst>
            <a:outerShdw sx="100000" sy="100000" kx="0" ky="0" algn="bl" rotWithShape="0" blurRad="101600" dist="25400" dir="5400000">
              <a:srgbClr val="006d77">
                <a:alpha val="12000"/>
              </a:srgbClr>
            </a:outerShdw>
          </a:effectLst>
        </p:spPr>
      </p:sp>
      <p:sp>
        <p:nvSpPr>
          <p:cNvPr id="30" name="Shape 28"/>
          <p:cNvSpPr/>
          <p:nvPr/>
        </p:nvSpPr>
        <p:spPr>
          <a:xfrm>
            <a:off x="457200" y="3886200"/>
            <a:ext cx="50292" cy="566928"/>
          </a:xfrm>
          <a:prstGeom prst="rect">
            <a:avLst/>
          </a:prstGeom>
          <a:solidFill>
            <a:srgbClr val="E29578"/>
          </a:solidFill>
          <a:ln w="12700">
            <a:solidFill>
              <a:srgbClr val="E29578"/>
            </a:solidFill>
            <a:prstDash val="solid"/>
          </a:ln>
        </p:spPr>
      </p:sp>
      <p:sp>
        <p:nvSpPr>
          <p:cNvPr id="31" name="Text 29"/>
          <p:cNvSpPr/>
          <p:nvPr/>
        </p:nvSpPr>
        <p:spPr>
          <a:xfrm>
            <a:off x="640080" y="4032504"/>
            <a:ext cx="7900416" cy="292608"/>
          </a:xfrm>
          <a:prstGeom prst="rect">
            <a:avLst/>
          </a:prstGeom>
          <a:noFill/>
          <a:ln/>
        </p:spPr>
        <p:txBody>
          <a:bodyPr wrap="square" lIns="0" tIns="0" rIns="0" bIns="0" rtlCol="0" anchor="ctr"/>
          <a:lstStyle/>
          <a:p>
            <a:pPr algn="l" indent="0" marL="0">
              <a:buNone/>
            </a:pPr>
            <a:r>
              <a:rPr lang="en-US" sz="1100" dirty="0">
                <a:solidFill>
                  <a:srgbClr val="006D77"/>
                </a:solidFill>
                <a:latin typeface="Calibri" pitchFamily="34" charset="0"/>
                <a:ea typeface="Calibri" pitchFamily="34" charset="-122"/>
                <a:cs typeface="Calibri" pitchFamily="34" charset="-120"/>
              </a:rPr>
              <a:t>This is what students get wrong: the model never acts on the world directly. The harness does, and it can refuse.</a:t>
            </a:r>
            <a:endParaRPr lang="en-US" sz="1100" dirty="0"/>
          </a:p>
        </p:txBody>
      </p:sp>
      <p:sp>
        <p:nvSpPr>
          <p:cNvPr id="32" name="Shape 30"/>
          <p:cNvSpPr/>
          <p:nvPr/>
        </p:nvSpPr>
        <p:spPr>
          <a:xfrm>
            <a:off x="8485632" y="4645152"/>
            <a:ext cx="420624" cy="274320"/>
          </a:xfrm>
          <a:prstGeom prst="roundRect">
            <a:avLst>
              <a:gd name="adj" fmla="val 26667"/>
            </a:avLst>
          </a:prstGeom>
          <a:solidFill>
            <a:srgbClr val="006D77"/>
          </a:solidFill>
          <a:ln w="12700">
            <a:solidFill>
              <a:srgbClr val="006D77"/>
            </a:solidFill>
            <a:prstDash val="solid"/>
          </a:ln>
        </p:spPr>
      </p:sp>
      <p:sp>
        <p:nvSpPr>
          <p:cNvPr id="33" name="Text 31"/>
          <p:cNvSpPr/>
          <p:nvPr/>
        </p:nvSpPr>
        <p:spPr>
          <a:xfrm>
            <a:off x="8485632" y="4645152"/>
            <a:ext cx="420624" cy="274320"/>
          </a:xfrm>
          <a:prstGeom prst="rect">
            <a:avLst/>
          </a:prstGeom>
          <a:noFill/>
          <a:ln/>
        </p:spPr>
        <p:txBody>
          <a:bodyPr wrap="square" lIns="0" tIns="0" rIns="0" bIns="0" rtlCol="0" anchor="ctr"/>
          <a:lstStyle/>
          <a:p>
            <a:pPr algn="ctr" indent="0" marL="0">
              <a:buNone/>
            </a:pPr>
            <a:r>
              <a:rPr lang="en-US" sz="1100" dirty="0">
                <a:solidFill>
                  <a:srgbClr val="EDF6F9"/>
                </a:solidFill>
                <a:latin typeface="Calibri" pitchFamily="34" charset="0"/>
                <a:ea typeface="Calibri" pitchFamily="34" charset="-122"/>
                <a:cs typeface="Calibri" pitchFamily="34" charset="-120"/>
              </a:rPr>
              <a:t>6</a:t>
            </a:r>
            <a:endParaRPr lang="en-US" sz="1100" dirty="0"/>
          </a:p>
        </p:txBody>
      </p:sp>
      <p:sp>
        <p:nvSpPr>
          <p:cNvPr id="34" name="Shape 32"/>
          <p:cNvSpPr/>
          <p:nvPr/>
        </p:nvSpPr>
        <p:spPr>
          <a:xfrm>
            <a:off x="457200" y="4754880"/>
            <a:ext cx="7772400" cy="10973"/>
          </a:xfrm>
          <a:prstGeom prst="rect">
            <a:avLst/>
          </a:prstGeom>
          <a:solidFill>
            <a:srgbClr val="83C5BE"/>
          </a:solidFill>
          <a:ln w="12700">
            <a:solidFill>
              <a:srgbClr val="83C5BE"/>
            </a:solidFill>
            <a:prstDash val="solid"/>
          </a:ln>
        </p:spPr>
      </p:sp>
      <p:sp>
        <p:nvSpPr>
          <p:cNvPr id="35" name="Text 33"/>
          <p:cNvSpPr/>
          <p:nvPr/>
        </p:nvSpPr>
        <p:spPr>
          <a:xfrm>
            <a:off x="457200" y="4773168"/>
            <a:ext cx="7772400" cy="219456"/>
          </a:xfrm>
          <a:prstGeom prst="rect">
            <a:avLst/>
          </a:prstGeom>
          <a:noFill/>
          <a:ln/>
        </p:spPr>
        <p:txBody>
          <a:bodyPr wrap="square" lIns="0" tIns="0" rIns="0" bIns="0" rtlCol="0" anchor="ctr"/>
          <a:lstStyle/>
          <a:p>
            <a:pPr algn="l" indent="0" marL="0">
              <a:buNone/>
            </a:pPr>
            <a:r>
              <a:rPr lang="en-US" sz="900" dirty="0">
                <a:solidFill>
                  <a:srgbClr val="006D77">
                    <a:alpha val="55000"/>
                  </a:srgbClr>
                </a:solidFill>
                <a:latin typeface="Calibri" pitchFamily="34" charset="0"/>
                <a:ea typeface="Calibri" pitchFamily="34" charset="-122"/>
                <a:cs typeface="Calibri" pitchFamily="34" charset="-120"/>
              </a:rPr>
              <a:t>Source: https://cs2680.seas.harvard.edu/slides/2_agent_use_1.pdf</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DF6F9"/>
        </a:solidFill>
      </p:bgPr>
    </p:bg>
    <p:spTree>
      <p:nvGrpSpPr>
        <p:cNvPr id="1" name=""/>
        <p:cNvGrpSpPr/>
        <p:nvPr/>
      </p:nvGrpSpPr>
      <p:grpSpPr>
        <a:xfrm>
          <a:off x="0" y="0"/>
          <a:ext cx="0" cy="0"/>
          <a:chOff x="0" y="0"/>
          <a:chExt cx="0" cy="0"/>
        </a:xfrm>
      </p:grpSpPr>
      <p:sp>
        <p:nvSpPr>
          <p:cNvPr id="2" name="Text 0"/>
          <p:cNvSpPr/>
          <p:nvPr/>
        </p:nvSpPr>
        <p:spPr>
          <a:xfrm>
            <a:off x="457200" y="310896"/>
            <a:ext cx="8229600" cy="219456"/>
          </a:xfrm>
          <a:prstGeom prst="rect">
            <a:avLst/>
          </a:prstGeom>
          <a:noFill/>
          <a:ln/>
        </p:spPr>
        <p:txBody>
          <a:bodyPr wrap="square" lIns="0" tIns="0" rIns="0" bIns="0" rtlCol="0" anchor="ctr"/>
          <a:lstStyle/>
          <a:p>
            <a:pPr algn="l" indent="0" marL="0">
              <a:buNone/>
            </a:pPr>
            <a:r>
              <a:rPr lang="en-US" sz="1100" spc="140" kern="0" dirty="0">
                <a:solidFill>
                  <a:srgbClr val="E29578"/>
                </a:solidFill>
                <a:latin typeface="Calibri" pitchFamily="34" charset="0"/>
                <a:ea typeface="Calibri" pitchFamily="34" charset="-122"/>
                <a:cs typeface="Calibri" pitchFamily="34" charset="-120"/>
              </a:rPr>
              <a:t>GROWTH AND COMPACTION</a:t>
            </a:r>
            <a:endParaRPr lang="en-US" sz="1100" dirty="0"/>
          </a:p>
        </p:txBody>
      </p:sp>
      <p:sp>
        <p:nvSpPr>
          <p:cNvPr id="3" name="Text 1"/>
          <p:cNvSpPr/>
          <p:nvPr/>
        </p:nvSpPr>
        <p:spPr>
          <a:xfrm>
            <a:off x="457200" y="548640"/>
            <a:ext cx="8229600" cy="566928"/>
          </a:xfrm>
          <a:prstGeom prst="rect">
            <a:avLst/>
          </a:prstGeom>
          <a:noFill/>
          <a:ln/>
        </p:spPr>
        <p:txBody>
          <a:bodyPr wrap="square" lIns="0" tIns="0" rIns="0" bIns="0" rtlCol="0" anchor="ctr">
            <a:normAutofit/>
          </a:bodyPr>
          <a:lstStyle/>
          <a:p>
            <a:pPr algn="l" indent="0" marL="0">
              <a:buNone/>
            </a:pPr>
            <a:r>
              <a:rPr lang="en-US" sz="2700" b="1" dirty="0">
                <a:solidFill>
                  <a:srgbClr val="006D77"/>
                </a:solidFill>
                <a:latin typeface="Georgia" pitchFamily="34" charset="0"/>
                <a:ea typeface="Georgia" pitchFamily="34" charset="-122"/>
                <a:cs typeface="Georgia" pitchFamily="34" charset="-120"/>
              </a:rPr>
              <a:t>Context is not free</a:t>
            </a:r>
            <a:endParaRPr lang="en-US" sz="2700" dirty="0"/>
          </a:p>
        </p:txBody>
      </p:sp>
      <p:sp>
        <p:nvSpPr>
          <p:cNvPr id="4" name="Text 2"/>
          <p:cNvSpPr/>
          <p:nvPr/>
        </p:nvSpPr>
        <p:spPr>
          <a:xfrm>
            <a:off x="457200" y="1133856"/>
            <a:ext cx="8229600" cy="256032"/>
          </a:xfrm>
          <a:prstGeom prst="rect">
            <a:avLst/>
          </a:prstGeom>
          <a:noFill/>
          <a:ln/>
        </p:spPr>
        <p:txBody>
          <a:bodyPr wrap="square" lIns="0" tIns="0" rIns="0" bIns="0" rtlCol="0" anchor="ctr"/>
          <a:lstStyle/>
          <a:p>
            <a:pPr algn="l" indent="0" marL="0">
              <a:buNone/>
            </a:pPr>
            <a:r>
              <a:rPr lang="en-US" sz="1100" dirty="0">
                <a:solidFill>
                  <a:srgbClr val="006D77">
                    <a:alpha val="80000"/>
                  </a:srgbClr>
                </a:solidFill>
                <a:latin typeface="Calibri" pitchFamily="34" charset="0"/>
                <a:ea typeface="Calibri" pitchFamily="34" charset="-122"/>
                <a:cs typeface="Calibri" pitchFamily="34" charset="-120"/>
              </a:rPr>
              <a:t>Context grows with every step, and is then compacted.</a:t>
            </a:r>
            <a:endParaRPr lang="en-US" sz="1100" dirty="0"/>
          </a:p>
        </p:txBody>
      </p:sp>
      <p:sp>
        <p:nvSpPr>
          <p:cNvPr id="5" name="Shape 3"/>
          <p:cNvSpPr/>
          <p:nvPr/>
        </p:nvSpPr>
        <p:spPr>
          <a:xfrm>
            <a:off x="548640" y="1481328"/>
            <a:ext cx="548640" cy="566928"/>
          </a:xfrm>
          <a:prstGeom prst="rect">
            <a:avLst/>
          </a:prstGeom>
          <a:solidFill>
            <a:srgbClr val="006D77"/>
          </a:solidFill>
          <a:ln w="12700">
            <a:solidFill>
              <a:srgbClr val="006D77"/>
            </a:solidFill>
            <a:prstDash val="solid"/>
          </a:ln>
        </p:spPr>
      </p:sp>
      <p:sp>
        <p:nvSpPr>
          <p:cNvPr id="6" name="Shape 4"/>
          <p:cNvSpPr/>
          <p:nvPr/>
        </p:nvSpPr>
        <p:spPr>
          <a:xfrm>
            <a:off x="1143000" y="1481328"/>
            <a:ext cx="548640" cy="566928"/>
          </a:xfrm>
          <a:prstGeom prst="rect">
            <a:avLst/>
          </a:prstGeom>
          <a:solidFill>
            <a:srgbClr val="006D77"/>
          </a:solidFill>
          <a:ln w="12700">
            <a:solidFill>
              <a:srgbClr val="006D77"/>
            </a:solidFill>
            <a:prstDash val="solid"/>
          </a:ln>
        </p:spPr>
      </p:sp>
      <p:sp>
        <p:nvSpPr>
          <p:cNvPr id="7" name="Shape 5"/>
          <p:cNvSpPr/>
          <p:nvPr/>
        </p:nvSpPr>
        <p:spPr>
          <a:xfrm>
            <a:off x="1737360" y="1481328"/>
            <a:ext cx="548640" cy="566928"/>
          </a:xfrm>
          <a:prstGeom prst="rect">
            <a:avLst/>
          </a:prstGeom>
          <a:solidFill>
            <a:srgbClr val="006D77"/>
          </a:solidFill>
          <a:ln w="12700">
            <a:solidFill>
              <a:srgbClr val="006D77"/>
            </a:solidFill>
            <a:prstDash val="solid"/>
          </a:ln>
        </p:spPr>
      </p:sp>
      <p:sp>
        <p:nvSpPr>
          <p:cNvPr id="8" name="Shape 6"/>
          <p:cNvSpPr/>
          <p:nvPr/>
        </p:nvSpPr>
        <p:spPr>
          <a:xfrm>
            <a:off x="2331720" y="1481328"/>
            <a:ext cx="548640" cy="566928"/>
          </a:xfrm>
          <a:prstGeom prst="rect">
            <a:avLst/>
          </a:prstGeom>
          <a:solidFill>
            <a:srgbClr val="006D77"/>
          </a:solidFill>
          <a:ln w="12700">
            <a:solidFill>
              <a:srgbClr val="006D77"/>
            </a:solidFill>
            <a:prstDash val="solid"/>
          </a:ln>
        </p:spPr>
      </p:sp>
      <p:sp>
        <p:nvSpPr>
          <p:cNvPr id="9" name="Shape 7"/>
          <p:cNvSpPr/>
          <p:nvPr/>
        </p:nvSpPr>
        <p:spPr>
          <a:xfrm>
            <a:off x="2926080" y="1481328"/>
            <a:ext cx="548640" cy="566928"/>
          </a:xfrm>
          <a:prstGeom prst="rect">
            <a:avLst/>
          </a:prstGeom>
          <a:solidFill>
            <a:srgbClr val="006D77"/>
          </a:solidFill>
          <a:ln w="12700">
            <a:solidFill>
              <a:srgbClr val="006D77"/>
            </a:solidFill>
            <a:prstDash val="solid"/>
          </a:ln>
        </p:spPr>
      </p:sp>
      <p:sp>
        <p:nvSpPr>
          <p:cNvPr id="10" name="Shape 8"/>
          <p:cNvSpPr/>
          <p:nvPr/>
        </p:nvSpPr>
        <p:spPr>
          <a:xfrm>
            <a:off x="3520440" y="1481328"/>
            <a:ext cx="548640" cy="566928"/>
          </a:xfrm>
          <a:prstGeom prst="rect">
            <a:avLst/>
          </a:prstGeom>
          <a:solidFill>
            <a:srgbClr val="006D77"/>
          </a:solidFill>
          <a:ln w="12700">
            <a:solidFill>
              <a:srgbClr val="006D77"/>
            </a:solidFill>
            <a:prstDash val="solid"/>
          </a:ln>
        </p:spPr>
      </p:sp>
      <p:sp>
        <p:nvSpPr>
          <p:cNvPr id="11" name="Shape 9"/>
          <p:cNvSpPr/>
          <p:nvPr/>
        </p:nvSpPr>
        <p:spPr>
          <a:xfrm>
            <a:off x="4114800" y="1481328"/>
            <a:ext cx="548640" cy="566928"/>
          </a:xfrm>
          <a:prstGeom prst="rect">
            <a:avLst/>
          </a:prstGeom>
          <a:solidFill>
            <a:srgbClr val="006D77"/>
          </a:solidFill>
          <a:ln w="12700">
            <a:solidFill>
              <a:srgbClr val="006D77"/>
            </a:solidFill>
            <a:prstDash val="solid"/>
          </a:ln>
        </p:spPr>
      </p:sp>
      <p:sp>
        <p:nvSpPr>
          <p:cNvPr id="12" name="Shape 10"/>
          <p:cNvSpPr/>
          <p:nvPr/>
        </p:nvSpPr>
        <p:spPr>
          <a:xfrm>
            <a:off x="4709160" y="1481328"/>
            <a:ext cx="548640" cy="566928"/>
          </a:xfrm>
          <a:prstGeom prst="rect">
            <a:avLst/>
          </a:prstGeom>
          <a:solidFill>
            <a:srgbClr val="006D77"/>
          </a:solidFill>
          <a:ln w="12700">
            <a:solidFill>
              <a:srgbClr val="006D77"/>
            </a:solidFill>
            <a:prstDash val="solid"/>
          </a:ln>
        </p:spPr>
      </p:sp>
      <p:sp>
        <p:nvSpPr>
          <p:cNvPr id="13" name="Shape 11"/>
          <p:cNvSpPr/>
          <p:nvPr/>
        </p:nvSpPr>
        <p:spPr>
          <a:xfrm>
            <a:off x="5440680" y="1481328"/>
            <a:ext cx="1234440" cy="566928"/>
          </a:xfrm>
          <a:prstGeom prst="rect">
            <a:avLst/>
          </a:prstGeom>
          <a:solidFill>
            <a:srgbClr val="E29578"/>
          </a:solidFill>
          <a:ln w="12700">
            <a:solidFill>
              <a:srgbClr val="E29578"/>
            </a:solidFill>
            <a:prstDash val="solid"/>
          </a:ln>
        </p:spPr>
      </p:sp>
      <p:sp>
        <p:nvSpPr>
          <p:cNvPr id="14" name="Text 12"/>
          <p:cNvSpPr/>
          <p:nvPr/>
        </p:nvSpPr>
        <p:spPr>
          <a:xfrm>
            <a:off x="5440680" y="1481328"/>
            <a:ext cx="1234440" cy="566928"/>
          </a:xfrm>
          <a:prstGeom prst="rect">
            <a:avLst/>
          </a:prstGeom>
          <a:noFill/>
          <a:ln/>
        </p:spPr>
        <p:txBody>
          <a:bodyPr wrap="square" lIns="0" tIns="0" rIns="0" bIns="0" rtlCol="0" anchor="ctr"/>
          <a:lstStyle/>
          <a:p>
            <a:pPr algn="ctr" indent="0" marL="0">
              <a:buNone/>
            </a:pPr>
            <a:r>
              <a:rPr lang="en-US" sz="900" dirty="0">
                <a:solidFill>
                  <a:srgbClr val="006D77"/>
                </a:solidFill>
                <a:latin typeface="Calibri" pitchFamily="34" charset="0"/>
                <a:ea typeface="Calibri" pitchFamily="34" charset="-122"/>
                <a:cs typeface="Calibri" pitchFamily="34" charset="-120"/>
              </a:rPr>
              <a:t>COMPACT</a:t>
            </a:r>
            <a:endParaRPr lang="en-US" sz="900" dirty="0"/>
          </a:p>
        </p:txBody>
      </p:sp>
      <p:sp>
        <p:nvSpPr>
          <p:cNvPr id="15" name="Shape 13"/>
          <p:cNvSpPr/>
          <p:nvPr/>
        </p:nvSpPr>
        <p:spPr>
          <a:xfrm>
            <a:off x="6812280" y="1481328"/>
            <a:ext cx="548640" cy="566928"/>
          </a:xfrm>
          <a:prstGeom prst="rect">
            <a:avLst/>
          </a:prstGeom>
          <a:solidFill>
            <a:srgbClr val="FFDDD2"/>
          </a:solidFill>
          <a:ln w="9525">
            <a:solidFill>
              <a:srgbClr val="83C5BE"/>
            </a:solidFill>
            <a:prstDash val="solid"/>
          </a:ln>
        </p:spPr>
      </p:sp>
      <p:sp>
        <p:nvSpPr>
          <p:cNvPr id="16" name="Shape 14"/>
          <p:cNvSpPr/>
          <p:nvPr/>
        </p:nvSpPr>
        <p:spPr>
          <a:xfrm>
            <a:off x="7406640" y="1481328"/>
            <a:ext cx="548640" cy="566928"/>
          </a:xfrm>
          <a:prstGeom prst="rect">
            <a:avLst/>
          </a:prstGeom>
          <a:solidFill>
            <a:srgbClr val="FFDDD2"/>
          </a:solidFill>
          <a:ln w="9525">
            <a:solidFill>
              <a:srgbClr val="83C5BE"/>
            </a:solidFill>
            <a:prstDash val="solid"/>
          </a:ln>
        </p:spPr>
      </p:sp>
      <p:sp>
        <p:nvSpPr>
          <p:cNvPr id="17" name="Shape 15"/>
          <p:cNvSpPr/>
          <p:nvPr/>
        </p:nvSpPr>
        <p:spPr>
          <a:xfrm>
            <a:off x="8001000" y="1481328"/>
            <a:ext cx="548640" cy="566928"/>
          </a:xfrm>
          <a:prstGeom prst="rect">
            <a:avLst/>
          </a:prstGeom>
          <a:solidFill>
            <a:srgbClr val="FFDDD2"/>
          </a:solidFill>
          <a:ln w="9525">
            <a:solidFill>
              <a:srgbClr val="83C5BE"/>
            </a:solidFill>
            <a:prstDash val="solid"/>
          </a:ln>
        </p:spPr>
      </p:sp>
      <p:sp>
        <p:nvSpPr>
          <p:cNvPr id="18" name="Text 16"/>
          <p:cNvSpPr/>
          <p:nvPr/>
        </p:nvSpPr>
        <p:spPr>
          <a:xfrm>
            <a:off x="548640" y="2103120"/>
            <a:ext cx="2377440" cy="237744"/>
          </a:xfrm>
          <a:prstGeom prst="rect">
            <a:avLst/>
          </a:prstGeom>
          <a:noFill/>
          <a:ln/>
        </p:spPr>
        <p:txBody>
          <a:bodyPr wrap="square" lIns="0" tIns="0" rIns="0" bIns="0" rtlCol="0" anchor="ctr"/>
          <a:lstStyle/>
          <a:p>
            <a:pPr algn="l" indent="0" marL="0">
              <a:buNone/>
            </a:pPr>
            <a:r>
              <a:rPr lang="en-US" sz="900" dirty="0">
                <a:solidFill>
                  <a:srgbClr val="006D77">
                    <a:alpha val="70000"/>
                  </a:srgbClr>
                </a:solidFill>
                <a:latin typeface="Calibri" pitchFamily="34" charset="0"/>
                <a:ea typeface="Calibri" pitchFamily="34" charset="-122"/>
                <a:cs typeface="Calibri" pitchFamily="34" charset="-120"/>
              </a:rPr>
              <a:t>request 1 ... request N</a:t>
            </a:r>
            <a:endParaRPr lang="en-US" sz="900" dirty="0"/>
          </a:p>
        </p:txBody>
      </p:sp>
      <p:sp>
        <p:nvSpPr>
          <p:cNvPr id="19" name="Text 17"/>
          <p:cNvSpPr/>
          <p:nvPr/>
        </p:nvSpPr>
        <p:spPr>
          <a:xfrm>
            <a:off x="2926080" y="2103120"/>
            <a:ext cx="3749040" cy="237744"/>
          </a:xfrm>
          <a:prstGeom prst="rect">
            <a:avLst/>
          </a:prstGeom>
          <a:noFill/>
          <a:ln/>
        </p:spPr>
        <p:txBody>
          <a:bodyPr wrap="square" lIns="0" tIns="0" rIns="0" bIns="0" rtlCol="0" anchor="ctr"/>
          <a:lstStyle/>
          <a:p>
            <a:pPr algn="ctr" indent="0" marL="0">
              <a:buNone/>
            </a:pPr>
            <a:r>
              <a:rPr lang="en-US" sz="900" dirty="0">
                <a:solidFill>
                  <a:srgbClr val="006D77">
                    <a:alpha val="70000"/>
                  </a:srgbClr>
                </a:solidFill>
                <a:latin typeface="Calibri" pitchFamily="34" charset="0"/>
                <a:ea typeface="Calibri" pitchFamily="34" charset="-122"/>
                <a:cs typeface="Calibri" pitchFamily="34" charset="-120"/>
              </a:rPr>
              <a:t>summarise the old trajectory, re-inject CLAUDE.md and memory</a:t>
            </a:r>
            <a:endParaRPr lang="en-US" sz="900" dirty="0"/>
          </a:p>
        </p:txBody>
      </p:sp>
      <p:sp>
        <p:nvSpPr>
          <p:cNvPr id="20" name="Text 18"/>
          <p:cNvSpPr/>
          <p:nvPr/>
        </p:nvSpPr>
        <p:spPr>
          <a:xfrm>
            <a:off x="6812280" y="2103120"/>
            <a:ext cx="1783080" cy="237744"/>
          </a:xfrm>
          <a:prstGeom prst="rect">
            <a:avLst/>
          </a:prstGeom>
          <a:noFill/>
          <a:ln/>
        </p:spPr>
        <p:txBody>
          <a:bodyPr wrap="square" lIns="0" tIns="0" rIns="0" bIns="0" rtlCol="0" anchor="ctr"/>
          <a:lstStyle/>
          <a:p>
            <a:pPr algn="r" indent="0" marL="0">
              <a:buNone/>
            </a:pPr>
            <a:r>
              <a:rPr lang="en-US" sz="900" dirty="0">
                <a:solidFill>
                  <a:srgbClr val="006D77">
                    <a:alpha val="70000"/>
                  </a:srgbClr>
                </a:solidFill>
                <a:latin typeface="Calibri" pitchFamily="34" charset="0"/>
                <a:ea typeface="Calibri" pitchFamily="34" charset="-122"/>
                <a:cs typeface="Calibri" pitchFamily="34" charset="-120"/>
              </a:rPr>
              <a:t>and it grows again</a:t>
            </a:r>
            <a:endParaRPr lang="en-US" sz="900" dirty="0"/>
          </a:p>
        </p:txBody>
      </p:sp>
      <p:sp>
        <p:nvSpPr>
          <p:cNvPr id="21" name="Shape 19"/>
          <p:cNvSpPr/>
          <p:nvPr/>
        </p:nvSpPr>
        <p:spPr>
          <a:xfrm>
            <a:off x="457200" y="2514600"/>
            <a:ext cx="4023360" cy="1828800"/>
          </a:xfrm>
          <a:prstGeom prst="rect">
            <a:avLst/>
          </a:prstGeom>
          <a:solidFill>
            <a:srgbClr val="EDF6F9"/>
          </a:solidFill>
          <a:ln w="9525">
            <a:solidFill>
              <a:srgbClr val="83C5BE"/>
            </a:solidFill>
            <a:prstDash val="solid"/>
          </a:ln>
          <a:effectLst>
            <a:outerShdw sx="100000" sy="100000" kx="0" ky="0" algn="bl" rotWithShape="0" blurRad="101600" dist="25400" dir="5400000">
              <a:srgbClr val="006d77">
                <a:alpha val="12000"/>
              </a:srgbClr>
            </a:outerShdw>
          </a:effectLst>
        </p:spPr>
      </p:sp>
      <p:sp>
        <p:nvSpPr>
          <p:cNvPr id="22" name="Shape 20"/>
          <p:cNvSpPr/>
          <p:nvPr/>
        </p:nvSpPr>
        <p:spPr>
          <a:xfrm>
            <a:off x="457200" y="2514600"/>
            <a:ext cx="50292" cy="1828800"/>
          </a:xfrm>
          <a:prstGeom prst="rect">
            <a:avLst/>
          </a:prstGeom>
          <a:solidFill>
            <a:srgbClr val="E29578"/>
          </a:solidFill>
          <a:ln w="12700">
            <a:solidFill>
              <a:srgbClr val="E29578"/>
            </a:solidFill>
            <a:prstDash val="solid"/>
          </a:ln>
        </p:spPr>
      </p:sp>
      <p:sp>
        <p:nvSpPr>
          <p:cNvPr id="23" name="Text 21"/>
          <p:cNvSpPr/>
          <p:nvPr/>
        </p:nvSpPr>
        <p:spPr>
          <a:xfrm>
            <a:off x="640080" y="2660904"/>
            <a:ext cx="3694176" cy="219456"/>
          </a:xfrm>
          <a:prstGeom prst="rect">
            <a:avLst/>
          </a:prstGeom>
          <a:noFill/>
          <a:ln/>
        </p:spPr>
        <p:txBody>
          <a:bodyPr wrap="square" lIns="0" tIns="0" rIns="0" bIns="0" rtlCol="0" anchor="ctr"/>
          <a:lstStyle/>
          <a:p>
            <a:pPr algn="l" indent="0" marL="0">
              <a:buNone/>
            </a:pPr>
            <a:r>
              <a:rPr lang="en-US" sz="1000" b="1" spc="100" kern="0" dirty="0">
                <a:solidFill>
                  <a:srgbClr val="006D77"/>
                </a:solidFill>
                <a:latin typeface="Calibri" pitchFamily="34" charset="0"/>
                <a:ea typeface="Calibri" pitchFamily="34" charset="-122"/>
                <a:cs typeface="Calibri" pitchFamily="34" charset="-120"/>
              </a:rPr>
              <a:t>TYPICAL CONTEXT SIZE</a:t>
            </a:r>
            <a:endParaRPr lang="en-US" sz="1000" dirty="0"/>
          </a:p>
        </p:txBody>
      </p:sp>
      <p:sp>
        <p:nvSpPr>
          <p:cNvPr id="24" name="Text 22"/>
          <p:cNvSpPr/>
          <p:nvPr/>
        </p:nvSpPr>
        <p:spPr>
          <a:xfrm>
            <a:off x="640080" y="2935224"/>
            <a:ext cx="3566160" cy="658368"/>
          </a:xfrm>
          <a:prstGeom prst="rect">
            <a:avLst/>
          </a:prstGeom>
          <a:noFill/>
          <a:ln/>
        </p:spPr>
        <p:txBody>
          <a:bodyPr wrap="square" lIns="0" tIns="0" rIns="0" bIns="0" rtlCol="0" anchor="ctr">
            <a:normAutofit/>
          </a:bodyPr>
          <a:lstStyle/>
          <a:p>
            <a:pPr algn="l" indent="0" marL="0">
              <a:buNone/>
            </a:pPr>
            <a:r>
              <a:rPr lang="en-US" sz="4000" b="1" dirty="0">
                <a:solidFill>
                  <a:srgbClr val="006D77"/>
                </a:solidFill>
                <a:latin typeface="Georgia" pitchFamily="34" charset="0"/>
                <a:ea typeface="Georgia" pitchFamily="34" charset="-122"/>
                <a:cs typeface="Georgia" pitchFamily="34" charset="-120"/>
              </a:rPr>
              <a:t>1M tokens</a:t>
            </a:r>
            <a:endParaRPr lang="en-US" sz="4000" dirty="0"/>
          </a:p>
        </p:txBody>
      </p:sp>
      <p:sp>
        <p:nvSpPr>
          <p:cNvPr id="25" name="Text 23"/>
          <p:cNvSpPr/>
          <p:nvPr/>
        </p:nvSpPr>
        <p:spPr>
          <a:xfrm>
            <a:off x="640080" y="3593592"/>
            <a:ext cx="3566160" cy="420624"/>
          </a:xfrm>
          <a:prstGeom prst="rect">
            <a:avLst/>
          </a:prstGeom>
          <a:noFill/>
          <a:ln/>
        </p:spPr>
        <p:txBody>
          <a:bodyPr wrap="square" lIns="0" tIns="0" rIns="0" bIns="0" rtlCol="0" anchor="t"/>
          <a:lstStyle/>
          <a:p>
            <a:pPr algn="l" indent="0" marL="0">
              <a:buNone/>
            </a:pPr>
            <a:r>
              <a:rPr lang="en-US" sz="1100" dirty="0">
                <a:solidFill>
                  <a:srgbClr val="006D77">
                    <a:alpha val="65000"/>
                  </a:srgbClr>
                </a:solidFill>
                <a:latin typeface="Calibri" pitchFamily="34" charset="0"/>
                <a:ea typeface="Calibri" pitchFamily="34" charset="-122"/>
                <a:cs typeface="Calibri" pitchFamily="34" charset="-120"/>
              </a:rPr>
              <a:t>256K was common earlier this year</a:t>
            </a:r>
            <a:endParaRPr lang="en-US" sz="1100" dirty="0"/>
          </a:p>
        </p:txBody>
      </p:sp>
      <p:sp>
        <p:nvSpPr>
          <p:cNvPr id="26" name="Shape 24"/>
          <p:cNvSpPr/>
          <p:nvPr/>
        </p:nvSpPr>
        <p:spPr>
          <a:xfrm>
            <a:off x="4663440" y="2514600"/>
            <a:ext cx="4023360" cy="1828800"/>
          </a:xfrm>
          <a:prstGeom prst="rect">
            <a:avLst/>
          </a:prstGeom>
          <a:solidFill>
            <a:srgbClr val="FFDDD2"/>
          </a:solidFill>
          <a:ln w="9525">
            <a:solidFill>
              <a:srgbClr val="83C5BE"/>
            </a:solidFill>
            <a:prstDash val="solid"/>
          </a:ln>
          <a:effectLst>
            <a:outerShdw sx="100000" sy="100000" kx="0" ky="0" algn="bl" rotWithShape="0" blurRad="101600" dist="25400" dir="5400000">
              <a:srgbClr val="006d77">
                <a:alpha val="12000"/>
              </a:srgbClr>
            </a:outerShdw>
          </a:effectLst>
        </p:spPr>
      </p:sp>
      <p:sp>
        <p:nvSpPr>
          <p:cNvPr id="27" name="Shape 25"/>
          <p:cNvSpPr/>
          <p:nvPr/>
        </p:nvSpPr>
        <p:spPr>
          <a:xfrm>
            <a:off x="4663440" y="2514600"/>
            <a:ext cx="50292" cy="1828800"/>
          </a:xfrm>
          <a:prstGeom prst="rect">
            <a:avLst/>
          </a:prstGeom>
          <a:solidFill>
            <a:srgbClr val="E29578"/>
          </a:solidFill>
          <a:ln w="12700">
            <a:solidFill>
              <a:srgbClr val="E29578"/>
            </a:solidFill>
            <a:prstDash val="solid"/>
          </a:ln>
        </p:spPr>
      </p:sp>
      <p:sp>
        <p:nvSpPr>
          <p:cNvPr id="28" name="Text 26"/>
          <p:cNvSpPr/>
          <p:nvPr/>
        </p:nvSpPr>
        <p:spPr>
          <a:xfrm>
            <a:off x="4846320" y="2660904"/>
            <a:ext cx="3694176" cy="219456"/>
          </a:xfrm>
          <a:prstGeom prst="rect">
            <a:avLst/>
          </a:prstGeom>
          <a:noFill/>
          <a:ln/>
        </p:spPr>
        <p:txBody>
          <a:bodyPr wrap="square" lIns="0" tIns="0" rIns="0" bIns="0" rtlCol="0" anchor="ctr"/>
          <a:lstStyle/>
          <a:p>
            <a:pPr algn="l" indent="0" marL="0">
              <a:buNone/>
            </a:pPr>
            <a:r>
              <a:rPr lang="en-US" sz="1000" b="1" spc="100" kern="0" dirty="0">
                <a:solidFill>
                  <a:srgbClr val="006D77"/>
                </a:solidFill>
                <a:latin typeface="Calibri" pitchFamily="34" charset="0"/>
                <a:ea typeface="Calibri" pitchFamily="34" charset="-122"/>
                <a:cs typeface="Calibri" pitchFamily="34" charset="-120"/>
              </a:rPr>
              <a:t>WHY CONTEXT IS NOT FREE</a:t>
            </a:r>
            <a:endParaRPr lang="en-US" sz="1000" dirty="0"/>
          </a:p>
        </p:txBody>
      </p:sp>
      <p:sp>
        <p:nvSpPr>
          <p:cNvPr id="29" name="Text 27"/>
          <p:cNvSpPr/>
          <p:nvPr/>
        </p:nvSpPr>
        <p:spPr>
          <a:xfrm>
            <a:off x="4846320" y="2990088"/>
            <a:ext cx="3694176" cy="365760"/>
          </a:xfrm>
          <a:prstGeom prst="rect">
            <a:avLst/>
          </a:prstGeom>
          <a:noFill/>
          <a:ln/>
        </p:spPr>
        <p:txBody>
          <a:bodyPr wrap="square" lIns="0" tIns="0" rIns="0" bIns="0" rtlCol="0" anchor="t"/>
          <a:lstStyle/>
          <a:p>
            <a:pPr algn="l" indent="0" marL="0">
              <a:buNone/>
            </a:pPr>
            <a:r>
              <a:rPr lang="en-US" sz="1200" dirty="0">
                <a:solidFill>
                  <a:srgbClr val="006D77"/>
                </a:solidFill>
                <a:latin typeface="Calibri" pitchFamily="34" charset="0"/>
                <a:ea typeface="Calibri" pitchFamily="34" charset="-122"/>
                <a:cs typeface="Calibri" pitchFamily="34" charset="-120"/>
              </a:rPr>
              <a:t>Prefix-cache reads account for most of the cost.</a:t>
            </a:r>
            <a:endParaRPr lang="en-US" sz="1200" dirty="0"/>
          </a:p>
        </p:txBody>
      </p:sp>
      <p:sp>
        <p:nvSpPr>
          <p:cNvPr id="30" name="Text 28"/>
          <p:cNvSpPr/>
          <p:nvPr/>
        </p:nvSpPr>
        <p:spPr>
          <a:xfrm>
            <a:off x="4846320" y="3447288"/>
            <a:ext cx="3694176" cy="548640"/>
          </a:xfrm>
          <a:prstGeom prst="rect">
            <a:avLst/>
          </a:prstGeom>
          <a:noFill/>
          <a:ln/>
        </p:spPr>
        <p:txBody>
          <a:bodyPr wrap="square" lIns="0" tIns="0" rIns="0" bIns="0" rtlCol="0" anchor="t"/>
          <a:lstStyle/>
          <a:p>
            <a:pPr algn="l" indent="0" marL="0">
              <a:buNone/>
            </a:pPr>
            <a:r>
              <a:rPr lang="en-US" sz="1000" dirty="0">
                <a:solidFill>
                  <a:srgbClr val="006D77">
                    <a:alpha val="80000"/>
                  </a:srgbClr>
                </a:solidFill>
                <a:latin typeface="Calibri" pitchFamily="34" charset="0"/>
                <a:ea typeface="Calibri" pitchFamily="34" charset="-122"/>
                <a:cs typeface="Calibri" pitchFamily="34" charset="-120"/>
              </a:rPr>
              <a:t>This is the systems problem Lecture 1 named: repeated prefixes become prefix caching.</a:t>
            </a:r>
            <a:endParaRPr lang="en-US" sz="1000" dirty="0"/>
          </a:p>
        </p:txBody>
      </p:sp>
      <p:sp>
        <p:nvSpPr>
          <p:cNvPr id="31" name="Shape 29"/>
          <p:cNvSpPr/>
          <p:nvPr/>
        </p:nvSpPr>
        <p:spPr>
          <a:xfrm>
            <a:off x="8485632" y="4645152"/>
            <a:ext cx="420624" cy="274320"/>
          </a:xfrm>
          <a:prstGeom prst="roundRect">
            <a:avLst>
              <a:gd name="adj" fmla="val 26667"/>
            </a:avLst>
          </a:prstGeom>
          <a:solidFill>
            <a:srgbClr val="006D77"/>
          </a:solidFill>
          <a:ln w="12700">
            <a:solidFill>
              <a:srgbClr val="006D77"/>
            </a:solidFill>
            <a:prstDash val="solid"/>
          </a:ln>
        </p:spPr>
      </p:sp>
      <p:sp>
        <p:nvSpPr>
          <p:cNvPr id="32" name="Text 30"/>
          <p:cNvSpPr/>
          <p:nvPr/>
        </p:nvSpPr>
        <p:spPr>
          <a:xfrm>
            <a:off x="8485632" y="4645152"/>
            <a:ext cx="420624" cy="274320"/>
          </a:xfrm>
          <a:prstGeom prst="rect">
            <a:avLst/>
          </a:prstGeom>
          <a:noFill/>
          <a:ln/>
        </p:spPr>
        <p:txBody>
          <a:bodyPr wrap="square" lIns="0" tIns="0" rIns="0" bIns="0" rtlCol="0" anchor="ctr"/>
          <a:lstStyle/>
          <a:p>
            <a:pPr algn="ctr" indent="0" marL="0">
              <a:buNone/>
            </a:pPr>
            <a:r>
              <a:rPr lang="en-US" sz="1100" dirty="0">
                <a:solidFill>
                  <a:srgbClr val="EDF6F9"/>
                </a:solidFill>
                <a:latin typeface="Calibri" pitchFamily="34" charset="0"/>
                <a:ea typeface="Calibri" pitchFamily="34" charset="-122"/>
                <a:cs typeface="Calibri" pitchFamily="34" charset="-120"/>
              </a:rPr>
              <a:t>7</a:t>
            </a:r>
            <a:endParaRPr lang="en-US" sz="1100" dirty="0"/>
          </a:p>
        </p:txBody>
      </p:sp>
      <p:sp>
        <p:nvSpPr>
          <p:cNvPr id="33" name="Shape 31"/>
          <p:cNvSpPr/>
          <p:nvPr/>
        </p:nvSpPr>
        <p:spPr>
          <a:xfrm>
            <a:off x="457200" y="4754880"/>
            <a:ext cx="7772400" cy="10973"/>
          </a:xfrm>
          <a:prstGeom prst="rect">
            <a:avLst/>
          </a:prstGeom>
          <a:solidFill>
            <a:srgbClr val="83C5BE"/>
          </a:solidFill>
          <a:ln w="12700">
            <a:solidFill>
              <a:srgbClr val="83C5BE"/>
            </a:solidFill>
            <a:prstDash val="solid"/>
          </a:ln>
        </p:spPr>
      </p:sp>
      <p:sp>
        <p:nvSpPr>
          <p:cNvPr id="34" name="Text 32"/>
          <p:cNvSpPr/>
          <p:nvPr/>
        </p:nvSpPr>
        <p:spPr>
          <a:xfrm>
            <a:off x="457200" y="4773168"/>
            <a:ext cx="7772400" cy="219456"/>
          </a:xfrm>
          <a:prstGeom prst="rect">
            <a:avLst/>
          </a:prstGeom>
          <a:noFill/>
          <a:ln/>
        </p:spPr>
        <p:txBody>
          <a:bodyPr wrap="square" lIns="0" tIns="0" rIns="0" bIns="0" rtlCol="0" anchor="ctr"/>
          <a:lstStyle/>
          <a:p>
            <a:pPr algn="l" indent="0" marL="0">
              <a:buNone/>
            </a:pPr>
            <a:r>
              <a:rPr lang="en-US" sz="900" dirty="0">
                <a:solidFill>
                  <a:srgbClr val="006D77">
                    <a:alpha val="55000"/>
                  </a:srgbClr>
                </a:solidFill>
                <a:latin typeface="Calibri" pitchFamily="34" charset="0"/>
                <a:ea typeface="Calibri" pitchFamily="34" charset="-122"/>
                <a:cs typeface="Calibri" pitchFamily="34" charset="-120"/>
              </a:rPr>
              <a:t>Source: https://cs2680.seas.harvard.edu/slides/2_agent_use_1.pdf</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DF6F9"/>
        </a:solidFill>
      </p:bgPr>
    </p:bg>
    <p:spTree>
      <p:nvGrpSpPr>
        <p:cNvPr id="1" name=""/>
        <p:cNvGrpSpPr/>
        <p:nvPr/>
      </p:nvGrpSpPr>
      <p:grpSpPr>
        <a:xfrm>
          <a:off x="0" y="0"/>
          <a:ext cx="0" cy="0"/>
          <a:chOff x="0" y="0"/>
          <a:chExt cx="0" cy="0"/>
        </a:xfrm>
      </p:grpSpPr>
      <p:sp>
        <p:nvSpPr>
          <p:cNvPr id="2" name="Text 0"/>
          <p:cNvSpPr/>
          <p:nvPr/>
        </p:nvSpPr>
        <p:spPr>
          <a:xfrm>
            <a:off x="457200" y="310896"/>
            <a:ext cx="8229600" cy="219456"/>
          </a:xfrm>
          <a:prstGeom prst="rect">
            <a:avLst/>
          </a:prstGeom>
          <a:noFill/>
          <a:ln/>
        </p:spPr>
        <p:txBody>
          <a:bodyPr wrap="square" lIns="0" tIns="0" rIns="0" bIns="0" rtlCol="0" anchor="ctr"/>
          <a:lstStyle/>
          <a:p>
            <a:pPr algn="l" indent="0" marL="0">
              <a:buNone/>
            </a:pPr>
            <a:r>
              <a:rPr lang="en-US" sz="1100" spc="140" kern="0" dirty="0">
                <a:solidFill>
                  <a:srgbClr val="E29578"/>
                </a:solidFill>
                <a:latin typeface="Calibri" pitchFamily="34" charset="0"/>
                <a:ea typeface="Calibri" pitchFamily="34" charset="-122"/>
                <a:cs typeface="Calibri" pitchFamily="34" charset="-120"/>
              </a:rPr>
              <a:t>MEMORY</a:t>
            </a:r>
            <a:endParaRPr lang="en-US" sz="1100" dirty="0"/>
          </a:p>
        </p:txBody>
      </p:sp>
      <p:sp>
        <p:nvSpPr>
          <p:cNvPr id="3" name="Text 1"/>
          <p:cNvSpPr/>
          <p:nvPr/>
        </p:nvSpPr>
        <p:spPr>
          <a:xfrm>
            <a:off x="457200" y="548640"/>
            <a:ext cx="8229600" cy="566928"/>
          </a:xfrm>
          <a:prstGeom prst="rect">
            <a:avLst/>
          </a:prstGeom>
          <a:noFill/>
          <a:ln/>
        </p:spPr>
        <p:txBody>
          <a:bodyPr wrap="square" lIns="0" tIns="0" rIns="0" bIns="0" rtlCol="0" anchor="ctr">
            <a:normAutofit/>
          </a:bodyPr>
          <a:lstStyle/>
          <a:p>
            <a:pPr algn="l" indent="0" marL="0">
              <a:buNone/>
            </a:pPr>
            <a:r>
              <a:rPr lang="en-US" sz="2700" b="1" dirty="0">
                <a:solidFill>
                  <a:srgbClr val="006D77"/>
                </a:solidFill>
                <a:latin typeface="Georgia" pitchFamily="34" charset="0"/>
                <a:ea typeface="Georgia" pitchFamily="34" charset="-122"/>
                <a:cs typeface="Georgia" pitchFamily="34" charset="-120"/>
              </a:rPr>
              <a:t>Memory is rented context</a:t>
            </a:r>
            <a:endParaRPr lang="en-US" sz="2700" dirty="0"/>
          </a:p>
        </p:txBody>
      </p:sp>
      <p:sp>
        <p:nvSpPr>
          <p:cNvPr id="4" name="Shape 2"/>
          <p:cNvSpPr/>
          <p:nvPr/>
        </p:nvSpPr>
        <p:spPr>
          <a:xfrm>
            <a:off x="457200" y="1234440"/>
            <a:ext cx="4023360" cy="2514600"/>
          </a:xfrm>
          <a:prstGeom prst="rect">
            <a:avLst/>
          </a:prstGeom>
          <a:solidFill>
            <a:srgbClr val="EDF6F9"/>
          </a:solidFill>
          <a:ln w="9525">
            <a:solidFill>
              <a:srgbClr val="83C5BE"/>
            </a:solidFill>
            <a:prstDash val="solid"/>
          </a:ln>
          <a:effectLst>
            <a:outerShdw sx="100000" sy="100000" kx="0" ky="0" algn="bl" rotWithShape="0" blurRad="101600" dist="25400" dir="5400000">
              <a:srgbClr val="006d77">
                <a:alpha val="12000"/>
              </a:srgbClr>
            </a:outerShdw>
          </a:effectLst>
        </p:spPr>
      </p:sp>
      <p:sp>
        <p:nvSpPr>
          <p:cNvPr id="5" name="Shape 3"/>
          <p:cNvSpPr/>
          <p:nvPr/>
        </p:nvSpPr>
        <p:spPr>
          <a:xfrm>
            <a:off x="457200" y="1234440"/>
            <a:ext cx="50292" cy="2514600"/>
          </a:xfrm>
          <a:prstGeom prst="rect">
            <a:avLst/>
          </a:prstGeom>
          <a:solidFill>
            <a:srgbClr val="E29578"/>
          </a:solidFill>
          <a:ln w="12700">
            <a:solidFill>
              <a:srgbClr val="E29578"/>
            </a:solidFill>
            <a:prstDash val="solid"/>
          </a:ln>
        </p:spPr>
      </p:sp>
      <p:sp>
        <p:nvSpPr>
          <p:cNvPr id="6" name="Text 4"/>
          <p:cNvSpPr/>
          <p:nvPr/>
        </p:nvSpPr>
        <p:spPr>
          <a:xfrm>
            <a:off x="640080" y="1380744"/>
            <a:ext cx="3694176" cy="219456"/>
          </a:xfrm>
          <a:prstGeom prst="rect">
            <a:avLst/>
          </a:prstGeom>
          <a:noFill/>
          <a:ln/>
        </p:spPr>
        <p:txBody>
          <a:bodyPr wrap="square" lIns="0" tIns="0" rIns="0" bIns="0" rtlCol="0" anchor="ctr"/>
          <a:lstStyle/>
          <a:p>
            <a:pPr algn="l" indent="0" marL="0">
              <a:buNone/>
            </a:pPr>
            <a:r>
              <a:rPr lang="en-US" sz="1000" b="1" spc="80" kern="0" dirty="0">
                <a:solidFill>
                  <a:srgbClr val="006D77"/>
                </a:solidFill>
                <a:latin typeface="Calibri" pitchFamily="34" charset="0"/>
                <a:ea typeface="Calibri" pitchFamily="34" charset="-122"/>
                <a:cs typeface="Calibri" pitchFamily="34" charset="-120"/>
              </a:rPr>
              <a:t>CLAUDE.md - WRITTEN BY YOU</a:t>
            </a:r>
            <a:endParaRPr lang="en-US" sz="1000" dirty="0"/>
          </a:p>
        </p:txBody>
      </p:sp>
      <p:sp>
        <p:nvSpPr>
          <p:cNvPr id="7" name="Text 5"/>
          <p:cNvSpPr/>
          <p:nvPr/>
        </p:nvSpPr>
        <p:spPr>
          <a:xfrm>
            <a:off x="640080" y="1655064"/>
            <a:ext cx="3694176" cy="1911096"/>
          </a:xfrm>
          <a:prstGeom prst="rect">
            <a:avLst/>
          </a:prstGeom>
          <a:noFill/>
          <a:ln/>
        </p:spPr>
        <p:txBody>
          <a:bodyPr wrap="square" lIns="0" tIns="0" rIns="0" bIns="0" rtlCol="0" anchor="t"/>
          <a:lstStyle/>
          <a:p>
            <a:pPr algn="l" marL="152400" indent="-152400">
              <a:spcAft>
                <a:spcPts val="400"/>
              </a:spcAft>
              <a:buSzPct val="100000"/>
              <a:buChar char="•"/>
            </a:pPr>
            <a:r>
              <a:rPr lang="en-US" sz="950" dirty="0">
                <a:solidFill>
                  <a:srgbClr val="006D77"/>
                </a:solidFill>
                <a:latin typeface="Calibri" pitchFamily="34" charset="0"/>
                <a:ea typeface="Calibri" pitchFamily="34" charset="-122"/>
                <a:cs typeface="Calibri" pitchFamily="34" charset="-120"/>
              </a:rPr>
              <a:t>Written by you: instructions and rules, in project, user or org scope</a:t>
            </a:r>
            <a:endParaRPr lang="en-US" sz="950" dirty="0"/>
          </a:p>
          <a:p>
            <a:pPr algn="l" marL="152400" indent="-152400">
              <a:spcAft>
                <a:spcPts val="400"/>
              </a:spcAft>
              <a:buSzPct val="100000"/>
              <a:buChar char="•"/>
            </a:pPr>
            <a:r>
              <a:rPr lang="en-US" sz="950" dirty="0">
                <a:solidFill>
                  <a:srgbClr val="006D77"/>
                </a:solidFill>
                <a:latin typeface="Calibri" pitchFamily="34" charset="0"/>
                <a:ea typeface="Calibri" pitchFamily="34" charset="-122"/>
                <a:cs typeface="Calibri" pitchFamily="34" charset="-120"/>
              </a:rPr>
              <a:t>Broadest scope first, closest file read last</a:t>
            </a:r>
            <a:endParaRPr lang="en-US" sz="950" dirty="0"/>
          </a:p>
          <a:p>
            <a:pPr algn="l" marL="152400" indent="-152400">
              <a:spcAft>
                <a:spcPts val="400"/>
              </a:spcAft>
              <a:buSzPct val="100000"/>
              <a:buChar char="•"/>
            </a:pPr>
            <a:r>
              <a:rPr lang="en-US" sz="950" dirty="0">
                <a:solidFill>
                  <a:srgbClr val="006D77"/>
                </a:solidFill>
                <a:latin typeface="Calibri" pitchFamily="34" charset="0"/>
                <a:ea typeface="Calibri" pitchFamily="34" charset="-122"/>
                <a:cs typeface="Calibri" pitchFamily="34" charset="-120"/>
              </a:rPr>
              <a:t>Under 200 lines per file</a:t>
            </a:r>
            <a:endParaRPr lang="en-US" sz="950" dirty="0"/>
          </a:p>
          <a:p>
            <a:pPr algn="l" marL="152400" indent="-152400">
              <a:spcAft>
                <a:spcPts val="400"/>
              </a:spcAft>
              <a:buSzPct val="100000"/>
              <a:buChar char="•"/>
            </a:pPr>
            <a:r>
              <a:rPr lang="en-US" sz="950" dirty="0">
                <a:solidFill>
                  <a:srgbClr val="006D77"/>
                </a:solidFill>
                <a:latin typeface="Calibri" pitchFamily="34" charset="0"/>
                <a:ea typeface="Calibri" pitchFamily="34" charset="-122"/>
                <a:cs typeface="Calibri" pitchFamily="34" charset="-120"/>
              </a:rPr>
              <a:t>Hold commands, hard constraints and facts the agent cannot cheaply infer</a:t>
            </a:r>
            <a:endParaRPr lang="en-US" sz="950" dirty="0"/>
          </a:p>
          <a:p>
            <a:pPr algn="l" marL="152400" indent="-152400">
              <a:spcAft>
                <a:spcPts val="400"/>
              </a:spcAft>
              <a:buSzPct val="100000"/>
              <a:buChar char="•"/>
            </a:pPr>
            <a:r>
              <a:rPr lang="en-US" sz="950" dirty="0">
                <a:solidFill>
                  <a:srgbClr val="006D77"/>
                </a:solidFill>
                <a:latin typeface="Calibri" pitchFamily="34" charset="0"/>
                <a:ea typeface="Calibri" pitchFamily="34" charset="-122"/>
                <a:cs typeface="Calibri" pitchFamily="34" charset="-120"/>
              </a:rPr>
              <a:t>Not what the model already knows, linter-enforced style, prose, changelogs or secrets</a:t>
            </a:r>
            <a:endParaRPr lang="en-US" sz="950" dirty="0"/>
          </a:p>
          <a:p>
            <a:pPr algn="l" marL="152400" indent="-152400">
              <a:spcAft>
                <a:spcPts val="400"/>
              </a:spcAft>
              <a:buSzPct val="100000"/>
              <a:buChar char="•"/>
            </a:pPr>
            <a:r>
              <a:rPr lang="en-US" sz="950" dirty="0">
                <a:solidFill>
                  <a:srgbClr val="006D77"/>
                </a:solidFill>
                <a:latin typeface="Calibri" pitchFamily="34" charset="0"/>
                <a:ea typeface="Calibri" pitchFamily="34" charset="-122"/>
                <a:cs typeface="Calibri" pitchFamily="34" charset="-120"/>
              </a:rPr>
              <a:t>Long files split into .claude/rules/ with a paths: frontmatter</a:t>
            </a:r>
            <a:endParaRPr lang="en-US" sz="950" dirty="0"/>
          </a:p>
        </p:txBody>
      </p:sp>
      <p:sp>
        <p:nvSpPr>
          <p:cNvPr id="8" name="Shape 6"/>
          <p:cNvSpPr/>
          <p:nvPr/>
        </p:nvSpPr>
        <p:spPr>
          <a:xfrm>
            <a:off x="4663440" y="1234440"/>
            <a:ext cx="4023360" cy="2514600"/>
          </a:xfrm>
          <a:prstGeom prst="rect">
            <a:avLst/>
          </a:prstGeom>
          <a:solidFill>
            <a:srgbClr val="FFDDD2"/>
          </a:solidFill>
          <a:ln w="9525">
            <a:solidFill>
              <a:srgbClr val="83C5BE"/>
            </a:solidFill>
            <a:prstDash val="solid"/>
          </a:ln>
          <a:effectLst>
            <a:outerShdw sx="100000" sy="100000" kx="0" ky="0" algn="bl" rotWithShape="0" blurRad="101600" dist="25400" dir="5400000">
              <a:srgbClr val="006d77">
                <a:alpha val="12000"/>
              </a:srgbClr>
            </a:outerShdw>
          </a:effectLst>
        </p:spPr>
      </p:sp>
      <p:sp>
        <p:nvSpPr>
          <p:cNvPr id="9" name="Shape 7"/>
          <p:cNvSpPr/>
          <p:nvPr/>
        </p:nvSpPr>
        <p:spPr>
          <a:xfrm>
            <a:off x="4663440" y="1234440"/>
            <a:ext cx="50292" cy="2514600"/>
          </a:xfrm>
          <a:prstGeom prst="rect">
            <a:avLst/>
          </a:prstGeom>
          <a:solidFill>
            <a:srgbClr val="E29578"/>
          </a:solidFill>
          <a:ln w="12700">
            <a:solidFill>
              <a:srgbClr val="E29578"/>
            </a:solidFill>
            <a:prstDash val="solid"/>
          </a:ln>
        </p:spPr>
      </p:sp>
      <p:sp>
        <p:nvSpPr>
          <p:cNvPr id="10" name="Text 8"/>
          <p:cNvSpPr/>
          <p:nvPr/>
        </p:nvSpPr>
        <p:spPr>
          <a:xfrm>
            <a:off x="4846320" y="1380744"/>
            <a:ext cx="3694176" cy="219456"/>
          </a:xfrm>
          <a:prstGeom prst="rect">
            <a:avLst/>
          </a:prstGeom>
          <a:noFill/>
          <a:ln/>
        </p:spPr>
        <p:txBody>
          <a:bodyPr wrap="square" lIns="0" tIns="0" rIns="0" bIns="0" rtlCol="0" anchor="ctr"/>
          <a:lstStyle/>
          <a:p>
            <a:pPr algn="l" indent="0" marL="0">
              <a:buNone/>
            </a:pPr>
            <a:r>
              <a:rPr lang="en-US" sz="1000" b="1" spc="80" kern="0" dirty="0">
                <a:solidFill>
                  <a:srgbClr val="006D77"/>
                </a:solidFill>
                <a:latin typeface="Calibri" pitchFamily="34" charset="0"/>
                <a:ea typeface="Calibri" pitchFamily="34" charset="-122"/>
                <a:cs typeface="Calibri" pitchFamily="34" charset="-120"/>
              </a:rPr>
              <a:t>AUTO MEMORY - WRITTEN BY CLAUDE</a:t>
            </a:r>
            <a:endParaRPr lang="en-US" sz="1000" dirty="0"/>
          </a:p>
        </p:txBody>
      </p:sp>
      <p:sp>
        <p:nvSpPr>
          <p:cNvPr id="11" name="Text 9"/>
          <p:cNvSpPr/>
          <p:nvPr/>
        </p:nvSpPr>
        <p:spPr>
          <a:xfrm>
            <a:off x="4846320" y="1655064"/>
            <a:ext cx="3694176" cy="1911096"/>
          </a:xfrm>
          <a:prstGeom prst="rect">
            <a:avLst/>
          </a:prstGeom>
          <a:noFill/>
          <a:ln/>
        </p:spPr>
        <p:txBody>
          <a:bodyPr wrap="square" lIns="0" tIns="0" rIns="0" bIns="0" rtlCol="0" anchor="t"/>
          <a:lstStyle/>
          <a:p>
            <a:pPr algn="l" marL="152400" indent="-152400">
              <a:spcAft>
                <a:spcPts val="400"/>
              </a:spcAft>
              <a:buSzPct val="100000"/>
              <a:buChar char="•"/>
            </a:pPr>
            <a:r>
              <a:rPr lang="en-US" sz="950" dirty="0">
                <a:solidFill>
                  <a:srgbClr val="006D77"/>
                </a:solidFill>
                <a:latin typeface="Calibri" pitchFamily="34" charset="0"/>
                <a:ea typeface="Calibri" pitchFamily="34" charset="-122"/>
                <a:cs typeface="Calibri" pitchFamily="34" charset="-120"/>
              </a:rPr>
              <a:t>Written by Claude: learnings and patterns, per repository, shared across worktrees</a:t>
            </a:r>
            <a:endParaRPr lang="en-US" sz="950" dirty="0"/>
          </a:p>
          <a:p>
            <a:pPr algn="l" marL="152400" indent="-152400">
              <a:spcAft>
                <a:spcPts val="400"/>
              </a:spcAft>
              <a:buSzPct val="100000"/>
              <a:buChar char="•"/>
            </a:pPr>
            <a:r>
              <a:rPr lang="en-US" sz="950" dirty="0">
                <a:solidFill>
                  <a:srgbClr val="006D77"/>
                </a:solidFill>
                <a:latin typeface="Calibri" pitchFamily="34" charset="0"/>
                <a:ea typeface="Calibri" pitchFamily="34" charset="-122"/>
                <a:cs typeface="Calibri" pitchFamily="34" charset="-120"/>
              </a:rPr>
              <a:t>Lives in ~/.claude/projects/&lt;project&gt;/memory/ with MEMORY.md as the index plus per-topic files</a:t>
            </a:r>
            <a:endParaRPr lang="en-US" sz="950" dirty="0"/>
          </a:p>
          <a:p>
            <a:pPr algn="l" marL="152400" indent="-152400">
              <a:spcAft>
                <a:spcPts val="400"/>
              </a:spcAft>
              <a:buSzPct val="100000"/>
              <a:buChar char="•"/>
            </a:pPr>
            <a:r>
              <a:rPr lang="en-US" sz="950" dirty="0">
                <a:solidFill>
                  <a:srgbClr val="006D77"/>
                </a:solidFill>
                <a:latin typeface="Calibri" pitchFamily="34" charset="0"/>
                <a:ea typeface="Calibri" pitchFamily="34" charset="-122"/>
                <a:cs typeface="Calibri" pitchFamily="34" charset="-120"/>
              </a:rPr>
              <a:t>A type field tags every file</a:t>
            </a:r>
            <a:endParaRPr lang="en-US" sz="950" dirty="0"/>
          </a:p>
          <a:p>
            <a:pPr algn="l" marL="152400" indent="-152400">
              <a:spcAft>
                <a:spcPts val="400"/>
              </a:spcAft>
              <a:buSzPct val="100000"/>
              <a:buChar char="•"/>
            </a:pPr>
            <a:r>
              <a:rPr lang="en-US" sz="950" dirty="0">
                <a:solidFill>
                  <a:srgbClr val="006D77"/>
                </a:solidFill>
                <a:latin typeface="Calibri" pitchFamily="34" charset="0"/>
                <a:ea typeface="Calibri" pitchFamily="34" charset="-122"/>
                <a:cs typeface="Calibri" pitchFamily="34" charset="-120"/>
              </a:rPr>
              <a:t>On by default; disable it with /memory</a:t>
            </a:r>
            <a:endParaRPr lang="en-US" sz="950" dirty="0"/>
          </a:p>
          <a:p>
            <a:pPr algn="l" marL="152400" indent="-152400">
              <a:spcAft>
                <a:spcPts val="400"/>
              </a:spcAft>
              <a:buSzPct val="100000"/>
              <a:buChar char="•"/>
            </a:pPr>
            <a:r>
              <a:rPr lang="en-US" sz="950" dirty="0">
                <a:solidFill>
                  <a:srgbClr val="006D77"/>
                </a:solidFill>
                <a:latin typeface="Calibri" pitchFamily="34" charset="0"/>
                <a:ea typeface="Calibri" pitchFamily="34" charset="-122"/>
                <a:cs typeface="Calibri" pitchFamily="34" charset="-120"/>
              </a:rPr>
              <a:t>Retrieval loads the index always and reads topic files only when relevant</a:t>
            </a:r>
            <a:endParaRPr lang="en-US" sz="950" dirty="0"/>
          </a:p>
          <a:p>
            <a:pPr algn="l" marL="152400" indent="-152400">
              <a:spcAft>
                <a:spcPts val="400"/>
              </a:spcAft>
              <a:buSzPct val="100000"/>
              <a:buChar char="•"/>
            </a:pPr>
            <a:r>
              <a:rPr lang="en-US" sz="950" dirty="0">
                <a:solidFill>
                  <a:srgbClr val="006D77"/>
                </a:solidFill>
                <a:latin typeface="Calibri" pitchFamily="34" charset="0"/>
                <a:ea typeface="Calibri" pitchFamily="34" charset="-122"/>
                <a:cs typeface="Calibri" pitchFamily="34" charset="-120"/>
              </a:rPr>
              <a:t>Four commands: /memory, /context, /init, /doctor</a:t>
            </a:r>
            <a:endParaRPr lang="en-US" sz="950" dirty="0"/>
          </a:p>
        </p:txBody>
      </p:sp>
      <p:sp>
        <p:nvSpPr>
          <p:cNvPr id="12" name="Shape 10"/>
          <p:cNvSpPr/>
          <p:nvPr/>
        </p:nvSpPr>
        <p:spPr>
          <a:xfrm>
            <a:off x="457200" y="3886200"/>
            <a:ext cx="8229600" cy="566928"/>
          </a:xfrm>
          <a:prstGeom prst="rect">
            <a:avLst/>
          </a:prstGeom>
          <a:solidFill>
            <a:srgbClr val="006D77"/>
          </a:solidFill>
          <a:ln w="12700">
            <a:solidFill>
              <a:srgbClr val="006D77"/>
            </a:solidFill>
            <a:prstDash val="solid"/>
          </a:ln>
        </p:spPr>
      </p:sp>
      <p:sp>
        <p:nvSpPr>
          <p:cNvPr id="13" name="Text 11"/>
          <p:cNvSpPr/>
          <p:nvPr/>
        </p:nvSpPr>
        <p:spPr>
          <a:xfrm>
            <a:off x="640080" y="3886200"/>
            <a:ext cx="7863840" cy="566928"/>
          </a:xfrm>
          <a:prstGeom prst="rect">
            <a:avLst/>
          </a:prstGeom>
          <a:noFill/>
          <a:ln/>
        </p:spPr>
        <p:txBody>
          <a:bodyPr wrap="square" lIns="0" tIns="0" rIns="0" bIns="0" rtlCol="0" anchor="ctr"/>
          <a:lstStyle/>
          <a:p>
            <a:pPr algn="l" indent="0" marL="0">
              <a:buNone/>
            </a:pPr>
            <a:r>
              <a:rPr lang="en-US" sz="950" dirty="0">
                <a:solidFill>
                  <a:srgbClr val="EDF6F9"/>
                </a:solidFill>
                <a:latin typeface="Calibri" pitchFamily="34" charset="0"/>
                <a:ea typeface="Calibri" pitchFamily="34" charset="-122"/>
                <a:cs typeface="Calibri" pitchFamily="34" charset="-120"/>
              </a:rPr>
              <a:t>Every memory creation is a decision about what gets re-read forever. Every permanent token is rent paid at the start of every session. Stale memory is worse than none, because it actively misleads. Treat memory like code and keep it in version control.</a:t>
            </a:r>
            <a:endParaRPr lang="en-US" sz="950" dirty="0"/>
          </a:p>
        </p:txBody>
      </p:sp>
      <p:sp>
        <p:nvSpPr>
          <p:cNvPr id="14" name="Shape 12"/>
          <p:cNvSpPr/>
          <p:nvPr/>
        </p:nvSpPr>
        <p:spPr>
          <a:xfrm>
            <a:off x="8485632" y="4645152"/>
            <a:ext cx="420624" cy="274320"/>
          </a:xfrm>
          <a:prstGeom prst="roundRect">
            <a:avLst>
              <a:gd name="adj" fmla="val 26667"/>
            </a:avLst>
          </a:prstGeom>
          <a:solidFill>
            <a:srgbClr val="006D77"/>
          </a:solidFill>
          <a:ln w="12700">
            <a:solidFill>
              <a:srgbClr val="006D77"/>
            </a:solidFill>
            <a:prstDash val="solid"/>
          </a:ln>
        </p:spPr>
      </p:sp>
      <p:sp>
        <p:nvSpPr>
          <p:cNvPr id="15" name="Text 13"/>
          <p:cNvSpPr/>
          <p:nvPr/>
        </p:nvSpPr>
        <p:spPr>
          <a:xfrm>
            <a:off x="8485632" y="4645152"/>
            <a:ext cx="420624" cy="274320"/>
          </a:xfrm>
          <a:prstGeom prst="rect">
            <a:avLst/>
          </a:prstGeom>
          <a:noFill/>
          <a:ln/>
        </p:spPr>
        <p:txBody>
          <a:bodyPr wrap="square" lIns="0" tIns="0" rIns="0" bIns="0" rtlCol="0" anchor="ctr"/>
          <a:lstStyle/>
          <a:p>
            <a:pPr algn="ctr" indent="0" marL="0">
              <a:buNone/>
            </a:pPr>
            <a:r>
              <a:rPr lang="en-US" sz="1100" dirty="0">
                <a:solidFill>
                  <a:srgbClr val="EDF6F9"/>
                </a:solidFill>
                <a:latin typeface="Calibri" pitchFamily="34" charset="0"/>
                <a:ea typeface="Calibri" pitchFamily="34" charset="-122"/>
                <a:cs typeface="Calibri" pitchFamily="34" charset="-120"/>
              </a:rPr>
              <a:t>8</a:t>
            </a:r>
            <a:endParaRPr lang="en-US" sz="1100" dirty="0"/>
          </a:p>
        </p:txBody>
      </p:sp>
      <p:sp>
        <p:nvSpPr>
          <p:cNvPr id="16" name="Shape 14"/>
          <p:cNvSpPr/>
          <p:nvPr/>
        </p:nvSpPr>
        <p:spPr>
          <a:xfrm>
            <a:off x="457200" y="4754880"/>
            <a:ext cx="7772400" cy="10973"/>
          </a:xfrm>
          <a:prstGeom prst="rect">
            <a:avLst/>
          </a:prstGeom>
          <a:solidFill>
            <a:srgbClr val="83C5BE"/>
          </a:solidFill>
          <a:ln w="12700">
            <a:solidFill>
              <a:srgbClr val="83C5BE"/>
            </a:solidFill>
            <a:prstDash val="solid"/>
          </a:ln>
        </p:spPr>
      </p:sp>
      <p:sp>
        <p:nvSpPr>
          <p:cNvPr id="17" name="Text 15"/>
          <p:cNvSpPr/>
          <p:nvPr/>
        </p:nvSpPr>
        <p:spPr>
          <a:xfrm>
            <a:off x="457200" y="4773168"/>
            <a:ext cx="7772400" cy="219456"/>
          </a:xfrm>
          <a:prstGeom prst="rect">
            <a:avLst/>
          </a:prstGeom>
          <a:noFill/>
          <a:ln/>
        </p:spPr>
        <p:txBody>
          <a:bodyPr wrap="square" lIns="0" tIns="0" rIns="0" bIns="0" rtlCol="0" anchor="ctr"/>
          <a:lstStyle/>
          <a:p>
            <a:pPr algn="l" indent="0" marL="0">
              <a:buNone/>
            </a:pPr>
            <a:r>
              <a:rPr lang="en-US" sz="900" dirty="0">
                <a:solidFill>
                  <a:srgbClr val="006D77">
                    <a:alpha val="55000"/>
                  </a:srgbClr>
                </a:solidFill>
                <a:latin typeface="Calibri" pitchFamily="34" charset="0"/>
                <a:ea typeface="Calibri" pitchFamily="34" charset="-122"/>
                <a:cs typeface="Calibri" pitchFamily="34" charset="-120"/>
              </a:rPr>
              <a:t>Source: https://cs2680.seas.harvard.edu/slides/2_agent_use_1.pdf</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DF6F9"/>
        </a:solidFill>
      </p:bgPr>
    </p:bg>
    <p:spTree>
      <p:nvGrpSpPr>
        <p:cNvPr id="1" name=""/>
        <p:cNvGrpSpPr/>
        <p:nvPr/>
      </p:nvGrpSpPr>
      <p:grpSpPr>
        <a:xfrm>
          <a:off x="0" y="0"/>
          <a:ext cx="0" cy="0"/>
          <a:chOff x="0" y="0"/>
          <a:chExt cx="0" cy="0"/>
        </a:xfrm>
      </p:grpSpPr>
      <p:sp>
        <p:nvSpPr>
          <p:cNvPr id="2" name="Text 0"/>
          <p:cNvSpPr/>
          <p:nvPr/>
        </p:nvSpPr>
        <p:spPr>
          <a:xfrm>
            <a:off x="457200" y="310896"/>
            <a:ext cx="8229600" cy="219456"/>
          </a:xfrm>
          <a:prstGeom prst="rect">
            <a:avLst/>
          </a:prstGeom>
          <a:noFill/>
          <a:ln/>
        </p:spPr>
        <p:txBody>
          <a:bodyPr wrap="square" lIns="0" tIns="0" rIns="0" bIns="0" rtlCol="0" anchor="ctr"/>
          <a:lstStyle/>
          <a:p>
            <a:pPr algn="l" indent="0" marL="0">
              <a:buNone/>
            </a:pPr>
            <a:r>
              <a:rPr lang="en-US" sz="1100" spc="140" kern="0" dirty="0">
                <a:solidFill>
                  <a:srgbClr val="E29578"/>
                </a:solidFill>
                <a:latin typeface="Calibri" pitchFamily="34" charset="0"/>
                <a:ea typeface="Calibri" pitchFamily="34" charset="-122"/>
                <a:cs typeface="Calibri" pitchFamily="34" charset="-120"/>
              </a:rPr>
              <a:t>TOOLS</a:t>
            </a:r>
            <a:endParaRPr lang="en-US" sz="1100" dirty="0"/>
          </a:p>
        </p:txBody>
      </p:sp>
      <p:sp>
        <p:nvSpPr>
          <p:cNvPr id="3" name="Text 1"/>
          <p:cNvSpPr/>
          <p:nvPr/>
        </p:nvSpPr>
        <p:spPr>
          <a:xfrm>
            <a:off x="457200" y="548640"/>
            <a:ext cx="8229600" cy="566928"/>
          </a:xfrm>
          <a:prstGeom prst="rect">
            <a:avLst/>
          </a:prstGeom>
          <a:noFill/>
          <a:ln/>
        </p:spPr>
        <p:txBody>
          <a:bodyPr wrap="square" lIns="0" tIns="0" rIns="0" bIns="0" rtlCol="0" anchor="ctr">
            <a:normAutofit/>
          </a:bodyPr>
          <a:lstStyle/>
          <a:p>
            <a:pPr algn="l" indent="0" marL="0">
              <a:buNone/>
            </a:pPr>
            <a:r>
              <a:rPr lang="en-US" sz="2700" b="1" dirty="0">
                <a:solidFill>
                  <a:srgbClr val="006D77"/>
                </a:solidFill>
                <a:latin typeface="Georgia" pitchFamily="34" charset="0"/>
                <a:ea typeface="Georgia" pitchFamily="34" charset="-122"/>
                <a:cs typeface="Georgia" pitchFamily="34" charset="-120"/>
              </a:rPr>
              <a:t>The core tool set</a:t>
            </a:r>
            <a:endParaRPr lang="en-US" sz="2700" dirty="0"/>
          </a:p>
        </p:txBody>
      </p:sp>
      <p:sp>
        <p:nvSpPr>
          <p:cNvPr id="4" name="Shape 2"/>
          <p:cNvSpPr/>
          <p:nvPr/>
        </p:nvSpPr>
        <p:spPr>
          <a:xfrm>
            <a:off x="457200" y="1280160"/>
            <a:ext cx="2606040" cy="1325880"/>
          </a:xfrm>
          <a:prstGeom prst="rect">
            <a:avLst/>
          </a:prstGeom>
          <a:solidFill>
            <a:srgbClr val="EDF6F9"/>
          </a:solidFill>
          <a:ln w="9525">
            <a:solidFill>
              <a:srgbClr val="83C5BE"/>
            </a:solidFill>
            <a:prstDash val="solid"/>
          </a:ln>
          <a:effectLst>
            <a:outerShdw sx="100000" sy="100000" kx="0" ky="0" algn="bl" rotWithShape="0" blurRad="101600" dist="25400" dir="5400000">
              <a:srgbClr val="006d77">
                <a:alpha val="12000"/>
              </a:srgbClr>
            </a:outerShdw>
          </a:effectLst>
        </p:spPr>
      </p:sp>
      <p:sp>
        <p:nvSpPr>
          <p:cNvPr id="5" name="Shape 3"/>
          <p:cNvSpPr/>
          <p:nvPr/>
        </p:nvSpPr>
        <p:spPr>
          <a:xfrm>
            <a:off x="457200" y="1280160"/>
            <a:ext cx="50292" cy="1325880"/>
          </a:xfrm>
          <a:prstGeom prst="rect">
            <a:avLst/>
          </a:prstGeom>
          <a:solidFill>
            <a:srgbClr val="E29578"/>
          </a:solidFill>
          <a:ln w="12700">
            <a:solidFill>
              <a:srgbClr val="E29578"/>
            </a:solidFill>
            <a:prstDash val="solid"/>
          </a:ln>
        </p:spPr>
      </p:sp>
      <p:sp>
        <p:nvSpPr>
          <p:cNvPr id="6" name="Shape 4"/>
          <p:cNvSpPr/>
          <p:nvPr/>
        </p:nvSpPr>
        <p:spPr>
          <a:xfrm>
            <a:off x="640080" y="1426464"/>
            <a:ext cx="822960" cy="36576"/>
          </a:xfrm>
          <a:prstGeom prst="rect">
            <a:avLst/>
          </a:prstGeom>
          <a:solidFill>
            <a:srgbClr val="E29578"/>
          </a:solidFill>
          <a:ln w="12700">
            <a:solidFill>
              <a:srgbClr val="E29578"/>
            </a:solidFill>
            <a:prstDash val="solid"/>
          </a:ln>
        </p:spPr>
      </p:sp>
      <p:sp>
        <p:nvSpPr>
          <p:cNvPr id="7" name="Text 5"/>
          <p:cNvSpPr/>
          <p:nvPr/>
        </p:nvSpPr>
        <p:spPr>
          <a:xfrm>
            <a:off x="640080" y="1536192"/>
            <a:ext cx="2276856" cy="256032"/>
          </a:xfrm>
          <a:prstGeom prst="rect">
            <a:avLst/>
          </a:prstGeom>
          <a:noFill/>
          <a:ln/>
        </p:spPr>
        <p:txBody>
          <a:bodyPr wrap="square" lIns="0" tIns="0" rIns="0" bIns="0" rtlCol="0" anchor="ctr"/>
          <a:lstStyle/>
          <a:p>
            <a:pPr algn="l" indent="0" marL="0">
              <a:buNone/>
            </a:pPr>
            <a:r>
              <a:rPr lang="en-US" sz="1300" b="1" dirty="0">
                <a:solidFill>
                  <a:srgbClr val="006D77"/>
                </a:solidFill>
                <a:latin typeface="Georgia" pitchFamily="34" charset="0"/>
                <a:ea typeface="Georgia" pitchFamily="34" charset="-122"/>
                <a:cs typeface="Georgia" pitchFamily="34" charset="-120"/>
              </a:rPr>
              <a:t>Read</a:t>
            </a:r>
            <a:endParaRPr lang="en-US" sz="1300" dirty="0"/>
          </a:p>
        </p:txBody>
      </p:sp>
      <p:sp>
        <p:nvSpPr>
          <p:cNvPr id="8" name="Text 6"/>
          <p:cNvSpPr/>
          <p:nvPr/>
        </p:nvSpPr>
        <p:spPr>
          <a:xfrm>
            <a:off x="640080" y="1828800"/>
            <a:ext cx="2276856" cy="594360"/>
          </a:xfrm>
          <a:prstGeom prst="rect">
            <a:avLst/>
          </a:prstGeom>
          <a:noFill/>
          <a:ln/>
        </p:spPr>
        <p:txBody>
          <a:bodyPr wrap="square" lIns="0" tIns="0" rIns="0" bIns="0" rtlCol="0" anchor="t"/>
          <a:lstStyle/>
          <a:p>
            <a:pPr algn="l" indent="0" marL="0">
              <a:buNone/>
            </a:pPr>
            <a:r>
              <a:rPr lang="en-US" sz="1000" dirty="0">
                <a:solidFill>
                  <a:srgbClr val="006D77"/>
                </a:solidFill>
                <a:latin typeface="Calibri" pitchFamily="34" charset="0"/>
                <a:ea typeface="Calibri" pitchFamily="34" charset="-122"/>
                <a:cs typeface="Calibri" pitchFamily="34" charset="-120"/>
              </a:rPr>
              <a:t>Open a file and inspect state. The most used tool.</a:t>
            </a:r>
            <a:endParaRPr lang="en-US" sz="1000" dirty="0"/>
          </a:p>
        </p:txBody>
      </p:sp>
      <p:sp>
        <p:nvSpPr>
          <p:cNvPr id="9" name="Shape 7"/>
          <p:cNvSpPr/>
          <p:nvPr/>
        </p:nvSpPr>
        <p:spPr>
          <a:xfrm>
            <a:off x="3246120" y="1280160"/>
            <a:ext cx="2606040" cy="1325880"/>
          </a:xfrm>
          <a:prstGeom prst="rect">
            <a:avLst/>
          </a:prstGeom>
          <a:solidFill>
            <a:srgbClr val="FFDDD2"/>
          </a:solidFill>
          <a:ln w="9525">
            <a:solidFill>
              <a:srgbClr val="83C5BE"/>
            </a:solidFill>
            <a:prstDash val="solid"/>
          </a:ln>
          <a:effectLst>
            <a:outerShdw sx="100000" sy="100000" kx="0" ky="0" algn="bl" rotWithShape="0" blurRad="101600" dist="25400" dir="5400000">
              <a:srgbClr val="006d77">
                <a:alpha val="12000"/>
              </a:srgbClr>
            </a:outerShdw>
          </a:effectLst>
        </p:spPr>
      </p:sp>
      <p:sp>
        <p:nvSpPr>
          <p:cNvPr id="10" name="Shape 8"/>
          <p:cNvSpPr/>
          <p:nvPr/>
        </p:nvSpPr>
        <p:spPr>
          <a:xfrm>
            <a:off x="3246120" y="1280160"/>
            <a:ext cx="50292" cy="1325880"/>
          </a:xfrm>
          <a:prstGeom prst="rect">
            <a:avLst/>
          </a:prstGeom>
          <a:solidFill>
            <a:srgbClr val="E29578"/>
          </a:solidFill>
          <a:ln w="12700">
            <a:solidFill>
              <a:srgbClr val="E29578"/>
            </a:solidFill>
            <a:prstDash val="solid"/>
          </a:ln>
        </p:spPr>
      </p:sp>
      <p:sp>
        <p:nvSpPr>
          <p:cNvPr id="11" name="Shape 9"/>
          <p:cNvSpPr/>
          <p:nvPr/>
        </p:nvSpPr>
        <p:spPr>
          <a:xfrm>
            <a:off x="3429000" y="1426464"/>
            <a:ext cx="822960" cy="36576"/>
          </a:xfrm>
          <a:prstGeom prst="rect">
            <a:avLst/>
          </a:prstGeom>
          <a:solidFill>
            <a:srgbClr val="E29578"/>
          </a:solidFill>
          <a:ln w="12700">
            <a:solidFill>
              <a:srgbClr val="E29578"/>
            </a:solidFill>
            <a:prstDash val="solid"/>
          </a:ln>
        </p:spPr>
      </p:sp>
      <p:sp>
        <p:nvSpPr>
          <p:cNvPr id="12" name="Text 10"/>
          <p:cNvSpPr/>
          <p:nvPr/>
        </p:nvSpPr>
        <p:spPr>
          <a:xfrm>
            <a:off x="3429000" y="1536192"/>
            <a:ext cx="2276856" cy="256032"/>
          </a:xfrm>
          <a:prstGeom prst="rect">
            <a:avLst/>
          </a:prstGeom>
          <a:noFill/>
          <a:ln/>
        </p:spPr>
        <p:txBody>
          <a:bodyPr wrap="square" lIns="0" tIns="0" rIns="0" bIns="0" rtlCol="0" anchor="ctr"/>
          <a:lstStyle/>
          <a:p>
            <a:pPr algn="l" indent="0" marL="0">
              <a:buNone/>
            </a:pPr>
            <a:r>
              <a:rPr lang="en-US" sz="1300" b="1" dirty="0">
                <a:solidFill>
                  <a:srgbClr val="006D77"/>
                </a:solidFill>
                <a:latin typeface="Georgia" pitchFamily="34" charset="0"/>
                <a:ea typeface="Georgia" pitchFamily="34" charset="-122"/>
                <a:cs typeface="Georgia" pitchFamily="34" charset="-120"/>
              </a:rPr>
              <a:t>Search</a:t>
            </a:r>
            <a:endParaRPr lang="en-US" sz="1300" dirty="0"/>
          </a:p>
        </p:txBody>
      </p:sp>
      <p:sp>
        <p:nvSpPr>
          <p:cNvPr id="13" name="Text 11"/>
          <p:cNvSpPr/>
          <p:nvPr/>
        </p:nvSpPr>
        <p:spPr>
          <a:xfrm>
            <a:off x="3429000" y="1828800"/>
            <a:ext cx="2276856" cy="594360"/>
          </a:xfrm>
          <a:prstGeom prst="rect">
            <a:avLst/>
          </a:prstGeom>
          <a:noFill/>
          <a:ln/>
        </p:spPr>
        <p:txBody>
          <a:bodyPr wrap="square" lIns="0" tIns="0" rIns="0" bIns="0" rtlCol="0" anchor="t"/>
          <a:lstStyle/>
          <a:p>
            <a:pPr algn="l" indent="0" marL="0">
              <a:buNone/>
            </a:pPr>
            <a:r>
              <a:rPr lang="en-US" sz="1000" dirty="0">
                <a:solidFill>
                  <a:srgbClr val="006D77"/>
                </a:solidFill>
                <a:latin typeface="Calibri" pitchFamily="34" charset="0"/>
                <a:ea typeface="Calibri" pitchFamily="34" charset="-122"/>
                <a:cs typeface="Calibri" pitchFamily="34" charset="-120"/>
              </a:rPr>
              <a:t>Grep and glob.</a:t>
            </a:r>
            <a:endParaRPr lang="en-US" sz="1000" dirty="0"/>
          </a:p>
        </p:txBody>
      </p:sp>
      <p:sp>
        <p:nvSpPr>
          <p:cNvPr id="14" name="Shape 12"/>
          <p:cNvSpPr/>
          <p:nvPr/>
        </p:nvSpPr>
        <p:spPr>
          <a:xfrm>
            <a:off x="6035040" y="1280160"/>
            <a:ext cx="2606040" cy="1325880"/>
          </a:xfrm>
          <a:prstGeom prst="rect">
            <a:avLst/>
          </a:prstGeom>
          <a:solidFill>
            <a:srgbClr val="EDF6F9"/>
          </a:solidFill>
          <a:ln w="9525">
            <a:solidFill>
              <a:srgbClr val="83C5BE"/>
            </a:solidFill>
            <a:prstDash val="solid"/>
          </a:ln>
          <a:effectLst>
            <a:outerShdw sx="100000" sy="100000" kx="0" ky="0" algn="bl" rotWithShape="0" blurRad="101600" dist="25400" dir="5400000">
              <a:srgbClr val="006d77">
                <a:alpha val="12000"/>
              </a:srgbClr>
            </a:outerShdw>
          </a:effectLst>
        </p:spPr>
      </p:sp>
      <p:sp>
        <p:nvSpPr>
          <p:cNvPr id="15" name="Shape 13"/>
          <p:cNvSpPr/>
          <p:nvPr/>
        </p:nvSpPr>
        <p:spPr>
          <a:xfrm>
            <a:off x="6035040" y="1280160"/>
            <a:ext cx="50292" cy="1325880"/>
          </a:xfrm>
          <a:prstGeom prst="rect">
            <a:avLst/>
          </a:prstGeom>
          <a:solidFill>
            <a:srgbClr val="E29578"/>
          </a:solidFill>
          <a:ln w="12700">
            <a:solidFill>
              <a:srgbClr val="E29578"/>
            </a:solidFill>
            <a:prstDash val="solid"/>
          </a:ln>
        </p:spPr>
      </p:sp>
      <p:sp>
        <p:nvSpPr>
          <p:cNvPr id="16" name="Shape 14"/>
          <p:cNvSpPr/>
          <p:nvPr/>
        </p:nvSpPr>
        <p:spPr>
          <a:xfrm>
            <a:off x="6217920" y="1426464"/>
            <a:ext cx="822960" cy="36576"/>
          </a:xfrm>
          <a:prstGeom prst="rect">
            <a:avLst/>
          </a:prstGeom>
          <a:solidFill>
            <a:srgbClr val="E29578"/>
          </a:solidFill>
          <a:ln w="12700">
            <a:solidFill>
              <a:srgbClr val="E29578"/>
            </a:solidFill>
            <a:prstDash val="solid"/>
          </a:ln>
        </p:spPr>
      </p:sp>
      <p:sp>
        <p:nvSpPr>
          <p:cNvPr id="17" name="Text 15"/>
          <p:cNvSpPr/>
          <p:nvPr/>
        </p:nvSpPr>
        <p:spPr>
          <a:xfrm>
            <a:off x="6217920" y="1536192"/>
            <a:ext cx="2276856" cy="256032"/>
          </a:xfrm>
          <a:prstGeom prst="rect">
            <a:avLst/>
          </a:prstGeom>
          <a:noFill/>
          <a:ln/>
        </p:spPr>
        <p:txBody>
          <a:bodyPr wrap="square" lIns="0" tIns="0" rIns="0" bIns="0" rtlCol="0" anchor="ctr"/>
          <a:lstStyle/>
          <a:p>
            <a:pPr algn="l" indent="0" marL="0">
              <a:buNone/>
            </a:pPr>
            <a:r>
              <a:rPr lang="en-US" sz="1300" b="1" dirty="0">
                <a:solidFill>
                  <a:srgbClr val="006D77"/>
                </a:solidFill>
                <a:latin typeface="Georgia" pitchFamily="34" charset="0"/>
                <a:ea typeface="Georgia" pitchFamily="34" charset="-122"/>
                <a:cs typeface="Georgia" pitchFamily="34" charset="-120"/>
              </a:rPr>
              <a:t>Fetch</a:t>
            </a:r>
            <a:endParaRPr lang="en-US" sz="1300" dirty="0"/>
          </a:p>
        </p:txBody>
      </p:sp>
      <p:sp>
        <p:nvSpPr>
          <p:cNvPr id="18" name="Text 16"/>
          <p:cNvSpPr/>
          <p:nvPr/>
        </p:nvSpPr>
        <p:spPr>
          <a:xfrm>
            <a:off x="6217920" y="1828800"/>
            <a:ext cx="2276856" cy="594360"/>
          </a:xfrm>
          <a:prstGeom prst="rect">
            <a:avLst/>
          </a:prstGeom>
          <a:noFill/>
          <a:ln/>
        </p:spPr>
        <p:txBody>
          <a:bodyPr wrap="square" lIns="0" tIns="0" rIns="0" bIns="0" rtlCol="0" anchor="t"/>
          <a:lstStyle/>
          <a:p>
            <a:pPr algn="l" indent="0" marL="0">
              <a:buNone/>
            </a:pPr>
            <a:r>
              <a:rPr lang="en-US" sz="1000" dirty="0">
                <a:solidFill>
                  <a:srgbClr val="006D77"/>
                </a:solidFill>
                <a:latin typeface="Calibri" pitchFamily="34" charset="0"/>
                <a:ea typeface="Calibri" pitchFamily="34" charset="-122"/>
                <a:cs typeface="Calibri" pitchFamily="34" charset="-120"/>
              </a:rPr>
              <a:t>Pull a page or doc. It brings untrusted text inside.</a:t>
            </a:r>
            <a:endParaRPr lang="en-US" sz="1000" dirty="0"/>
          </a:p>
        </p:txBody>
      </p:sp>
      <p:sp>
        <p:nvSpPr>
          <p:cNvPr id="19" name="Shape 17"/>
          <p:cNvSpPr/>
          <p:nvPr/>
        </p:nvSpPr>
        <p:spPr>
          <a:xfrm>
            <a:off x="457200" y="2743200"/>
            <a:ext cx="2606040" cy="1325880"/>
          </a:xfrm>
          <a:prstGeom prst="rect">
            <a:avLst/>
          </a:prstGeom>
          <a:solidFill>
            <a:srgbClr val="EDF6F9"/>
          </a:solidFill>
          <a:ln w="9525">
            <a:solidFill>
              <a:srgbClr val="83C5BE"/>
            </a:solidFill>
            <a:prstDash val="solid"/>
          </a:ln>
          <a:effectLst>
            <a:outerShdw sx="100000" sy="100000" kx="0" ky="0" algn="bl" rotWithShape="0" blurRad="101600" dist="25400" dir="5400000">
              <a:srgbClr val="006d77">
                <a:alpha val="12000"/>
              </a:srgbClr>
            </a:outerShdw>
          </a:effectLst>
        </p:spPr>
      </p:sp>
      <p:sp>
        <p:nvSpPr>
          <p:cNvPr id="20" name="Shape 18"/>
          <p:cNvSpPr/>
          <p:nvPr/>
        </p:nvSpPr>
        <p:spPr>
          <a:xfrm>
            <a:off x="457200" y="2743200"/>
            <a:ext cx="50292" cy="1325880"/>
          </a:xfrm>
          <a:prstGeom prst="rect">
            <a:avLst/>
          </a:prstGeom>
          <a:solidFill>
            <a:srgbClr val="E29578"/>
          </a:solidFill>
          <a:ln w="12700">
            <a:solidFill>
              <a:srgbClr val="E29578"/>
            </a:solidFill>
            <a:prstDash val="solid"/>
          </a:ln>
        </p:spPr>
      </p:sp>
      <p:sp>
        <p:nvSpPr>
          <p:cNvPr id="21" name="Shape 19"/>
          <p:cNvSpPr/>
          <p:nvPr/>
        </p:nvSpPr>
        <p:spPr>
          <a:xfrm>
            <a:off x="640080" y="2889504"/>
            <a:ext cx="822960" cy="36576"/>
          </a:xfrm>
          <a:prstGeom prst="rect">
            <a:avLst/>
          </a:prstGeom>
          <a:solidFill>
            <a:srgbClr val="E29578"/>
          </a:solidFill>
          <a:ln w="12700">
            <a:solidFill>
              <a:srgbClr val="E29578"/>
            </a:solidFill>
            <a:prstDash val="solid"/>
          </a:ln>
        </p:spPr>
      </p:sp>
      <p:sp>
        <p:nvSpPr>
          <p:cNvPr id="22" name="Text 20"/>
          <p:cNvSpPr/>
          <p:nvPr/>
        </p:nvSpPr>
        <p:spPr>
          <a:xfrm>
            <a:off x="640080" y="2999232"/>
            <a:ext cx="2276856" cy="256032"/>
          </a:xfrm>
          <a:prstGeom prst="rect">
            <a:avLst/>
          </a:prstGeom>
          <a:noFill/>
          <a:ln/>
        </p:spPr>
        <p:txBody>
          <a:bodyPr wrap="square" lIns="0" tIns="0" rIns="0" bIns="0" rtlCol="0" anchor="ctr"/>
          <a:lstStyle/>
          <a:p>
            <a:pPr algn="l" indent="0" marL="0">
              <a:buNone/>
            </a:pPr>
            <a:r>
              <a:rPr lang="en-US" sz="1300" b="1" dirty="0">
                <a:solidFill>
                  <a:srgbClr val="006D77"/>
                </a:solidFill>
                <a:latin typeface="Georgia" pitchFamily="34" charset="0"/>
                <a:ea typeface="Georgia" pitchFamily="34" charset="-122"/>
                <a:cs typeface="Georgia" pitchFamily="34" charset="-120"/>
              </a:rPr>
              <a:t>Edit / Write</a:t>
            </a:r>
            <a:endParaRPr lang="en-US" sz="1300" dirty="0"/>
          </a:p>
        </p:txBody>
      </p:sp>
      <p:sp>
        <p:nvSpPr>
          <p:cNvPr id="23" name="Text 21"/>
          <p:cNvSpPr/>
          <p:nvPr/>
        </p:nvSpPr>
        <p:spPr>
          <a:xfrm>
            <a:off x="640080" y="3291840"/>
            <a:ext cx="2276856" cy="594360"/>
          </a:xfrm>
          <a:prstGeom prst="rect">
            <a:avLst/>
          </a:prstGeom>
          <a:noFill/>
          <a:ln/>
        </p:spPr>
        <p:txBody>
          <a:bodyPr wrap="square" lIns="0" tIns="0" rIns="0" bIns="0" rtlCol="0" anchor="t"/>
          <a:lstStyle/>
          <a:p>
            <a:pPr algn="l" indent="0" marL="0">
              <a:buNone/>
            </a:pPr>
            <a:r>
              <a:rPr lang="en-US" sz="1000" dirty="0">
                <a:solidFill>
                  <a:srgbClr val="006D77"/>
                </a:solidFill>
                <a:latin typeface="Calibri" pitchFamily="34" charset="0"/>
                <a:ea typeface="Calibri" pitchFamily="34" charset="-122"/>
                <a:cs typeface="Calibri" pitchFamily="34" charset="-120"/>
              </a:rPr>
              <a:t>Change files. The first tool with consequences.</a:t>
            </a:r>
            <a:endParaRPr lang="en-US" sz="1000" dirty="0"/>
          </a:p>
        </p:txBody>
      </p:sp>
      <p:sp>
        <p:nvSpPr>
          <p:cNvPr id="24" name="Shape 22"/>
          <p:cNvSpPr/>
          <p:nvPr/>
        </p:nvSpPr>
        <p:spPr>
          <a:xfrm>
            <a:off x="3246120" y="2743200"/>
            <a:ext cx="2606040" cy="1325880"/>
          </a:xfrm>
          <a:prstGeom prst="rect">
            <a:avLst/>
          </a:prstGeom>
          <a:solidFill>
            <a:srgbClr val="FFDDD2"/>
          </a:solidFill>
          <a:ln w="9525">
            <a:solidFill>
              <a:srgbClr val="83C5BE"/>
            </a:solidFill>
            <a:prstDash val="solid"/>
          </a:ln>
          <a:effectLst>
            <a:outerShdw sx="100000" sy="100000" kx="0" ky="0" algn="bl" rotWithShape="0" blurRad="101600" dist="25400" dir="5400000">
              <a:srgbClr val="006d77">
                <a:alpha val="12000"/>
              </a:srgbClr>
            </a:outerShdw>
          </a:effectLst>
        </p:spPr>
      </p:sp>
      <p:sp>
        <p:nvSpPr>
          <p:cNvPr id="25" name="Shape 23"/>
          <p:cNvSpPr/>
          <p:nvPr/>
        </p:nvSpPr>
        <p:spPr>
          <a:xfrm>
            <a:off x="3246120" y="2743200"/>
            <a:ext cx="50292" cy="1325880"/>
          </a:xfrm>
          <a:prstGeom prst="rect">
            <a:avLst/>
          </a:prstGeom>
          <a:solidFill>
            <a:srgbClr val="E29578"/>
          </a:solidFill>
          <a:ln w="12700">
            <a:solidFill>
              <a:srgbClr val="E29578"/>
            </a:solidFill>
            <a:prstDash val="solid"/>
          </a:ln>
        </p:spPr>
      </p:sp>
      <p:sp>
        <p:nvSpPr>
          <p:cNvPr id="26" name="Shape 24"/>
          <p:cNvSpPr/>
          <p:nvPr/>
        </p:nvSpPr>
        <p:spPr>
          <a:xfrm>
            <a:off x="3429000" y="2889504"/>
            <a:ext cx="822960" cy="36576"/>
          </a:xfrm>
          <a:prstGeom prst="rect">
            <a:avLst/>
          </a:prstGeom>
          <a:solidFill>
            <a:srgbClr val="E29578"/>
          </a:solidFill>
          <a:ln w="12700">
            <a:solidFill>
              <a:srgbClr val="E29578"/>
            </a:solidFill>
            <a:prstDash val="solid"/>
          </a:ln>
        </p:spPr>
      </p:sp>
      <p:sp>
        <p:nvSpPr>
          <p:cNvPr id="27" name="Text 25"/>
          <p:cNvSpPr/>
          <p:nvPr/>
        </p:nvSpPr>
        <p:spPr>
          <a:xfrm>
            <a:off x="3429000" y="2999232"/>
            <a:ext cx="2276856" cy="256032"/>
          </a:xfrm>
          <a:prstGeom prst="rect">
            <a:avLst/>
          </a:prstGeom>
          <a:noFill/>
          <a:ln/>
        </p:spPr>
        <p:txBody>
          <a:bodyPr wrap="square" lIns="0" tIns="0" rIns="0" bIns="0" rtlCol="0" anchor="ctr"/>
          <a:lstStyle/>
          <a:p>
            <a:pPr algn="l" indent="0" marL="0">
              <a:buNone/>
            </a:pPr>
            <a:r>
              <a:rPr lang="en-US" sz="1300" b="1" dirty="0">
                <a:solidFill>
                  <a:srgbClr val="006D77"/>
                </a:solidFill>
                <a:latin typeface="Georgia" pitchFamily="34" charset="0"/>
                <a:ea typeface="Georgia" pitchFamily="34" charset="-122"/>
                <a:cs typeface="Georgia" pitchFamily="34" charset="-120"/>
              </a:rPr>
              <a:t>Shell</a:t>
            </a:r>
            <a:endParaRPr lang="en-US" sz="1300" dirty="0"/>
          </a:p>
        </p:txBody>
      </p:sp>
      <p:sp>
        <p:nvSpPr>
          <p:cNvPr id="28" name="Text 26"/>
          <p:cNvSpPr/>
          <p:nvPr/>
        </p:nvSpPr>
        <p:spPr>
          <a:xfrm>
            <a:off x="3429000" y="3291840"/>
            <a:ext cx="2276856" cy="594360"/>
          </a:xfrm>
          <a:prstGeom prst="rect">
            <a:avLst/>
          </a:prstGeom>
          <a:noFill/>
          <a:ln/>
        </p:spPr>
        <p:txBody>
          <a:bodyPr wrap="square" lIns="0" tIns="0" rIns="0" bIns="0" rtlCol="0" anchor="t"/>
          <a:lstStyle/>
          <a:p>
            <a:pPr algn="l" indent="0" marL="0">
              <a:buNone/>
            </a:pPr>
            <a:r>
              <a:rPr lang="en-US" sz="1000" dirty="0">
                <a:solidFill>
                  <a:srgbClr val="006D77"/>
                </a:solidFill>
                <a:latin typeface="Calibri" pitchFamily="34" charset="0"/>
                <a:ea typeface="Calibri" pitchFamily="34" charset="-122"/>
                <a:cs typeface="Calibri" pitchFamily="34" charset="-120"/>
              </a:rPr>
              <a:t>Build, test, git. The whole machine unless sandboxed.</a:t>
            </a:r>
            <a:endParaRPr lang="en-US" sz="1000" dirty="0"/>
          </a:p>
        </p:txBody>
      </p:sp>
      <p:sp>
        <p:nvSpPr>
          <p:cNvPr id="29" name="Shape 27"/>
          <p:cNvSpPr/>
          <p:nvPr/>
        </p:nvSpPr>
        <p:spPr>
          <a:xfrm>
            <a:off x="6035040" y="2743200"/>
            <a:ext cx="2606040" cy="1325880"/>
          </a:xfrm>
          <a:prstGeom prst="rect">
            <a:avLst/>
          </a:prstGeom>
          <a:solidFill>
            <a:srgbClr val="EDF6F9"/>
          </a:solidFill>
          <a:ln w="9525">
            <a:solidFill>
              <a:srgbClr val="83C5BE"/>
            </a:solidFill>
            <a:prstDash val="solid"/>
          </a:ln>
          <a:effectLst>
            <a:outerShdw sx="100000" sy="100000" kx="0" ky="0" algn="bl" rotWithShape="0" blurRad="101600" dist="25400" dir="5400000">
              <a:srgbClr val="006d77">
                <a:alpha val="12000"/>
              </a:srgbClr>
            </a:outerShdw>
          </a:effectLst>
        </p:spPr>
      </p:sp>
      <p:sp>
        <p:nvSpPr>
          <p:cNvPr id="30" name="Shape 28"/>
          <p:cNvSpPr/>
          <p:nvPr/>
        </p:nvSpPr>
        <p:spPr>
          <a:xfrm>
            <a:off x="6035040" y="2743200"/>
            <a:ext cx="50292" cy="1325880"/>
          </a:xfrm>
          <a:prstGeom prst="rect">
            <a:avLst/>
          </a:prstGeom>
          <a:solidFill>
            <a:srgbClr val="E29578"/>
          </a:solidFill>
          <a:ln w="12700">
            <a:solidFill>
              <a:srgbClr val="E29578"/>
            </a:solidFill>
            <a:prstDash val="solid"/>
          </a:ln>
        </p:spPr>
      </p:sp>
      <p:sp>
        <p:nvSpPr>
          <p:cNvPr id="31" name="Shape 29"/>
          <p:cNvSpPr/>
          <p:nvPr/>
        </p:nvSpPr>
        <p:spPr>
          <a:xfrm>
            <a:off x="6217920" y="2889504"/>
            <a:ext cx="822960" cy="36576"/>
          </a:xfrm>
          <a:prstGeom prst="rect">
            <a:avLst/>
          </a:prstGeom>
          <a:solidFill>
            <a:srgbClr val="E29578"/>
          </a:solidFill>
          <a:ln w="12700">
            <a:solidFill>
              <a:srgbClr val="E29578"/>
            </a:solidFill>
            <a:prstDash val="solid"/>
          </a:ln>
        </p:spPr>
      </p:sp>
      <p:sp>
        <p:nvSpPr>
          <p:cNvPr id="32" name="Text 30"/>
          <p:cNvSpPr/>
          <p:nvPr/>
        </p:nvSpPr>
        <p:spPr>
          <a:xfrm>
            <a:off x="6217920" y="2999232"/>
            <a:ext cx="2276856" cy="256032"/>
          </a:xfrm>
          <a:prstGeom prst="rect">
            <a:avLst/>
          </a:prstGeom>
          <a:noFill/>
          <a:ln/>
        </p:spPr>
        <p:txBody>
          <a:bodyPr wrap="square" lIns="0" tIns="0" rIns="0" bIns="0" rtlCol="0" anchor="ctr"/>
          <a:lstStyle/>
          <a:p>
            <a:pPr algn="l" indent="0" marL="0">
              <a:buNone/>
            </a:pPr>
            <a:r>
              <a:rPr lang="en-US" sz="1300" b="1" dirty="0">
                <a:solidFill>
                  <a:srgbClr val="006D77"/>
                </a:solidFill>
                <a:latin typeface="Georgia" pitchFamily="34" charset="0"/>
                <a:ea typeface="Georgia" pitchFamily="34" charset="-122"/>
                <a:cs typeface="Georgia" pitchFamily="34" charset="-120"/>
              </a:rPr>
              <a:t>Delegate</a:t>
            </a:r>
            <a:endParaRPr lang="en-US" sz="1300" dirty="0"/>
          </a:p>
        </p:txBody>
      </p:sp>
      <p:sp>
        <p:nvSpPr>
          <p:cNvPr id="33" name="Text 31"/>
          <p:cNvSpPr/>
          <p:nvPr/>
        </p:nvSpPr>
        <p:spPr>
          <a:xfrm>
            <a:off x="6217920" y="3291840"/>
            <a:ext cx="2276856" cy="594360"/>
          </a:xfrm>
          <a:prstGeom prst="rect">
            <a:avLst/>
          </a:prstGeom>
          <a:noFill/>
          <a:ln/>
        </p:spPr>
        <p:txBody>
          <a:bodyPr wrap="square" lIns="0" tIns="0" rIns="0" bIns="0" rtlCol="0" anchor="t"/>
          <a:lstStyle/>
          <a:p>
            <a:pPr algn="l" indent="0" marL="0">
              <a:buNone/>
            </a:pPr>
            <a:r>
              <a:rPr lang="en-US" sz="1000" dirty="0">
                <a:solidFill>
                  <a:srgbClr val="006D77"/>
                </a:solidFill>
                <a:latin typeface="Calibri" pitchFamily="34" charset="0"/>
                <a:ea typeface="Calibri" pitchFamily="34" charset="-122"/>
                <a:cs typeface="Calibri" pitchFamily="34" charset="-120"/>
              </a:rPr>
              <a:t>Spawn a subagent. A tool that returns a summary.</a:t>
            </a:r>
            <a:endParaRPr lang="en-US" sz="1000" dirty="0"/>
          </a:p>
        </p:txBody>
      </p:sp>
      <p:sp>
        <p:nvSpPr>
          <p:cNvPr id="34" name="Text 32"/>
          <p:cNvSpPr/>
          <p:nvPr/>
        </p:nvSpPr>
        <p:spPr>
          <a:xfrm>
            <a:off x="457200" y="4187952"/>
            <a:ext cx="8229600" cy="256032"/>
          </a:xfrm>
          <a:prstGeom prst="rect">
            <a:avLst/>
          </a:prstGeom>
          <a:noFill/>
          <a:ln/>
        </p:spPr>
        <p:txBody>
          <a:bodyPr wrap="square" lIns="0" tIns="0" rIns="0" bIns="0" rtlCol="0" anchor="ctr"/>
          <a:lstStyle/>
          <a:p>
            <a:pPr algn="l" indent="0" marL="0">
              <a:buNone/>
            </a:pPr>
            <a:r>
              <a:rPr lang="en-US" sz="1000" dirty="0">
                <a:solidFill>
                  <a:srgbClr val="006D77">
                    <a:alpha val="75000"/>
                  </a:srgbClr>
                </a:solidFill>
                <a:latin typeface="Calibri" pitchFamily="34" charset="0"/>
                <a:ea typeface="Calibri" pitchFamily="34" charset="-122"/>
                <a:cs typeface="Calibri" pitchFamily="34" charset="-120"/>
              </a:rPr>
              <a:t>Built-in tools: Read, Edit, Bash, Glob, Grep, Web, Agent.</a:t>
            </a:r>
            <a:endParaRPr lang="en-US" sz="1000" dirty="0"/>
          </a:p>
        </p:txBody>
      </p:sp>
      <p:sp>
        <p:nvSpPr>
          <p:cNvPr id="35" name="Shape 33"/>
          <p:cNvSpPr/>
          <p:nvPr/>
        </p:nvSpPr>
        <p:spPr>
          <a:xfrm>
            <a:off x="8485632" y="4645152"/>
            <a:ext cx="420624" cy="274320"/>
          </a:xfrm>
          <a:prstGeom prst="roundRect">
            <a:avLst>
              <a:gd name="adj" fmla="val 26667"/>
            </a:avLst>
          </a:prstGeom>
          <a:solidFill>
            <a:srgbClr val="006D77"/>
          </a:solidFill>
          <a:ln w="12700">
            <a:solidFill>
              <a:srgbClr val="006D77"/>
            </a:solidFill>
            <a:prstDash val="solid"/>
          </a:ln>
        </p:spPr>
      </p:sp>
      <p:sp>
        <p:nvSpPr>
          <p:cNvPr id="36" name="Text 34"/>
          <p:cNvSpPr/>
          <p:nvPr/>
        </p:nvSpPr>
        <p:spPr>
          <a:xfrm>
            <a:off x="8485632" y="4645152"/>
            <a:ext cx="420624" cy="274320"/>
          </a:xfrm>
          <a:prstGeom prst="rect">
            <a:avLst/>
          </a:prstGeom>
          <a:noFill/>
          <a:ln/>
        </p:spPr>
        <p:txBody>
          <a:bodyPr wrap="square" lIns="0" tIns="0" rIns="0" bIns="0" rtlCol="0" anchor="ctr"/>
          <a:lstStyle/>
          <a:p>
            <a:pPr algn="ctr" indent="0" marL="0">
              <a:buNone/>
            </a:pPr>
            <a:r>
              <a:rPr lang="en-US" sz="1100" dirty="0">
                <a:solidFill>
                  <a:srgbClr val="EDF6F9"/>
                </a:solidFill>
                <a:latin typeface="Calibri" pitchFamily="34" charset="0"/>
                <a:ea typeface="Calibri" pitchFamily="34" charset="-122"/>
                <a:cs typeface="Calibri" pitchFamily="34" charset="-120"/>
              </a:rPr>
              <a:t>9</a:t>
            </a:r>
            <a:endParaRPr lang="en-US" sz="1100" dirty="0"/>
          </a:p>
        </p:txBody>
      </p:sp>
      <p:sp>
        <p:nvSpPr>
          <p:cNvPr id="37" name="Shape 35"/>
          <p:cNvSpPr/>
          <p:nvPr/>
        </p:nvSpPr>
        <p:spPr>
          <a:xfrm>
            <a:off x="457200" y="4754880"/>
            <a:ext cx="7772400" cy="10973"/>
          </a:xfrm>
          <a:prstGeom prst="rect">
            <a:avLst/>
          </a:prstGeom>
          <a:solidFill>
            <a:srgbClr val="83C5BE"/>
          </a:solidFill>
          <a:ln w="12700">
            <a:solidFill>
              <a:srgbClr val="83C5BE"/>
            </a:solidFill>
            <a:prstDash val="solid"/>
          </a:ln>
        </p:spPr>
      </p:sp>
      <p:sp>
        <p:nvSpPr>
          <p:cNvPr id="38" name="Text 36"/>
          <p:cNvSpPr/>
          <p:nvPr/>
        </p:nvSpPr>
        <p:spPr>
          <a:xfrm>
            <a:off x="457200" y="4773168"/>
            <a:ext cx="7772400" cy="219456"/>
          </a:xfrm>
          <a:prstGeom prst="rect">
            <a:avLst/>
          </a:prstGeom>
          <a:noFill/>
          <a:ln/>
        </p:spPr>
        <p:txBody>
          <a:bodyPr wrap="square" lIns="0" tIns="0" rIns="0" bIns="0" rtlCol="0" anchor="ctr"/>
          <a:lstStyle/>
          <a:p>
            <a:pPr algn="l" indent="0" marL="0">
              <a:buNone/>
            </a:pPr>
            <a:r>
              <a:rPr lang="en-US" sz="900" dirty="0">
                <a:solidFill>
                  <a:srgbClr val="006D77">
                    <a:alpha val="55000"/>
                  </a:srgbClr>
                </a:solidFill>
                <a:latin typeface="Calibri" pitchFamily="34" charset="0"/>
                <a:ea typeface="Calibri" pitchFamily="34" charset="-122"/>
                <a:cs typeface="Calibri" pitchFamily="34" charset="-120"/>
              </a:rPr>
              <a:t>Source: https://cs2680.seas.harvard.edu/slides/2_agent_use_1.pdf</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DF6F9"/>
        </a:solidFill>
      </p:bgPr>
    </p:bg>
    <p:spTree>
      <p:nvGrpSpPr>
        <p:cNvPr id="1" name=""/>
        <p:cNvGrpSpPr/>
        <p:nvPr/>
      </p:nvGrpSpPr>
      <p:grpSpPr>
        <a:xfrm>
          <a:off x="0" y="0"/>
          <a:ext cx="0" cy="0"/>
          <a:chOff x="0" y="0"/>
          <a:chExt cx="0" cy="0"/>
        </a:xfrm>
      </p:grpSpPr>
      <p:sp>
        <p:nvSpPr>
          <p:cNvPr id="2" name="Text 0"/>
          <p:cNvSpPr/>
          <p:nvPr/>
        </p:nvSpPr>
        <p:spPr>
          <a:xfrm>
            <a:off x="457200" y="310896"/>
            <a:ext cx="8229600" cy="219456"/>
          </a:xfrm>
          <a:prstGeom prst="rect">
            <a:avLst/>
          </a:prstGeom>
          <a:noFill/>
          <a:ln/>
        </p:spPr>
        <p:txBody>
          <a:bodyPr wrap="square" lIns="0" tIns="0" rIns="0" bIns="0" rtlCol="0" anchor="ctr"/>
          <a:lstStyle/>
          <a:p>
            <a:pPr algn="l" indent="0" marL="0">
              <a:buNone/>
            </a:pPr>
            <a:r>
              <a:rPr lang="en-US" sz="1100" spc="140" kern="0" dirty="0">
                <a:solidFill>
                  <a:srgbClr val="E29578"/>
                </a:solidFill>
                <a:latin typeface="Calibri" pitchFamily="34" charset="0"/>
                <a:ea typeface="Calibri" pitchFamily="34" charset="-122"/>
                <a:cs typeface="Calibri" pitchFamily="34" charset="-120"/>
              </a:rPr>
              <a:t>EXTENSIONS</a:t>
            </a:r>
            <a:endParaRPr lang="en-US" sz="1100" dirty="0"/>
          </a:p>
        </p:txBody>
      </p:sp>
      <p:sp>
        <p:nvSpPr>
          <p:cNvPr id="3" name="Text 1"/>
          <p:cNvSpPr/>
          <p:nvPr/>
        </p:nvSpPr>
        <p:spPr>
          <a:xfrm>
            <a:off x="457200" y="548640"/>
            <a:ext cx="8229600" cy="566928"/>
          </a:xfrm>
          <a:prstGeom prst="rect">
            <a:avLst/>
          </a:prstGeom>
          <a:noFill/>
          <a:ln/>
        </p:spPr>
        <p:txBody>
          <a:bodyPr wrap="square" lIns="0" tIns="0" rIns="0" bIns="0" rtlCol="0" anchor="ctr">
            <a:normAutofit/>
          </a:bodyPr>
          <a:lstStyle/>
          <a:p>
            <a:pPr algn="l" indent="0" marL="0">
              <a:buNone/>
            </a:pPr>
            <a:r>
              <a:rPr lang="en-US" sz="2700" b="1" dirty="0">
                <a:solidFill>
                  <a:srgbClr val="006D77"/>
                </a:solidFill>
                <a:latin typeface="Georgia" pitchFamily="34" charset="0"/>
                <a:ea typeface="Georgia" pitchFamily="34" charset="-122"/>
                <a:cs typeface="Georgia" pitchFamily="34" charset="-120"/>
              </a:rPr>
              <a:t>Four extension mechanisms, not interchangeable</a:t>
            </a:r>
            <a:endParaRPr lang="en-US" sz="2700" dirty="0"/>
          </a:p>
        </p:txBody>
      </p:sp>
      <p:sp>
        <p:nvSpPr>
          <p:cNvPr id="4" name="Shape 2"/>
          <p:cNvSpPr/>
          <p:nvPr/>
        </p:nvSpPr>
        <p:spPr>
          <a:xfrm>
            <a:off x="457200" y="1234440"/>
            <a:ext cx="4023360" cy="1463040"/>
          </a:xfrm>
          <a:prstGeom prst="rect">
            <a:avLst/>
          </a:prstGeom>
          <a:solidFill>
            <a:srgbClr val="EDF6F9"/>
          </a:solidFill>
          <a:ln w="9525">
            <a:solidFill>
              <a:srgbClr val="83C5BE"/>
            </a:solidFill>
            <a:prstDash val="solid"/>
          </a:ln>
          <a:effectLst>
            <a:outerShdw sx="100000" sy="100000" kx="0" ky="0" algn="bl" rotWithShape="0" blurRad="101600" dist="25400" dir="5400000">
              <a:srgbClr val="006d77">
                <a:alpha val="12000"/>
              </a:srgbClr>
            </a:outerShdw>
          </a:effectLst>
        </p:spPr>
      </p:sp>
      <p:sp>
        <p:nvSpPr>
          <p:cNvPr id="5" name="Shape 3"/>
          <p:cNvSpPr/>
          <p:nvPr/>
        </p:nvSpPr>
        <p:spPr>
          <a:xfrm>
            <a:off x="457200" y="1234440"/>
            <a:ext cx="50292" cy="1463040"/>
          </a:xfrm>
          <a:prstGeom prst="rect">
            <a:avLst/>
          </a:prstGeom>
          <a:solidFill>
            <a:srgbClr val="E29578"/>
          </a:solidFill>
          <a:ln w="12700">
            <a:solidFill>
              <a:srgbClr val="E29578"/>
            </a:solidFill>
            <a:prstDash val="solid"/>
          </a:ln>
        </p:spPr>
      </p:sp>
      <p:sp>
        <p:nvSpPr>
          <p:cNvPr id="6" name="Text 4"/>
          <p:cNvSpPr/>
          <p:nvPr/>
        </p:nvSpPr>
        <p:spPr>
          <a:xfrm>
            <a:off x="640080" y="1380744"/>
            <a:ext cx="3694176" cy="256032"/>
          </a:xfrm>
          <a:prstGeom prst="rect">
            <a:avLst/>
          </a:prstGeom>
          <a:noFill/>
          <a:ln/>
        </p:spPr>
        <p:txBody>
          <a:bodyPr wrap="square" lIns="0" tIns="0" rIns="0" bIns="0" rtlCol="0" anchor="ctr"/>
          <a:lstStyle/>
          <a:p>
            <a:pPr algn="l" indent="0" marL="0">
              <a:buNone/>
            </a:pPr>
            <a:r>
              <a:rPr lang="en-US" sz="1400" b="1" dirty="0">
                <a:solidFill>
                  <a:srgbClr val="006D77"/>
                </a:solidFill>
                <a:latin typeface="Georgia" pitchFamily="34" charset="0"/>
                <a:ea typeface="Georgia" pitchFamily="34" charset="-122"/>
                <a:cs typeface="Georgia" pitchFamily="34" charset="-120"/>
              </a:rPr>
              <a:t>Skill</a:t>
            </a:r>
            <a:endParaRPr lang="en-US" sz="1400" dirty="0"/>
          </a:p>
        </p:txBody>
      </p:sp>
      <p:sp>
        <p:nvSpPr>
          <p:cNvPr id="7" name="Text 5"/>
          <p:cNvSpPr/>
          <p:nvPr/>
        </p:nvSpPr>
        <p:spPr>
          <a:xfrm>
            <a:off x="640080" y="1673352"/>
            <a:ext cx="3694176" cy="841248"/>
          </a:xfrm>
          <a:prstGeom prst="rect">
            <a:avLst/>
          </a:prstGeom>
          <a:noFill/>
          <a:ln/>
        </p:spPr>
        <p:txBody>
          <a:bodyPr wrap="square" lIns="0" tIns="0" rIns="0" bIns="0" rtlCol="0" anchor="t"/>
          <a:lstStyle/>
          <a:p>
            <a:pPr algn="l" indent="0" marL="0">
              <a:buNone/>
            </a:pPr>
            <a:r>
              <a:rPr lang="en-US" sz="1000" dirty="0">
                <a:solidFill>
                  <a:srgbClr val="006D77"/>
                </a:solidFill>
                <a:latin typeface="Calibri" pitchFamily="34" charset="0"/>
                <a:ea typeface="Calibri" pitchFamily="34" charset="-122"/>
                <a:cs typeface="Calibri" pitchFamily="34" charset="-120"/>
              </a:rPr>
              <a:t>How the agent should perform a task. A folder whose description controls discovery and whose body holds the procedure. Model-invoked when the description matches the task, or user-invoked with /&lt;skill-name&gt;.</a:t>
            </a:r>
            <a:endParaRPr lang="en-US" sz="1000" dirty="0"/>
          </a:p>
        </p:txBody>
      </p:sp>
      <p:sp>
        <p:nvSpPr>
          <p:cNvPr id="8" name="Shape 6"/>
          <p:cNvSpPr/>
          <p:nvPr/>
        </p:nvSpPr>
        <p:spPr>
          <a:xfrm>
            <a:off x="4663440" y="1234440"/>
            <a:ext cx="4023360" cy="1463040"/>
          </a:xfrm>
          <a:prstGeom prst="rect">
            <a:avLst/>
          </a:prstGeom>
          <a:solidFill>
            <a:srgbClr val="FFDDD2"/>
          </a:solidFill>
          <a:ln w="9525">
            <a:solidFill>
              <a:srgbClr val="83C5BE"/>
            </a:solidFill>
            <a:prstDash val="solid"/>
          </a:ln>
          <a:effectLst>
            <a:outerShdw sx="100000" sy="100000" kx="0" ky="0" algn="bl" rotWithShape="0" blurRad="101600" dist="25400" dir="5400000">
              <a:srgbClr val="006d77">
                <a:alpha val="12000"/>
              </a:srgbClr>
            </a:outerShdw>
          </a:effectLst>
        </p:spPr>
      </p:sp>
      <p:sp>
        <p:nvSpPr>
          <p:cNvPr id="9" name="Shape 7"/>
          <p:cNvSpPr/>
          <p:nvPr/>
        </p:nvSpPr>
        <p:spPr>
          <a:xfrm>
            <a:off x="4663440" y="1234440"/>
            <a:ext cx="50292" cy="1463040"/>
          </a:xfrm>
          <a:prstGeom prst="rect">
            <a:avLst/>
          </a:prstGeom>
          <a:solidFill>
            <a:srgbClr val="E29578"/>
          </a:solidFill>
          <a:ln w="12700">
            <a:solidFill>
              <a:srgbClr val="E29578"/>
            </a:solidFill>
            <a:prstDash val="solid"/>
          </a:ln>
        </p:spPr>
      </p:sp>
      <p:sp>
        <p:nvSpPr>
          <p:cNvPr id="10" name="Text 8"/>
          <p:cNvSpPr/>
          <p:nvPr/>
        </p:nvSpPr>
        <p:spPr>
          <a:xfrm>
            <a:off x="4846320" y="1380744"/>
            <a:ext cx="3694176" cy="256032"/>
          </a:xfrm>
          <a:prstGeom prst="rect">
            <a:avLst/>
          </a:prstGeom>
          <a:noFill/>
          <a:ln/>
        </p:spPr>
        <p:txBody>
          <a:bodyPr wrap="square" lIns="0" tIns="0" rIns="0" bIns="0" rtlCol="0" anchor="ctr"/>
          <a:lstStyle/>
          <a:p>
            <a:pPr algn="l" indent="0" marL="0">
              <a:buNone/>
            </a:pPr>
            <a:r>
              <a:rPr lang="en-US" sz="1400" b="1" dirty="0">
                <a:solidFill>
                  <a:srgbClr val="006D77"/>
                </a:solidFill>
                <a:latin typeface="Georgia" pitchFamily="34" charset="0"/>
                <a:ea typeface="Georgia" pitchFamily="34" charset="-122"/>
                <a:cs typeface="Georgia" pitchFamily="34" charset="-120"/>
              </a:rPr>
              <a:t>MCP</a:t>
            </a:r>
            <a:endParaRPr lang="en-US" sz="1400" dirty="0"/>
          </a:p>
        </p:txBody>
      </p:sp>
      <p:sp>
        <p:nvSpPr>
          <p:cNvPr id="11" name="Text 9"/>
          <p:cNvSpPr/>
          <p:nvPr/>
        </p:nvSpPr>
        <p:spPr>
          <a:xfrm>
            <a:off x="4846320" y="1673352"/>
            <a:ext cx="3694176" cy="841248"/>
          </a:xfrm>
          <a:prstGeom prst="rect">
            <a:avLst/>
          </a:prstGeom>
          <a:noFill/>
          <a:ln/>
        </p:spPr>
        <p:txBody>
          <a:bodyPr wrap="square" lIns="0" tIns="0" rIns="0" bIns="0" rtlCol="0" anchor="t"/>
          <a:lstStyle/>
          <a:p>
            <a:pPr algn="l" indent="0" marL="0">
              <a:buNone/>
            </a:pPr>
            <a:r>
              <a:rPr lang="en-US" sz="1000" dirty="0">
                <a:solidFill>
                  <a:srgbClr val="006D77"/>
                </a:solidFill>
                <a:latin typeface="Calibri" pitchFamily="34" charset="0"/>
                <a:ea typeface="Calibri" pitchFamily="34" charset="-122"/>
                <a:cs typeface="Calibri" pitchFamily="34" charset="-120"/>
              </a:rPr>
              <a:t>Which external data and actions the agent can reach, through a standard protocol.</a:t>
            </a:r>
            <a:endParaRPr lang="en-US" sz="1000" dirty="0"/>
          </a:p>
        </p:txBody>
      </p:sp>
      <p:sp>
        <p:nvSpPr>
          <p:cNvPr id="12" name="Shape 10"/>
          <p:cNvSpPr/>
          <p:nvPr/>
        </p:nvSpPr>
        <p:spPr>
          <a:xfrm>
            <a:off x="457200" y="2788920"/>
            <a:ext cx="4023360" cy="1463040"/>
          </a:xfrm>
          <a:prstGeom prst="rect">
            <a:avLst/>
          </a:prstGeom>
          <a:solidFill>
            <a:srgbClr val="EDF6F9"/>
          </a:solidFill>
          <a:ln w="9525">
            <a:solidFill>
              <a:srgbClr val="83C5BE"/>
            </a:solidFill>
            <a:prstDash val="solid"/>
          </a:ln>
          <a:effectLst>
            <a:outerShdw sx="100000" sy="100000" kx="0" ky="0" algn="bl" rotWithShape="0" blurRad="101600" dist="25400" dir="5400000">
              <a:srgbClr val="006d77">
                <a:alpha val="12000"/>
              </a:srgbClr>
            </a:outerShdw>
          </a:effectLst>
        </p:spPr>
      </p:sp>
      <p:sp>
        <p:nvSpPr>
          <p:cNvPr id="13" name="Shape 11"/>
          <p:cNvSpPr/>
          <p:nvPr/>
        </p:nvSpPr>
        <p:spPr>
          <a:xfrm>
            <a:off x="457200" y="2788920"/>
            <a:ext cx="50292" cy="1463040"/>
          </a:xfrm>
          <a:prstGeom prst="rect">
            <a:avLst/>
          </a:prstGeom>
          <a:solidFill>
            <a:srgbClr val="E29578"/>
          </a:solidFill>
          <a:ln w="12700">
            <a:solidFill>
              <a:srgbClr val="E29578"/>
            </a:solidFill>
            <a:prstDash val="solid"/>
          </a:ln>
        </p:spPr>
      </p:sp>
      <p:sp>
        <p:nvSpPr>
          <p:cNvPr id="14" name="Text 12"/>
          <p:cNvSpPr/>
          <p:nvPr/>
        </p:nvSpPr>
        <p:spPr>
          <a:xfrm>
            <a:off x="640080" y="2935224"/>
            <a:ext cx="3694176" cy="256032"/>
          </a:xfrm>
          <a:prstGeom prst="rect">
            <a:avLst/>
          </a:prstGeom>
          <a:noFill/>
          <a:ln/>
        </p:spPr>
        <p:txBody>
          <a:bodyPr wrap="square" lIns="0" tIns="0" rIns="0" bIns="0" rtlCol="0" anchor="ctr"/>
          <a:lstStyle/>
          <a:p>
            <a:pPr algn="l" indent="0" marL="0">
              <a:buNone/>
            </a:pPr>
            <a:r>
              <a:rPr lang="en-US" sz="1400" b="1" dirty="0">
                <a:solidFill>
                  <a:srgbClr val="006D77"/>
                </a:solidFill>
                <a:latin typeface="Georgia" pitchFamily="34" charset="0"/>
                <a:ea typeface="Georgia" pitchFamily="34" charset="-122"/>
                <a:cs typeface="Georgia" pitchFamily="34" charset="-120"/>
              </a:rPr>
              <a:t>Hook</a:t>
            </a:r>
            <a:endParaRPr lang="en-US" sz="1400" dirty="0"/>
          </a:p>
        </p:txBody>
      </p:sp>
      <p:sp>
        <p:nvSpPr>
          <p:cNvPr id="15" name="Text 13"/>
          <p:cNvSpPr/>
          <p:nvPr/>
        </p:nvSpPr>
        <p:spPr>
          <a:xfrm>
            <a:off x="640080" y="3227832"/>
            <a:ext cx="3694176" cy="841248"/>
          </a:xfrm>
          <a:prstGeom prst="rect">
            <a:avLst/>
          </a:prstGeom>
          <a:noFill/>
          <a:ln/>
        </p:spPr>
        <p:txBody>
          <a:bodyPr wrap="square" lIns="0" tIns="0" rIns="0" bIns="0" rtlCol="0" anchor="t"/>
          <a:lstStyle/>
          <a:p>
            <a:pPr algn="l" indent="0" marL="0">
              <a:buNone/>
            </a:pPr>
            <a:r>
              <a:rPr lang="en-US" sz="1000" dirty="0">
                <a:solidFill>
                  <a:srgbClr val="006D77"/>
                </a:solidFill>
                <a:latin typeface="Calibri" pitchFamily="34" charset="0"/>
                <a:ea typeface="Calibri" pitchFamily="34" charset="-122"/>
                <a:cs typeface="Calibri" pitchFamily="34" charset="-120"/>
              </a:rPr>
              <a:t>What happens automatically at a lifecycle event: session start, user prompt, tool call, tool result, stop.</a:t>
            </a:r>
            <a:endParaRPr lang="en-US" sz="1000" dirty="0"/>
          </a:p>
        </p:txBody>
      </p:sp>
      <p:sp>
        <p:nvSpPr>
          <p:cNvPr id="16" name="Shape 14"/>
          <p:cNvSpPr/>
          <p:nvPr/>
        </p:nvSpPr>
        <p:spPr>
          <a:xfrm>
            <a:off x="4663440" y="2788920"/>
            <a:ext cx="4023360" cy="1463040"/>
          </a:xfrm>
          <a:prstGeom prst="rect">
            <a:avLst/>
          </a:prstGeom>
          <a:solidFill>
            <a:srgbClr val="FFDDD2"/>
          </a:solidFill>
          <a:ln w="9525">
            <a:solidFill>
              <a:srgbClr val="83C5BE"/>
            </a:solidFill>
            <a:prstDash val="solid"/>
          </a:ln>
          <a:effectLst>
            <a:outerShdw sx="100000" sy="100000" kx="0" ky="0" algn="bl" rotWithShape="0" blurRad="101600" dist="25400" dir="5400000">
              <a:srgbClr val="006d77">
                <a:alpha val="12000"/>
              </a:srgbClr>
            </a:outerShdw>
          </a:effectLst>
        </p:spPr>
      </p:sp>
      <p:sp>
        <p:nvSpPr>
          <p:cNvPr id="17" name="Shape 15"/>
          <p:cNvSpPr/>
          <p:nvPr/>
        </p:nvSpPr>
        <p:spPr>
          <a:xfrm>
            <a:off x="4663440" y="2788920"/>
            <a:ext cx="50292" cy="1463040"/>
          </a:xfrm>
          <a:prstGeom prst="rect">
            <a:avLst/>
          </a:prstGeom>
          <a:solidFill>
            <a:srgbClr val="E29578"/>
          </a:solidFill>
          <a:ln w="12700">
            <a:solidFill>
              <a:srgbClr val="E29578"/>
            </a:solidFill>
            <a:prstDash val="solid"/>
          </a:ln>
        </p:spPr>
      </p:sp>
      <p:sp>
        <p:nvSpPr>
          <p:cNvPr id="18" name="Text 16"/>
          <p:cNvSpPr/>
          <p:nvPr/>
        </p:nvSpPr>
        <p:spPr>
          <a:xfrm>
            <a:off x="4846320" y="2935224"/>
            <a:ext cx="3694176" cy="256032"/>
          </a:xfrm>
          <a:prstGeom prst="rect">
            <a:avLst/>
          </a:prstGeom>
          <a:noFill/>
          <a:ln/>
        </p:spPr>
        <p:txBody>
          <a:bodyPr wrap="square" lIns="0" tIns="0" rIns="0" bIns="0" rtlCol="0" anchor="ctr"/>
          <a:lstStyle/>
          <a:p>
            <a:pPr algn="l" indent="0" marL="0">
              <a:buNone/>
            </a:pPr>
            <a:r>
              <a:rPr lang="en-US" sz="1400" b="1" dirty="0">
                <a:solidFill>
                  <a:srgbClr val="006D77"/>
                </a:solidFill>
                <a:latin typeface="Georgia" pitchFamily="34" charset="0"/>
                <a:ea typeface="Georgia" pitchFamily="34" charset="-122"/>
                <a:cs typeface="Georgia" pitchFamily="34" charset="-120"/>
              </a:rPr>
              <a:t>Plugin</a:t>
            </a:r>
            <a:endParaRPr lang="en-US" sz="1400" dirty="0"/>
          </a:p>
        </p:txBody>
      </p:sp>
      <p:sp>
        <p:nvSpPr>
          <p:cNvPr id="19" name="Text 17"/>
          <p:cNvSpPr/>
          <p:nvPr/>
        </p:nvSpPr>
        <p:spPr>
          <a:xfrm>
            <a:off x="4846320" y="3227832"/>
            <a:ext cx="3694176" cy="841248"/>
          </a:xfrm>
          <a:prstGeom prst="rect">
            <a:avLst/>
          </a:prstGeom>
          <a:noFill/>
          <a:ln/>
        </p:spPr>
        <p:txBody>
          <a:bodyPr wrap="square" lIns="0" tIns="0" rIns="0" bIns="0" rtlCol="0" anchor="t"/>
          <a:lstStyle/>
          <a:p>
            <a:pPr algn="l" indent="0" marL="0">
              <a:buNone/>
            </a:pPr>
            <a:r>
              <a:rPr lang="en-US" sz="1000" dirty="0">
                <a:solidFill>
                  <a:srgbClr val="006D77"/>
                </a:solidFill>
                <a:latin typeface="Calibri" pitchFamily="34" charset="0"/>
                <a:ea typeface="Calibri" pitchFamily="34" charset="-122"/>
                <a:cs typeface="Calibri" pitchFamily="34" charset="-120"/>
              </a:rPr>
              <a:t>How the extensions are packaged and distributed: installation, versioning, namespacing, team reuse.</a:t>
            </a:r>
            <a:endParaRPr lang="en-US" sz="1000" dirty="0"/>
          </a:p>
        </p:txBody>
      </p:sp>
      <p:sp>
        <p:nvSpPr>
          <p:cNvPr id="20" name="Text 18"/>
          <p:cNvSpPr/>
          <p:nvPr/>
        </p:nvSpPr>
        <p:spPr>
          <a:xfrm>
            <a:off x="457200" y="4096512"/>
            <a:ext cx="8229600" cy="365760"/>
          </a:xfrm>
          <a:prstGeom prst="rect">
            <a:avLst/>
          </a:prstGeom>
          <a:noFill/>
          <a:ln/>
        </p:spPr>
        <p:txBody>
          <a:bodyPr wrap="square" lIns="0" tIns="0" rIns="0" bIns="0" rtlCol="0" anchor="ctr"/>
          <a:lstStyle/>
          <a:p>
            <a:pPr algn="l" indent="0" marL="0">
              <a:buNone/>
            </a:pPr>
            <a:r>
              <a:rPr lang="en-US" sz="950" dirty="0">
                <a:solidFill>
                  <a:srgbClr val="006D77">
                    <a:alpha val="85000"/>
                  </a:srgbClr>
                </a:solidFill>
                <a:latin typeface="Calibri" pitchFamily="34" charset="0"/>
                <a:ea typeface="Calibri" pitchFamily="34" charset="-122"/>
                <a:cs typeface="Calibri" pitchFamily="34" charset="-120"/>
              </a:rPr>
              <a:t>A skill decides how, MCP reaches outside, a hook enforces, a plugin distributes. Each attaches at a different point in the agent loop.</a:t>
            </a:r>
            <a:endParaRPr lang="en-US" sz="950" dirty="0"/>
          </a:p>
        </p:txBody>
      </p:sp>
      <p:sp>
        <p:nvSpPr>
          <p:cNvPr id="21" name="Shape 19"/>
          <p:cNvSpPr/>
          <p:nvPr/>
        </p:nvSpPr>
        <p:spPr>
          <a:xfrm>
            <a:off x="8485632" y="4645152"/>
            <a:ext cx="420624" cy="274320"/>
          </a:xfrm>
          <a:prstGeom prst="roundRect">
            <a:avLst>
              <a:gd name="adj" fmla="val 26667"/>
            </a:avLst>
          </a:prstGeom>
          <a:solidFill>
            <a:srgbClr val="006D77"/>
          </a:solidFill>
          <a:ln w="12700">
            <a:solidFill>
              <a:srgbClr val="006D77"/>
            </a:solidFill>
            <a:prstDash val="solid"/>
          </a:ln>
        </p:spPr>
      </p:sp>
      <p:sp>
        <p:nvSpPr>
          <p:cNvPr id="22" name="Text 20"/>
          <p:cNvSpPr/>
          <p:nvPr/>
        </p:nvSpPr>
        <p:spPr>
          <a:xfrm>
            <a:off x="8485632" y="4645152"/>
            <a:ext cx="420624" cy="274320"/>
          </a:xfrm>
          <a:prstGeom prst="rect">
            <a:avLst/>
          </a:prstGeom>
          <a:noFill/>
          <a:ln/>
        </p:spPr>
        <p:txBody>
          <a:bodyPr wrap="square" lIns="0" tIns="0" rIns="0" bIns="0" rtlCol="0" anchor="ctr"/>
          <a:lstStyle/>
          <a:p>
            <a:pPr algn="ctr" indent="0" marL="0">
              <a:buNone/>
            </a:pPr>
            <a:r>
              <a:rPr lang="en-US" sz="1100" dirty="0">
                <a:solidFill>
                  <a:srgbClr val="EDF6F9"/>
                </a:solidFill>
                <a:latin typeface="Calibri" pitchFamily="34" charset="0"/>
                <a:ea typeface="Calibri" pitchFamily="34" charset="-122"/>
                <a:cs typeface="Calibri" pitchFamily="34" charset="-120"/>
              </a:rPr>
              <a:t>10</a:t>
            </a:r>
            <a:endParaRPr lang="en-US" sz="1100" dirty="0"/>
          </a:p>
        </p:txBody>
      </p:sp>
      <p:sp>
        <p:nvSpPr>
          <p:cNvPr id="23" name="Shape 21"/>
          <p:cNvSpPr/>
          <p:nvPr/>
        </p:nvSpPr>
        <p:spPr>
          <a:xfrm>
            <a:off x="457200" y="4754880"/>
            <a:ext cx="7772400" cy="10973"/>
          </a:xfrm>
          <a:prstGeom prst="rect">
            <a:avLst/>
          </a:prstGeom>
          <a:solidFill>
            <a:srgbClr val="83C5BE"/>
          </a:solidFill>
          <a:ln w="12700">
            <a:solidFill>
              <a:srgbClr val="83C5BE"/>
            </a:solidFill>
            <a:prstDash val="solid"/>
          </a:ln>
        </p:spPr>
      </p:sp>
      <p:sp>
        <p:nvSpPr>
          <p:cNvPr id="24" name="Text 22"/>
          <p:cNvSpPr/>
          <p:nvPr/>
        </p:nvSpPr>
        <p:spPr>
          <a:xfrm>
            <a:off x="457200" y="4773168"/>
            <a:ext cx="7772400" cy="219456"/>
          </a:xfrm>
          <a:prstGeom prst="rect">
            <a:avLst/>
          </a:prstGeom>
          <a:noFill/>
          <a:ln/>
        </p:spPr>
        <p:txBody>
          <a:bodyPr wrap="square" lIns="0" tIns="0" rIns="0" bIns="0" rtlCol="0" anchor="ctr"/>
          <a:lstStyle/>
          <a:p>
            <a:pPr algn="l" indent="0" marL="0">
              <a:buNone/>
            </a:pPr>
            <a:r>
              <a:rPr lang="en-US" sz="900" dirty="0">
                <a:solidFill>
                  <a:srgbClr val="006D77">
                    <a:alpha val="55000"/>
                  </a:srgbClr>
                </a:solidFill>
                <a:latin typeface="Calibri" pitchFamily="34" charset="0"/>
                <a:ea typeface="Calibri" pitchFamily="34" charset="-122"/>
                <a:cs typeface="Calibri" pitchFamily="34" charset="-120"/>
              </a:rPr>
              <a:t>Source: https://cs2680.seas.harvard.edu/slides/2_agent_use_1.pdf</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DF6F9"/>
        </a:solidFill>
      </p:bgPr>
    </p:bg>
    <p:spTree>
      <p:nvGrpSpPr>
        <p:cNvPr id="1" name=""/>
        <p:cNvGrpSpPr/>
        <p:nvPr/>
      </p:nvGrpSpPr>
      <p:grpSpPr>
        <a:xfrm>
          <a:off x="0" y="0"/>
          <a:ext cx="0" cy="0"/>
          <a:chOff x="0" y="0"/>
          <a:chExt cx="0" cy="0"/>
        </a:xfrm>
      </p:grpSpPr>
      <p:sp>
        <p:nvSpPr>
          <p:cNvPr id="2" name="Text 0"/>
          <p:cNvSpPr/>
          <p:nvPr/>
        </p:nvSpPr>
        <p:spPr>
          <a:xfrm>
            <a:off x="457200" y="310896"/>
            <a:ext cx="8229600" cy="219456"/>
          </a:xfrm>
          <a:prstGeom prst="rect">
            <a:avLst/>
          </a:prstGeom>
          <a:noFill/>
          <a:ln/>
        </p:spPr>
        <p:txBody>
          <a:bodyPr wrap="square" lIns="0" tIns="0" rIns="0" bIns="0" rtlCol="0" anchor="ctr"/>
          <a:lstStyle/>
          <a:p>
            <a:pPr algn="l" indent="0" marL="0">
              <a:buNone/>
            </a:pPr>
            <a:r>
              <a:rPr lang="en-US" sz="1100" spc="140" kern="0" dirty="0">
                <a:solidFill>
                  <a:srgbClr val="E29578"/>
                </a:solidFill>
                <a:latin typeface="Calibri" pitchFamily="34" charset="0"/>
                <a:ea typeface="Calibri" pitchFamily="34" charset="-122"/>
                <a:cs typeface="Calibri" pitchFamily="34" charset="-120"/>
              </a:rPr>
              <a:t>MCP</a:t>
            </a:r>
            <a:endParaRPr lang="en-US" sz="1100" dirty="0"/>
          </a:p>
        </p:txBody>
      </p:sp>
      <p:sp>
        <p:nvSpPr>
          <p:cNvPr id="3" name="Text 1"/>
          <p:cNvSpPr/>
          <p:nvPr/>
        </p:nvSpPr>
        <p:spPr>
          <a:xfrm>
            <a:off x="457200" y="548640"/>
            <a:ext cx="8229600" cy="566928"/>
          </a:xfrm>
          <a:prstGeom prst="rect">
            <a:avLst/>
          </a:prstGeom>
          <a:noFill/>
          <a:ln/>
        </p:spPr>
        <p:txBody>
          <a:bodyPr wrap="square" lIns="0" tIns="0" rIns="0" bIns="0" rtlCol="0" anchor="ctr">
            <a:normAutofit/>
          </a:bodyPr>
          <a:lstStyle/>
          <a:p>
            <a:pPr algn="l" indent="0" marL="0">
              <a:buNone/>
            </a:pPr>
            <a:r>
              <a:rPr lang="en-US" sz="2700" b="1" dirty="0">
                <a:solidFill>
                  <a:srgbClr val="006D77"/>
                </a:solidFill>
                <a:latin typeface="Georgia" pitchFamily="34" charset="0"/>
                <a:ea typeface="Georgia" pitchFamily="34" charset="-122"/>
                <a:cs typeface="Georgia" pitchFamily="34" charset="-120"/>
              </a:rPr>
              <a:t>MCP: one protocol for external capability</a:t>
            </a:r>
            <a:endParaRPr lang="en-US" sz="2700" dirty="0"/>
          </a:p>
        </p:txBody>
      </p:sp>
      <p:sp>
        <p:nvSpPr>
          <p:cNvPr id="4" name="Shape 2"/>
          <p:cNvSpPr/>
          <p:nvPr/>
        </p:nvSpPr>
        <p:spPr>
          <a:xfrm>
            <a:off x="457200" y="1234440"/>
            <a:ext cx="4937760" cy="3200400"/>
          </a:xfrm>
          <a:prstGeom prst="rect">
            <a:avLst/>
          </a:prstGeom>
          <a:solidFill>
            <a:srgbClr val="EDF6F9"/>
          </a:solidFill>
          <a:ln w="9525">
            <a:solidFill>
              <a:srgbClr val="83C5BE"/>
            </a:solidFill>
            <a:prstDash val="solid"/>
          </a:ln>
          <a:effectLst>
            <a:outerShdw sx="100000" sy="100000" kx="0" ky="0" algn="bl" rotWithShape="0" blurRad="101600" dist="25400" dir="5400000">
              <a:srgbClr val="006d77">
                <a:alpha val="12000"/>
              </a:srgbClr>
            </a:outerShdw>
          </a:effectLst>
        </p:spPr>
      </p:sp>
      <p:sp>
        <p:nvSpPr>
          <p:cNvPr id="5" name="Shape 3"/>
          <p:cNvSpPr/>
          <p:nvPr/>
        </p:nvSpPr>
        <p:spPr>
          <a:xfrm>
            <a:off x="457200" y="1234440"/>
            <a:ext cx="50292" cy="3200400"/>
          </a:xfrm>
          <a:prstGeom prst="rect">
            <a:avLst/>
          </a:prstGeom>
          <a:solidFill>
            <a:srgbClr val="E29578"/>
          </a:solidFill>
          <a:ln w="12700">
            <a:solidFill>
              <a:srgbClr val="E29578"/>
            </a:solidFill>
            <a:prstDash val="solid"/>
          </a:ln>
        </p:spPr>
      </p:sp>
      <p:sp>
        <p:nvSpPr>
          <p:cNvPr id="6" name="Text 4"/>
          <p:cNvSpPr/>
          <p:nvPr/>
        </p:nvSpPr>
        <p:spPr>
          <a:xfrm>
            <a:off x="640080" y="1380744"/>
            <a:ext cx="4608576" cy="219456"/>
          </a:xfrm>
          <a:prstGeom prst="rect">
            <a:avLst/>
          </a:prstGeom>
          <a:noFill/>
          <a:ln/>
        </p:spPr>
        <p:txBody>
          <a:bodyPr wrap="square" lIns="0" tIns="0" rIns="0" bIns="0" rtlCol="0" anchor="ctr"/>
          <a:lstStyle/>
          <a:p>
            <a:pPr algn="l" indent="0" marL="0">
              <a:buNone/>
            </a:pPr>
            <a:r>
              <a:rPr lang="en-US" sz="1000" b="1" spc="100" kern="0" dirty="0">
                <a:solidFill>
                  <a:srgbClr val="006D77"/>
                </a:solidFill>
                <a:latin typeface="Calibri" pitchFamily="34" charset="0"/>
                <a:ea typeface="Calibri" pitchFamily="34" charset="-122"/>
                <a:cs typeface="Calibri" pitchFamily="34" charset="-120"/>
              </a:rPr>
              <a:t>THE PROTOCOL</a:t>
            </a:r>
            <a:endParaRPr lang="en-US" sz="1000" dirty="0"/>
          </a:p>
        </p:txBody>
      </p:sp>
      <p:sp>
        <p:nvSpPr>
          <p:cNvPr id="7" name="Text 5"/>
          <p:cNvSpPr/>
          <p:nvPr/>
        </p:nvSpPr>
        <p:spPr>
          <a:xfrm>
            <a:off x="640080" y="1655064"/>
            <a:ext cx="4608576" cy="457200"/>
          </a:xfrm>
          <a:prstGeom prst="rect">
            <a:avLst/>
          </a:prstGeom>
          <a:noFill/>
          <a:ln/>
        </p:spPr>
        <p:txBody>
          <a:bodyPr wrap="square" lIns="0" tIns="0" rIns="0" bIns="0" rtlCol="0" anchor="t"/>
          <a:lstStyle/>
          <a:p>
            <a:pPr algn="l" indent="0" marL="0">
              <a:buNone/>
            </a:pPr>
            <a:r>
              <a:rPr lang="en-US" sz="1000" dirty="0">
                <a:solidFill>
                  <a:srgbClr val="006D77"/>
                </a:solidFill>
                <a:latin typeface="Calibri" pitchFamily="34" charset="0"/>
                <a:ea typeface="Calibri" pitchFamily="34" charset="-122"/>
                <a:cs typeface="Calibri" pitchFamily="34" charset="-120"/>
              </a:rPr>
              <a:t>MCP (Model Context Protocol) connects the agent to external services through a standard protocol. Before MCP exists: NxM implementations.</a:t>
            </a:r>
            <a:endParaRPr lang="en-US" sz="1000" dirty="0"/>
          </a:p>
        </p:txBody>
      </p:sp>
      <p:sp>
        <p:nvSpPr>
          <p:cNvPr id="8" name="Shape 6"/>
          <p:cNvSpPr/>
          <p:nvPr/>
        </p:nvSpPr>
        <p:spPr>
          <a:xfrm>
            <a:off x="640080" y="2221992"/>
            <a:ext cx="1024128" cy="502920"/>
          </a:xfrm>
          <a:prstGeom prst="rect">
            <a:avLst/>
          </a:prstGeom>
          <a:solidFill>
            <a:srgbClr val="006D77"/>
          </a:solidFill>
          <a:ln w="9525">
            <a:solidFill>
              <a:srgbClr val="83C5BE"/>
            </a:solidFill>
            <a:prstDash val="solid"/>
          </a:ln>
        </p:spPr>
      </p:sp>
      <p:sp>
        <p:nvSpPr>
          <p:cNvPr id="9" name="Text 7"/>
          <p:cNvSpPr/>
          <p:nvPr/>
        </p:nvSpPr>
        <p:spPr>
          <a:xfrm>
            <a:off x="640080" y="2221992"/>
            <a:ext cx="1024128" cy="502920"/>
          </a:xfrm>
          <a:prstGeom prst="rect">
            <a:avLst/>
          </a:prstGeom>
          <a:noFill/>
          <a:ln/>
        </p:spPr>
        <p:txBody>
          <a:bodyPr wrap="square" lIns="0" tIns="0" rIns="0" bIns="0" rtlCol="0" anchor="ctr"/>
          <a:lstStyle/>
          <a:p>
            <a:pPr algn="ctr" indent="0" marL="0">
              <a:buNone/>
            </a:pPr>
            <a:r>
              <a:rPr lang="en-US" sz="800" dirty="0">
                <a:solidFill>
                  <a:srgbClr val="EDF6F9"/>
                </a:solidFill>
                <a:latin typeface="Calibri" pitchFamily="34" charset="0"/>
                <a:ea typeface="Calibri" pitchFamily="34" charset="-122"/>
                <a:cs typeface="Calibri" pitchFamily="34" charset="-120"/>
              </a:rPr>
              <a:t>Host (Claude Code)</a:t>
            </a:r>
            <a:endParaRPr lang="en-US" sz="800" dirty="0"/>
          </a:p>
        </p:txBody>
      </p:sp>
      <p:sp>
        <p:nvSpPr>
          <p:cNvPr id="10" name="Text 8"/>
          <p:cNvSpPr/>
          <p:nvPr/>
        </p:nvSpPr>
        <p:spPr>
          <a:xfrm>
            <a:off x="1664208" y="2313432"/>
            <a:ext cx="109728" cy="320040"/>
          </a:xfrm>
          <a:prstGeom prst="rect">
            <a:avLst/>
          </a:prstGeom>
          <a:noFill/>
          <a:ln/>
        </p:spPr>
        <p:txBody>
          <a:bodyPr wrap="square" lIns="0" tIns="0" rIns="0" bIns="0" rtlCol="0" anchor="ctr"/>
          <a:lstStyle/>
          <a:p>
            <a:pPr algn="ctr" indent="0" marL="0">
              <a:buNone/>
            </a:pPr>
            <a:r>
              <a:rPr lang="en-US" sz="1000" dirty="0">
                <a:solidFill>
                  <a:srgbClr val="E29578"/>
                </a:solidFill>
                <a:latin typeface="Calibri" pitchFamily="34" charset="0"/>
                <a:ea typeface="Calibri" pitchFamily="34" charset="-122"/>
                <a:cs typeface="Calibri" pitchFamily="34" charset="-120"/>
              </a:rPr>
              <a:t>&gt;</a:t>
            </a:r>
            <a:endParaRPr lang="en-US" sz="1000" dirty="0"/>
          </a:p>
        </p:txBody>
      </p:sp>
      <p:sp>
        <p:nvSpPr>
          <p:cNvPr id="11" name="Shape 9"/>
          <p:cNvSpPr/>
          <p:nvPr/>
        </p:nvSpPr>
        <p:spPr>
          <a:xfrm>
            <a:off x="1773936" y="2221992"/>
            <a:ext cx="1024128" cy="502920"/>
          </a:xfrm>
          <a:prstGeom prst="rect">
            <a:avLst/>
          </a:prstGeom>
          <a:solidFill>
            <a:srgbClr val="FFDDD2"/>
          </a:solidFill>
          <a:ln w="9525">
            <a:solidFill>
              <a:srgbClr val="83C5BE"/>
            </a:solidFill>
            <a:prstDash val="solid"/>
          </a:ln>
        </p:spPr>
      </p:sp>
      <p:sp>
        <p:nvSpPr>
          <p:cNvPr id="12" name="Text 10"/>
          <p:cNvSpPr/>
          <p:nvPr/>
        </p:nvSpPr>
        <p:spPr>
          <a:xfrm>
            <a:off x="1773936" y="2221992"/>
            <a:ext cx="1024128" cy="502920"/>
          </a:xfrm>
          <a:prstGeom prst="rect">
            <a:avLst/>
          </a:prstGeom>
          <a:noFill/>
          <a:ln/>
        </p:spPr>
        <p:txBody>
          <a:bodyPr wrap="square" lIns="0" tIns="0" rIns="0" bIns="0" rtlCol="0" anchor="ctr"/>
          <a:lstStyle/>
          <a:p>
            <a:pPr algn="ctr" indent="0" marL="0">
              <a:buNone/>
            </a:pPr>
            <a:r>
              <a:rPr lang="en-US" sz="800" dirty="0">
                <a:solidFill>
                  <a:srgbClr val="006D77"/>
                </a:solidFill>
                <a:latin typeface="Calibri" pitchFamily="34" charset="0"/>
                <a:ea typeface="Calibri" pitchFamily="34" charset="-122"/>
                <a:cs typeface="Calibri" pitchFamily="34" charset="-120"/>
              </a:rPr>
              <a:t>MCP client</a:t>
            </a:r>
            <a:endParaRPr lang="en-US" sz="800" dirty="0"/>
          </a:p>
        </p:txBody>
      </p:sp>
      <p:sp>
        <p:nvSpPr>
          <p:cNvPr id="13" name="Text 11"/>
          <p:cNvSpPr/>
          <p:nvPr/>
        </p:nvSpPr>
        <p:spPr>
          <a:xfrm>
            <a:off x="2798064" y="2313432"/>
            <a:ext cx="109728" cy="320040"/>
          </a:xfrm>
          <a:prstGeom prst="rect">
            <a:avLst/>
          </a:prstGeom>
          <a:noFill/>
          <a:ln/>
        </p:spPr>
        <p:txBody>
          <a:bodyPr wrap="square" lIns="0" tIns="0" rIns="0" bIns="0" rtlCol="0" anchor="ctr"/>
          <a:lstStyle/>
          <a:p>
            <a:pPr algn="ctr" indent="0" marL="0">
              <a:buNone/>
            </a:pPr>
            <a:r>
              <a:rPr lang="en-US" sz="1000" dirty="0">
                <a:solidFill>
                  <a:srgbClr val="E29578"/>
                </a:solidFill>
                <a:latin typeface="Calibri" pitchFamily="34" charset="0"/>
                <a:ea typeface="Calibri" pitchFamily="34" charset="-122"/>
                <a:cs typeface="Calibri" pitchFamily="34" charset="-120"/>
              </a:rPr>
              <a:t>&gt;</a:t>
            </a:r>
            <a:endParaRPr lang="en-US" sz="1000" dirty="0"/>
          </a:p>
        </p:txBody>
      </p:sp>
      <p:sp>
        <p:nvSpPr>
          <p:cNvPr id="14" name="Shape 12"/>
          <p:cNvSpPr/>
          <p:nvPr/>
        </p:nvSpPr>
        <p:spPr>
          <a:xfrm>
            <a:off x="2907792" y="2221992"/>
            <a:ext cx="1024128" cy="502920"/>
          </a:xfrm>
          <a:prstGeom prst="rect">
            <a:avLst/>
          </a:prstGeom>
          <a:solidFill>
            <a:srgbClr val="FFDDD2"/>
          </a:solidFill>
          <a:ln w="9525">
            <a:solidFill>
              <a:srgbClr val="83C5BE"/>
            </a:solidFill>
            <a:prstDash val="solid"/>
          </a:ln>
        </p:spPr>
      </p:sp>
      <p:sp>
        <p:nvSpPr>
          <p:cNvPr id="15" name="Text 13"/>
          <p:cNvSpPr/>
          <p:nvPr/>
        </p:nvSpPr>
        <p:spPr>
          <a:xfrm>
            <a:off x="2907792" y="2221992"/>
            <a:ext cx="1024128" cy="502920"/>
          </a:xfrm>
          <a:prstGeom prst="rect">
            <a:avLst/>
          </a:prstGeom>
          <a:noFill/>
          <a:ln/>
        </p:spPr>
        <p:txBody>
          <a:bodyPr wrap="square" lIns="0" tIns="0" rIns="0" bIns="0" rtlCol="0" anchor="ctr"/>
          <a:lstStyle/>
          <a:p>
            <a:pPr algn="ctr" indent="0" marL="0">
              <a:buNone/>
            </a:pPr>
            <a:r>
              <a:rPr lang="en-US" sz="800" dirty="0">
                <a:solidFill>
                  <a:srgbClr val="006D77"/>
                </a:solidFill>
                <a:latin typeface="Calibri" pitchFamily="34" charset="0"/>
                <a:ea typeface="Calibri" pitchFamily="34" charset="-122"/>
                <a:cs typeface="Calibri" pitchFamily="34" charset="-120"/>
              </a:rPr>
              <a:t>MCP server</a:t>
            </a:r>
            <a:endParaRPr lang="en-US" sz="800" dirty="0"/>
          </a:p>
        </p:txBody>
      </p:sp>
      <p:sp>
        <p:nvSpPr>
          <p:cNvPr id="16" name="Text 14"/>
          <p:cNvSpPr/>
          <p:nvPr/>
        </p:nvSpPr>
        <p:spPr>
          <a:xfrm>
            <a:off x="3931920" y="2313432"/>
            <a:ext cx="109728" cy="320040"/>
          </a:xfrm>
          <a:prstGeom prst="rect">
            <a:avLst/>
          </a:prstGeom>
          <a:noFill/>
          <a:ln/>
        </p:spPr>
        <p:txBody>
          <a:bodyPr wrap="square" lIns="0" tIns="0" rIns="0" bIns="0" rtlCol="0" anchor="ctr"/>
          <a:lstStyle/>
          <a:p>
            <a:pPr algn="ctr" indent="0" marL="0">
              <a:buNone/>
            </a:pPr>
            <a:r>
              <a:rPr lang="en-US" sz="1000" dirty="0">
                <a:solidFill>
                  <a:srgbClr val="E29578"/>
                </a:solidFill>
                <a:latin typeface="Calibri" pitchFamily="34" charset="0"/>
                <a:ea typeface="Calibri" pitchFamily="34" charset="-122"/>
                <a:cs typeface="Calibri" pitchFamily="34" charset="-120"/>
              </a:rPr>
              <a:t>&gt;</a:t>
            </a:r>
            <a:endParaRPr lang="en-US" sz="1000" dirty="0"/>
          </a:p>
        </p:txBody>
      </p:sp>
      <p:sp>
        <p:nvSpPr>
          <p:cNvPr id="17" name="Shape 15"/>
          <p:cNvSpPr/>
          <p:nvPr/>
        </p:nvSpPr>
        <p:spPr>
          <a:xfrm>
            <a:off x="4041648" y="2221992"/>
            <a:ext cx="1024128" cy="502920"/>
          </a:xfrm>
          <a:prstGeom prst="rect">
            <a:avLst/>
          </a:prstGeom>
          <a:solidFill>
            <a:srgbClr val="FFDDD2"/>
          </a:solidFill>
          <a:ln w="9525">
            <a:solidFill>
              <a:srgbClr val="83C5BE"/>
            </a:solidFill>
            <a:prstDash val="solid"/>
          </a:ln>
        </p:spPr>
      </p:sp>
      <p:sp>
        <p:nvSpPr>
          <p:cNvPr id="18" name="Text 16"/>
          <p:cNvSpPr/>
          <p:nvPr/>
        </p:nvSpPr>
        <p:spPr>
          <a:xfrm>
            <a:off x="4041648" y="2221992"/>
            <a:ext cx="1024128" cy="502920"/>
          </a:xfrm>
          <a:prstGeom prst="rect">
            <a:avLst/>
          </a:prstGeom>
          <a:noFill/>
          <a:ln/>
        </p:spPr>
        <p:txBody>
          <a:bodyPr wrap="square" lIns="0" tIns="0" rIns="0" bIns="0" rtlCol="0" anchor="ctr"/>
          <a:lstStyle/>
          <a:p>
            <a:pPr algn="ctr" indent="0" marL="0">
              <a:buNone/>
            </a:pPr>
            <a:r>
              <a:rPr lang="en-US" sz="800" dirty="0">
                <a:solidFill>
                  <a:srgbClr val="006D77"/>
                </a:solidFill>
                <a:latin typeface="Calibri" pitchFamily="34" charset="0"/>
                <a:ea typeface="Calibri" pitchFamily="34" charset="-122"/>
                <a:cs typeface="Calibri" pitchFamily="34" charset="-120"/>
              </a:rPr>
              <a:t>External system</a:t>
            </a:r>
            <a:endParaRPr lang="en-US" sz="800" dirty="0"/>
          </a:p>
        </p:txBody>
      </p:sp>
      <p:sp>
        <p:nvSpPr>
          <p:cNvPr id="19" name="Text 17"/>
          <p:cNvSpPr/>
          <p:nvPr/>
        </p:nvSpPr>
        <p:spPr>
          <a:xfrm>
            <a:off x="640080" y="2862072"/>
            <a:ext cx="4608576" cy="640080"/>
          </a:xfrm>
          <a:prstGeom prst="rect">
            <a:avLst/>
          </a:prstGeom>
          <a:noFill/>
          <a:ln/>
        </p:spPr>
        <p:txBody>
          <a:bodyPr wrap="square" lIns="0" tIns="0" rIns="0" bIns="0" rtlCol="0" anchor="t"/>
          <a:lstStyle/>
          <a:p>
            <a:pPr algn="l" indent="0" marL="0">
              <a:buNone/>
            </a:pPr>
            <a:r>
              <a:rPr lang="en-US" sz="1000" dirty="0">
                <a:solidFill>
                  <a:srgbClr val="006D77"/>
                </a:solidFill>
                <a:latin typeface="Calibri" pitchFamily="34" charset="0"/>
                <a:ea typeface="Calibri" pitchFamily="34" charset="-122"/>
                <a:cs typeface="Calibri" pitchFamily="34" charset="-120"/>
              </a:rPr>
              <a:t>A call is almost identical to a local tool: same name, description and typed schema, same call-and-return contract, because it just runs in another process. The protocol carries the call while the agent still decides whether to make it.</a:t>
            </a:r>
            <a:endParaRPr lang="en-US" sz="1000" dirty="0"/>
          </a:p>
        </p:txBody>
      </p:sp>
      <p:sp>
        <p:nvSpPr>
          <p:cNvPr id="20" name="Text 18"/>
          <p:cNvSpPr/>
          <p:nvPr/>
        </p:nvSpPr>
        <p:spPr>
          <a:xfrm>
            <a:off x="640080" y="3666744"/>
            <a:ext cx="4608576" cy="237744"/>
          </a:xfrm>
          <a:prstGeom prst="rect">
            <a:avLst/>
          </a:prstGeom>
          <a:noFill/>
          <a:ln/>
        </p:spPr>
        <p:txBody>
          <a:bodyPr wrap="square" lIns="0" tIns="0" rIns="0" bIns="0" rtlCol="0" anchor="ctr"/>
          <a:lstStyle/>
          <a:p>
            <a:pPr algn="l" indent="0" marL="0">
              <a:buNone/>
            </a:pPr>
            <a:r>
              <a:rPr lang="en-US" sz="900" dirty="0">
                <a:solidFill>
                  <a:srgbClr val="006D77">
                    <a:alpha val="70000"/>
                  </a:srgbClr>
                </a:solidFill>
                <a:latin typeface="Calibri" pitchFamily="34" charset="0"/>
                <a:ea typeface="Calibri" pitchFamily="34" charset="-122"/>
                <a:cs typeface="Calibri" pitchFamily="34" charset="-120"/>
              </a:rPr>
              <a:t>Marked OPTIONAL - extra reading, not required in the source deck.</a:t>
            </a:r>
            <a:endParaRPr lang="en-US" sz="900" dirty="0"/>
          </a:p>
        </p:txBody>
      </p:sp>
      <p:sp>
        <p:nvSpPr>
          <p:cNvPr id="21" name="Shape 19"/>
          <p:cNvSpPr/>
          <p:nvPr/>
        </p:nvSpPr>
        <p:spPr>
          <a:xfrm>
            <a:off x="5577840" y="1234440"/>
            <a:ext cx="3108960" cy="1554480"/>
          </a:xfrm>
          <a:prstGeom prst="rect">
            <a:avLst/>
          </a:prstGeom>
          <a:solidFill>
            <a:srgbClr val="FFDDD2"/>
          </a:solidFill>
          <a:ln w="9525">
            <a:solidFill>
              <a:srgbClr val="83C5BE"/>
            </a:solidFill>
            <a:prstDash val="solid"/>
          </a:ln>
          <a:effectLst>
            <a:outerShdw sx="100000" sy="100000" kx="0" ky="0" algn="bl" rotWithShape="0" blurRad="101600" dist="25400" dir="5400000">
              <a:srgbClr val="006d77">
                <a:alpha val="12000"/>
              </a:srgbClr>
            </a:outerShdw>
          </a:effectLst>
        </p:spPr>
      </p:sp>
      <p:sp>
        <p:nvSpPr>
          <p:cNvPr id="22" name="Shape 20"/>
          <p:cNvSpPr/>
          <p:nvPr/>
        </p:nvSpPr>
        <p:spPr>
          <a:xfrm>
            <a:off x="5577840" y="1234440"/>
            <a:ext cx="50292" cy="1554480"/>
          </a:xfrm>
          <a:prstGeom prst="rect">
            <a:avLst/>
          </a:prstGeom>
          <a:solidFill>
            <a:srgbClr val="E29578"/>
          </a:solidFill>
          <a:ln w="12700">
            <a:solidFill>
              <a:srgbClr val="E29578"/>
            </a:solidFill>
            <a:prstDash val="solid"/>
          </a:ln>
        </p:spPr>
      </p:sp>
      <p:sp>
        <p:nvSpPr>
          <p:cNvPr id="23" name="Text 21"/>
          <p:cNvSpPr/>
          <p:nvPr/>
        </p:nvSpPr>
        <p:spPr>
          <a:xfrm>
            <a:off x="5760720" y="1380744"/>
            <a:ext cx="2779776" cy="219456"/>
          </a:xfrm>
          <a:prstGeom prst="rect">
            <a:avLst/>
          </a:prstGeom>
          <a:noFill/>
          <a:ln/>
        </p:spPr>
        <p:txBody>
          <a:bodyPr wrap="square" lIns="0" tIns="0" rIns="0" bIns="0" rtlCol="0" anchor="ctr"/>
          <a:lstStyle/>
          <a:p>
            <a:pPr algn="l" indent="0" marL="0">
              <a:buNone/>
            </a:pPr>
            <a:r>
              <a:rPr lang="en-US" sz="1000" b="1" spc="100" kern="0" dirty="0">
                <a:solidFill>
                  <a:srgbClr val="006D77"/>
                </a:solidFill>
                <a:latin typeface="Calibri" pitchFamily="34" charset="0"/>
                <a:ea typeface="Calibri" pitchFamily="34" charset="-122"/>
                <a:cs typeface="Calibri" pitchFamily="34" charset="-120"/>
              </a:rPr>
              <a:t>THREE PRIMITIVES</a:t>
            </a:r>
            <a:endParaRPr lang="en-US" sz="1000" dirty="0"/>
          </a:p>
        </p:txBody>
      </p:sp>
      <p:sp>
        <p:nvSpPr>
          <p:cNvPr id="24" name="Text 22"/>
          <p:cNvSpPr/>
          <p:nvPr/>
        </p:nvSpPr>
        <p:spPr>
          <a:xfrm>
            <a:off x="5760720" y="1655064"/>
            <a:ext cx="2779776" cy="914400"/>
          </a:xfrm>
          <a:prstGeom prst="rect">
            <a:avLst/>
          </a:prstGeom>
          <a:noFill/>
          <a:ln/>
        </p:spPr>
        <p:txBody>
          <a:bodyPr wrap="square" lIns="0" tIns="0" rIns="0" bIns="0" rtlCol="0" anchor="t"/>
          <a:lstStyle/>
          <a:p>
            <a:pPr algn="l" marL="152400" indent="-152400">
              <a:spcAft>
                <a:spcPts val="400"/>
              </a:spcAft>
              <a:buSzPct val="100000"/>
              <a:buChar char="•"/>
            </a:pPr>
            <a:r>
              <a:rPr lang="en-US" sz="950" dirty="0">
                <a:solidFill>
                  <a:srgbClr val="006D77"/>
                </a:solidFill>
                <a:latin typeface="Calibri" pitchFamily="34" charset="0"/>
                <a:ea typeface="Calibri" pitchFamily="34" charset="-122"/>
                <a:cs typeface="Calibri" pitchFamily="34" charset="-120"/>
              </a:rPr>
              <a:t>Tools: create_issue(...)</a:t>
            </a:r>
            <a:endParaRPr lang="en-US" sz="950" dirty="0"/>
          </a:p>
          <a:p>
            <a:pPr algn="l" marL="152400" indent="-152400">
              <a:spcAft>
                <a:spcPts val="400"/>
              </a:spcAft>
              <a:buSzPct val="100000"/>
              <a:buChar char="•"/>
            </a:pPr>
            <a:r>
              <a:rPr lang="en-US" sz="950" dirty="0">
                <a:solidFill>
                  <a:srgbClr val="006D77"/>
                </a:solidFill>
                <a:latin typeface="Calibri" pitchFamily="34" charset="0"/>
                <a:ea typeface="Calibri" pitchFamily="34" charset="-122"/>
                <a:cs typeface="Calibri" pitchFamily="34" charset="-120"/>
              </a:rPr>
              <a:t>Resources: github://issues/123</a:t>
            </a:r>
            <a:endParaRPr lang="en-US" sz="950" dirty="0"/>
          </a:p>
          <a:p>
            <a:pPr algn="l" marL="152400" indent="-152400">
              <a:spcAft>
                <a:spcPts val="400"/>
              </a:spcAft>
              <a:buSzPct val="100000"/>
              <a:buChar char="•"/>
            </a:pPr>
            <a:r>
              <a:rPr lang="en-US" sz="950" dirty="0">
                <a:solidFill>
                  <a:srgbClr val="006D77"/>
                </a:solidFill>
                <a:latin typeface="Calibri" pitchFamily="34" charset="0"/>
                <a:ea typeface="Calibri" pitchFamily="34" charset="-122"/>
                <a:cs typeface="Calibri" pitchFamily="34" charset="-120"/>
              </a:rPr>
              <a:t>Prompts: triage_issue(...)</a:t>
            </a:r>
            <a:endParaRPr lang="en-US" sz="950" dirty="0"/>
          </a:p>
        </p:txBody>
      </p:sp>
      <p:sp>
        <p:nvSpPr>
          <p:cNvPr id="25" name="Shape 23"/>
          <p:cNvSpPr/>
          <p:nvPr/>
        </p:nvSpPr>
        <p:spPr>
          <a:xfrm>
            <a:off x="5577840" y="2880360"/>
            <a:ext cx="3108960" cy="1554480"/>
          </a:xfrm>
          <a:prstGeom prst="rect">
            <a:avLst/>
          </a:prstGeom>
          <a:solidFill>
            <a:srgbClr val="EDF6F9"/>
          </a:solidFill>
          <a:ln w="9525">
            <a:solidFill>
              <a:srgbClr val="83C5BE"/>
            </a:solidFill>
            <a:prstDash val="solid"/>
          </a:ln>
          <a:effectLst>
            <a:outerShdw sx="100000" sy="100000" kx="0" ky="0" algn="bl" rotWithShape="0" blurRad="101600" dist="25400" dir="5400000">
              <a:srgbClr val="006d77">
                <a:alpha val="12000"/>
              </a:srgbClr>
            </a:outerShdw>
          </a:effectLst>
        </p:spPr>
      </p:sp>
      <p:sp>
        <p:nvSpPr>
          <p:cNvPr id="26" name="Shape 24"/>
          <p:cNvSpPr/>
          <p:nvPr/>
        </p:nvSpPr>
        <p:spPr>
          <a:xfrm>
            <a:off x="5577840" y="2880360"/>
            <a:ext cx="50292" cy="1554480"/>
          </a:xfrm>
          <a:prstGeom prst="rect">
            <a:avLst/>
          </a:prstGeom>
          <a:solidFill>
            <a:srgbClr val="E29578"/>
          </a:solidFill>
          <a:ln w="12700">
            <a:solidFill>
              <a:srgbClr val="E29578"/>
            </a:solidFill>
            <a:prstDash val="solid"/>
          </a:ln>
        </p:spPr>
      </p:sp>
      <p:sp>
        <p:nvSpPr>
          <p:cNvPr id="27" name="Text 25"/>
          <p:cNvSpPr/>
          <p:nvPr/>
        </p:nvSpPr>
        <p:spPr>
          <a:xfrm>
            <a:off x="5760720" y="3026664"/>
            <a:ext cx="2779776" cy="219456"/>
          </a:xfrm>
          <a:prstGeom prst="rect">
            <a:avLst/>
          </a:prstGeom>
          <a:noFill/>
          <a:ln/>
        </p:spPr>
        <p:txBody>
          <a:bodyPr wrap="square" lIns="0" tIns="0" rIns="0" bIns="0" rtlCol="0" anchor="ctr"/>
          <a:lstStyle/>
          <a:p>
            <a:pPr algn="l" indent="0" marL="0">
              <a:buNone/>
            </a:pPr>
            <a:r>
              <a:rPr lang="en-US" sz="1000" b="1" spc="100" kern="0" dirty="0">
                <a:solidFill>
                  <a:srgbClr val="006D77"/>
                </a:solidFill>
                <a:latin typeface="Calibri" pitchFamily="34" charset="0"/>
                <a:ea typeface="Calibri" pitchFamily="34" charset="-122"/>
                <a:cs typeface="Calibri" pitchFamily="34" charset="-120"/>
              </a:rPr>
              <a:t>FOUR SECURITY RULES</a:t>
            </a:r>
            <a:endParaRPr lang="en-US" sz="1000" dirty="0"/>
          </a:p>
        </p:txBody>
      </p:sp>
      <p:sp>
        <p:nvSpPr>
          <p:cNvPr id="28" name="Text 26"/>
          <p:cNvSpPr/>
          <p:nvPr/>
        </p:nvSpPr>
        <p:spPr>
          <a:xfrm>
            <a:off x="5760720" y="3300984"/>
            <a:ext cx="2779776" cy="914400"/>
          </a:xfrm>
          <a:prstGeom prst="rect">
            <a:avLst/>
          </a:prstGeom>
          <a:noFill/>
          <a:ln/>
        </p:spPr>
        <p:txBody>
          <a:bodyPr wrap="square" lIns="0" tIns="0" rIns="0" bIns="0" rtlCol="0" anchor="t"/>
          <a:lstStyle/>
          <a:p>
            <a:pPr algn="l" marL="152400" indent="-152400">
              <a:spcAft>
                <a:spcPts val="400"/>
              </a:spcAft>
              <a:buSzPct val="100000"/>
              <a:buChar char="•"/>
            </a:pPr>
            <a:r>
              <a:rPr lang="en-US" sz="950" dirty="0">
                <a:solidFill>
                  <a:srgbClr val="006D77"/>
                </a:solidFill>
                <a:latin typeface="Calibri" pitchFamily="34" charset="0"/>
                <a:ea typeface="Calibri" pitchFamily="34" charset="-122"/>
                <a:cs typeface="Calibri" pitchFamily="34" charset="-120"/>
              </a:rPr>
              <a:t>Least privilege</a:t>
            </a:r>
            <a:endParaRPr lang="en-US" sz="950" dirty="0"/>
          </a:p>
          <a:p>
            <a:pPr algn="l" marL="152400" indent="-152400">
              <a:spcAft>
                <a:spcPts val="400"/>
              </a:spcAft>
              <a:buSzPct val="100000"/>
              <a:buChar char="•"/>
            </a:pPr>
            <a:r>
              <a:rPr lang="en-US" sz="950" dirty="0">
                <a:solidFill>
                  <a:srgbClr val="006D77"/>
                </a:solidFill>
                <a:latin typeface="Calibri" pitchFamily="34" charset="0"/>
                <a:ea typeface="Calibri" pitchFamily="34" charset="-122"/>
                <a:cs typeface="Calibri" pitchFamily="34" charset="-120"/>
              </a:rPr>
              <a:t>Separated reads and writes</a:t>
            </a:r>
            <a:endParaRPr lang="en-US" sz="950" dirty="0"/>
          </a:p>
          <a:p>
            <a:pPr algn="l" marL="152400" indent="-152400">
              <a:spcAft>
                <a:spcPts val="400"/>
              </a:spcAft>
              <a:buSzPct val="100000"/>
              <a:buChar char="•"/>
            </a:pPr>
            <a:r>
              <a:rPr lang="en-US" sz="950" dirty="0">
                <a:solidFill>
                  <a:srgbClr val="006D77"/>
                </a:solidFill>
                <a:latin typeface="Calibri" pitchFamily="34" charset="0"/>
                <a:ea typeface="Calibri" pitchFamily="34" charset="-122"/>
                <a:cs typeface="Calibri" pitchFamily="34" charset="-120"/>
              </a:rPr>
              <a:t>Distrust tool output as instructions</a:t>
            </a:r>
            <a:endParaRPr lang="en-US" sz="950" dirty="0"/>
          </a:p>
          <a:p>
            <a:pPr algn="l" marL="152400" indent="-152400">
              <a:spcAft>
                <a:spcPts val="400"/>
              </a:spcAft>
              <a:buSzPct val="100000"/>
              <a:buChar char="•"/>
            </a:pPr>
            <a:r>
              <a:rPr lang="en-US" sz="950" dirty="0">
                <a:solidFill>
                  <a:srgbClr val="006D77"/>
                </a:solidFill>
                <a:latin typeface="Calibri" pitchFamily="34" charset="0"/>
                <a:ea typeface="Calibri" pitchFamily="34" charset="-122"/>
                <a:cs typeface="Calibri" pitchFamily="34" charset="-120"/>
              </a:rPr>
              <a:t>Vetting before installing</a:t>
            </a:r>
            <a:endParaRPr lang="en-US" sz="950" dirty="0"/>
          </a:p>
        </p:txBody>
      </p:sp>
      <p:sp>
        <p:nvSpPr>
          <p:cNvPr id="29" name="Shape 27"/>
          <p:cNvSpPr/>
          <p:nvPr/>
        </p:nvSpPr>
        <p:spPr>
          <a:xfrm>
            <a:off x="8485632" y="4645152"/>
            <a:ext cx="420624" cy="274320"/>
          </a:xfrm>
          <a:prstGeom prst="roundRect">
            <a:avLst>
              <a:gd name="adj" fmla="val 26667"/>
            </a:avLst>
          </a:prstGeom>
          <a:solidFill>
            <a:srgbClr val="006D77"/>
          </a:solidFill>
          <a:ln w="12700">
            <a:solidFill>
              <a:srgbClr val="006D77"/>
            </a:solidFill>
            <a:prstDash val="solid"/>
          </a:ln>
        </p:spPr>
      </p:sp>
      <p:sp>
        <p:nvSpPr>
          <p:cNvPr id="30" name="Text 28"/>
          <p:cNvSpPr/>
          <p:nvPr/>
        </p:nvSpPr>
        <p:spPr>
          <a:xfrm>
            <a:off x="8485632" y="4645152"/>
            <a:ext cx="420624" cy="274320"/>
          </a:xfrm>
          <a:prstGeom prst="rect">
            <a:avLst/>
          </a:prstGeom>
          <a:noFill/>
          <a:ln/>
        </p:spPr>
        <p:txBody>
          <a:bodyPr wrap="square" lIns="0" tIns="0" rIns="0" bIns="0" rtlCol="0" anchor="ctr"/>
          <a:lstStyle/>
          <a:p>
            <a:pPr algn="ctr" indent="0" marL="0">
              <a:buNone/>
            </a:pPr>
            <a:r>
              <a:rPr lang="en-US" sz="1100" dirty="0">
                <a:solidFill>
                  <a:srgbClr val="EDF6F9"/>
                </a:solidFill>
                <a:latin typeface="Calibri" pitchFamily="34" charset="0"/>
                <a:ea typeface="Calibri" pitchFamily="34" charset="-122"/>
                <a:cs typeface="Calibri" pitchFamily="34" charset="-120"/>
              </a:rPr>
              <a:t>11</a:t>
            </a:r>
            <a:endParaRPr lang="en-US" sz="1100" dirty="0"/>
          </a:p>
        </p:txBody>
      </p:sp>
      <p:sp>
        <p:nvSpPr>
          <p:cNvPr id="31" name="Shape 29"/>
          <p:cNvSpPr/>
          <p:nvPr/>
        </p:nvSpPr>
        <p:spPr>
          <a:xfrm>
            <a:off x="457200" y="4754880"/>
            <a:ext cx="7772400" cy="10973"/>
          </a:xfrm>
          <a:prstGeom prst="rect">
            <a:avLst/>
          </a:prstGeom>
          <a:solidFill>
            <a:srgbClr val="83C5BE"/>
          </a:solidFill>
          <a:ln w="12700">
            <a:solidFill>
              <a:srgbClr val="83C5BE"/>
            </a:solidFill>
            <a:prstDash val="solid"/>
          </a:ln>
        </p:spPr>
      </p:sp>
      <p:sp>
        <p:nvSpPr>
          <p:cNvPr id="32" name="Text 30"/>
          <p:cNvSpPr/>
          <p:nvPr/>
        </p:nvSpPr>
        <p:spPr>
          <a:xfrm>
            <a:off x="457200" y="4773168"/>
            <a:ext cx="7772400" cy="219456"/>
          </a:xfrm>
          <a:prstGeom prst="rect">
            <a:avLst/>
          </a:prstGeom>
          <a:noFill/>
          <a:ln/>
        </p:spPr>
        <p:txBody>
          <a:bodyPr wrap="square" lIns="0" tIns="0" rIns="0" bIns="0" rtlCol="0" anchor="ctr"/>
          <a:lstStyle/>
          <a:p>
            <a:pPr algn="l" indent="0" marL="0">
              <a:buNone/>
            </a:pPr>
            <a:r>
              <a:rPr lang="en-US" sz="900" dirty="0">
                <a:solidFill>
                  <a:srgbClr val="006D77">
                    <a:alpha val="55000"/>
                  </a:srgbClr>
                </a:solidFill>
                <a:latin typeface="Calibri" pitchFamily="34" charset="0"/>
                <a:ea typeface="Calibri" pitchFamily="34" charset="-122"/>
                <a:cs typeface="Calibri" pitchFamily="34" charset="-120"/>
              </a:rPr>
              <a:t>Source: https://cs2680.seas.harvard.edu/slides/2_agent_use_1.pdf</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DF6F9"/>
        </a:solidFill>
      </p:bgPr>
    </p:bg>
    <p:spTree>
      <p:nvGrpSpPr>
        <p:cNvPr id="1" name=""/>
        <p:cNvGrpSpPr/>
        <p:nvPr/>
      </p:nvGrpSpPr>
      <p:grpSpPr>
        <a:xfrm>
          <a:off x="0" y="0"/>
          <a:ext cx="0" cy="0"/>
          <a:chOff x="0" y="0"/>
          <a:chExt cx="0" cy="0"/>
        </a:xfrm>
      </p:grpSpPr>
      <p:sp>
        <p:nvSpPr>
          <p:cNvPr id="2" name="Text 0"/>
          <p:cNvSpPr/>
          <p:nvPr/>
        </p:nvSpPr>
        <p:spPr>
          <a:xfrm>
            <a:off x="457200" y="310896"/>
            <a:ext cx="8229600" cy="219456"/>
          </a:xfrm>
          <a:prstGeom prst="rect">
            <a:avLst/>
          </a:prstGeom>
          <a:noFill/>
          <a:ln/>
        </p:spPr>
        <p:txBody>
          <a:bodyPr wrap="square" lIns="0" tIns="0" rIns="0" bIns="0" rtlCol="0" anchor="ctr"/>
          <a:lstStyle/>
          <a:p>
            <a:pPr algn="l" indent="0" marL="0">
              <a:buNone/>
            </a:pPr>
            <a:r>
              <a:rPr lang="en-US" sz="1100" spc="140" kern="0" dirty="0">
                <a:solidFill>
                  <a:srgbClr val="E29578"/>
                </a:solidFill>
                <a:latin typeface="Calibri" pitchFamily="34" charset="0"/>
                <a:ea typeface="Calibri" pitchFamily="34" charset="-122"/>
                <a:cs typeface="Calibri" pitchFamily="34" charset="-120"/>
              </a:rPr>
              <a:t>DESIGN EXERCISE</a:t>
            </a:r>
            <a:endParaRPr lang="en-US" sz="1100" dirty="0"/>
          </a:p>
        </p:txBody>
      </p:sp>
      <p:sp>
        <p:nvSpPr>
          <p:cNvPr id="3" name="Text 1"/>
          <p:cNvSpPr/>
          <p:nvPr/>
        </p:nvSpPr>
        <p:spPr>
          <a:xfrm>
            <a:off x="457200" y="548640"/>
            <a:ext cx="8229600" cy="566928"/>
          </a:xfrm>
          <a:prstGeom prst="rect">
            <a:avLst/>
          </a:prstGeom>
          <a:noFill/>
          <a:ln/>
        </p:spPr>
        <p:txBody>
          <a:bodyPr wrap="square" lIns="0" tIns="0" rIns="0" bIns="0" rtlCol="0" anchor="ctr">
            <a:normAutofit/>
          </a:bodyPr>
          <a:lstStyle/>
          <a:p>
            <a:pPr algn="l" indent="0" marL="0">
              <a:buNone/>
            </a:pPr>
            <a:r>
              <a:rPr lang="en-US" sz="2700" b="1" dirty="0">
                <a:solidFill>
                  <a:srgbClr val="006D77"/>
                </a:solidFill>
                <a:latin typeface="Georgia" pitchFamily="34" charset="0"/>
                <a:ea typeface="Georgia" pitchFamily="34" charset="-122"/>
                <a:cs typeface="Georgia" pitchFamily="34" charset="-120"/>
              </a:rPr>
              <a:t>Name the problem, then pick the mechanism</a:t>
            </a:r>
            <a:endParaRPr lang="en-US" sz="27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8229600" cy="914400"/>
        </p:xfrm>
        <a:graphic>
          <a:graphicData uri="http://schemas.openxmlformats.org/drawingml/2006/table">
            <a:tbl>
              <a:tblPr/>
              <a:tblGrid>
                <a:gridCol w="5120640"/>
                <a:gridCol w="3108960"/>
              </a:tblGrid>
              <a:tr h="274320">
                <a:tc>
                  <a:txBody>
                    <a:bodyPr/>
                    <a:lstStyle/>
                    <a:p>
                      <a:pPr indent="0" marL="0">
                        <a:buNone/>
                      </a:pPr>
                      <a:r>
                        <a:rPr lang="en-US" sz="1000" b="1" dirty="0">
                          <a:solidFill>
                            <a:srgbClr val="EDF6F9"/>
                          </a:solidFill>
                          <a:latin typeface="Calibri" pitchFamily="34" charset="0"/>
                          <a:ea typeface="Calibri" pitchFamily="34" charset="-122"/>
                          <a:cs typeface="Calibri" pitchFamily="34" charset="-120"/>
                        </a:rPr>
                        <a:t>The need</a:t>
                      </a:r>
                      <a:endParaRPr lang="en-US" sz="1000" dirty="0">
                        <a:latin typeface="Calibri" charset="0"/>
                        <a:ea typeface="Calibri" charset="0"/>
                        <a:cs typeface="Calibri" charset="0"/>
                      </a:endParaRPr>
                    </a:p>
                  </a:txBody>
                  <a:tcPr marL="54864" marR="54864" marT="54864" marB="54864" anchor="ctr">
                    <a:lnL w="6350" cap="flat" cmpd="sng" algn="ctr">
                      <a:solidFill>
                        <a:srgbClr val="83C5BE"/>
                      </a:solidFill>
                      <a:prstDash val="solid"/>
                      <a:round/>
                      <a:headEnd type="none" w="med" len="med"/>
                      <a:tailEnd type="none" w="med" len="med"/>
                    </a:lnL>
                    <a:lnR w="6350" cap="flat" cmpd="sng" algn="ctr">
                      <a:solidFill>
                        <a:srgbClr val="83C5BE"/>
                      </a:solidFill>
                      <a:prstDash val="solid"/>
                      <a:round/>
                      <a:headEnd type="none" w="med" len="med"/>
                      <a:tailEnd type="none" w="med" len="med"/>
                    </a:lnR>
                    <a:lnT w="6350" cap="flat" cmpd="sng" algn="ctr">
                      <a:solidFill>
                        <a:srgbClr val="83C5BE"/>
                      </a:solidFill>
                      <a:prstDash val="solid"/>
                      <a:round/>
                      <a:headEnd type="none" w="med" len="med"/>
                      <a:tailEnd type="none" w="med" len="med"/>
                    </a:lnT>
                    <a:lnB w="6350" cap="flat" cmpd="sng" algn="ctr">
                      <a:solidFill>
                        <a:srgbClr val="83C5BE"/>
                      </a:solidFill>
                      <a:prstDash val="solid"/>
                      <a:round/>
                      <a:headEnd type="none" w="med" len="med"/>
                      <a:tailEnd type="none" w="med" len="med"/>
                    </a:lnB>
                    <a:solidFill>
                      <a:srgbClr val="006D77"/>
                    </a:solidFill>
                  </a:tcPr>
                </a:tc>
                <a:tc>
                  <a:txBody>
                    <a:bodyPr/>
                    <a:lstStyle/>
                    <a:p>
                      <a:pPr indent="0" marL="0">
                        <a:buNone/>
                      </a:pPr>
                      <a:r>
                        <a:rPr lang="en-US" sz="1000" b="1" dirty="0">
                          <a:solidFill>
                            <a:srgbClr val="EDF6F9"/>
                          </a:solidFill>
                          <a:latin typeface="Calibri" pitchFamily="34" charset="0"/>
                          <a:ea typeface="Calibri" pitchFamily="34" charset="-122"/>
                          <a:cs typeface="Calibri" pitchFamily="34" charset="-120"/>
                        </a:rPr>
                        <a:t>The mechanism</a:t>
                      </a:r>
                      <a:endParaRPr lang="en-US" sz="1000" dirty="0">
                        <a:latin typeface="Calibri" charset="0"/>
                        <a:ea typeface="Calibri" charset="0"/>
                        <a:cs typeface="Calibri" charset="0"/>
                      </a:endParaRPr>
                    </a:p>
                  </a:txBody>
                  <a:tcPr marL="54864" marR="54864" marT="54864" marB="54864" anchor="ctr">
                    <a:lnL w="6350" cap="flat" cmpd="sng" algn="ctr">
                      <a:solidFill>
                        <a:srgbClr val="83C5BE"/>
                      </a:solidFill>
                      <a:prstDash val="solid"/>
                      <a:round/>
                      <a:headEnd type="none" w="med" len="med"/>
                      <a:tailEnd type="none" w="med" len="med"/>
                    </a:lnL>
                    <a:lnR w="6350" cap="flat" cmpd="sng" algn="ctr">
                      <a:solidFill>
                        <a:srgbClr val="83C5BE"/>
                      </a:solidFill>
                      <a:prstDash val="solid"/>
                      <a:round/>
                      <a:headEnd type="none" w="med" len="med"/>
                      <a:tailEnd type="none" w="med" len="med"/>
                    </a:lnR>
                    <a:lnT w="6350" cap="flat" cmpd="sng" algn="ctr">
                      <a:solidFill>
                        <a:srgbClr val="83C5BE"/>
                      </a:solidFill>
                      <a:prstDash val="solid"/>
                      <a:round/>
                      <a:headEnd type="none" w="med" len="med"/>
                      <a:tailEnd type="none" w="med" len="med"/>
                    </a:lnT>
                    <a:lnB w="6350" cap="flat" cmpd="sng" algn="ctr">
                      <a:solidFill>
                        <a:srgbClr val="83C5BE"/>
                      </a:solidFill>
                      <a:prstDash val="solid"/>
                      <a:round/>
                      <a:headEnd type="none" w="med" len="med"/>
                      <a:tailEnd type="none" w="med" len="med"/>
                    </a:lnB>
                    <a:solidFill>
                      <a:srgbClr val="006D77"/>
                    </a:solidFill>
                  </a:tcPr>
                </a:tc>
              </a:tr>
              <a:tr h="292608">
                <a:tc>
                  <a:txBody>
                    <a:bodyPr/>
                    <a:lstStyle/>
                    <a:p>
                      <a:pPr indent="0" marL="0">
                        <a:buNone/>
                      </a:pPr>
                      <a:r>
                        <a:rPr lang="en-US" sz="1000" dirty="0">
                          <a:solidFill>
                            <a:srgbClr val="006D77"/>
                          </a:solidFill>
                          <a:latin typeface="Calibri" pitchFamily="34" charset="0"/>
                          <a:ea typeface="Calibri" pitchFamily="34" charset="-122"/>
                          <a:cs typeface="Calibri" pitchFamily="34" charset="-120"/>
                        </a:rPr>
                        <a:t>company API conventions</a:t>
                      </a:r>
                      <a:endParaRPr lang="en-US" sz="1000" dirty="0">
                        <a:latin typeface="Calibri" charset="0"/>
                        <a:ea typeface="Calibri" charset="0"/>
                        <a:cs typeface="Calibri" charset="0"/>
                      </a:endParaRPr>
                    </a:p>
                  </a:txBody>
                  <a:tcPr marL="54864" marR="54864" marT="54864" marB="54864" anchor="ctr">
                    <a:lnL w="6350" cap="flat" cmpd="sng" algn="ctr">
                      <a:solidFill>
                        <a:srgbClr val="83C5BE"/>
                      </a:solidFill>
                      <a:prstDash val="solid"/>
                      <a:round/>
                      <a:headEnd type="none" w="med" len="med"/>
                      <a:tailEnd type="none" w="med" len="med"/>
                    </a:lnL>
                    <a:lnR w="6350" cap="flat" cmpd="sng" algn="ctr">
                      <a:solidFill>
                        <a:srgbClr val="83C5BE"/>
                      </a:solidFill>
                      <a:prstDash val="solid"/>
                      <a:round/>
                      <a:headEnd type="none" w="med" len="med"/>
                      <a:tailEnd type="none" w="med" len="med"/>
                    </a:lnR>
                    <a:lnT w="6350" cap="flat" cmpd="sng" algn="ctr">
                      <a:solidFill>
                        <a:srgbClr val="83C5BE"/>
                      </a:solidFill>
                      <a:prstDash val="solid"/>
                      <a:round/>
                      <a:headEnd type="none" w="med" len="med"/>
                      <a:tailEnd type="none" w="med" len="med"/>
                    </a:lnT>
                    <a:lnB w="6350" cap="flat" cmpd="sng" algn="ctr">
                      <a:solidFill>
                        <a:srgbClr val="83C5BE"/>
                      </a:solidFill>
                      <a:prstDash val="solid"/>
                      <a:round/>
                      <a:headEnd type="none" w="med" len="med"/>
                      <a:tailEnd type="none" w="med" len="med"/>
                    </a:lnB>
                    <a:solidFill>
                      <a:srgbClr val="EDF6F9"/>
                    </a:solidFill>
                  </a:tcPr>
                </a:tc>
                <a:tc>
                  <a:txBody>
                    <a:bodyPr/>
                    <a:lstStyle/>
                    <a:p>
                      <a:pPr indent="0" marL="0">
                        <a:buNone/>
                      </a:pPr>
                      <a:r>
                        <a:rPr lang="en-US" sz="1000" dirty="0">
                          <a:solidFill>
                            <a:srgbClr val="006D77"/>
                          </a:solidFill>
                          <a:latin typeface="Calibri" pitchFamily="34" charset="0"/>
                          <a:ea typeface="Calibri" pitchFamily="34" charset="-122"/>
                          <a:cs typeface="Calibri" pitchFamily="34" charset="-120"/>
                        </a:rPr>
                        <a:t>Skill</a:t>
                      </a:r>
                      <a:endParaRPr lang="en-US" sz="1000" dirty="0">
                        <a:latin typeface="Calibri" charset="0"/>
                        <a:ea typeface="Calibri" charset="0"/>
                        <a:cs typeface="Calibri" charset="0"/>
                      </a:endParaRPr>
                    </a:p>
                  </a:txBody>
                  <a:tcPr marL="54864" marR="54864" marT="54864" marB="54864" anchor="ctr">
                    <a:lnL w="6350" cap="flat" cmpd="sng" algn="ctr">
                      <a:solidFill>
                        <a:srgbClr val="83C5BE"/>
                      </a:solidFill>
                      <a:prstDash val="solid"/>
                      <a:round/>
                      <a:headEnd type="none" w="med" len="med"/>
                      <a:tailEnd type="none" w="med" len="med"/>
                    </a:lnL>
                    <a:lnR w="6350" cap="flat" cmpd="sng" algn="ctr">
                      <a:solidFill>
                        <a:srgbClr val="83C5BE"/>
                      </a:solidFill>
                      <a:prstDash val="solid"/>
                      <a:round/>
                      <a:headEnd type="none" w="med" len="med"/>
                      <a:tailEnd type="none" w="med" len="med"/>
                    </a:lnR>
                    <a:lnT w="6350" cap="flat" cmpd="sng" algn="ctr">
                      <a:solidFill>
                        <a:srgbClr val="83C5BE"/>
                      </a:solidFill>
                      <a:prstDash val="solid"/>
                      <a:round/>
                      <a:headEnd type="none" w="med" len="med"/>
                      <a:tailEnd type="none" w="med" len="med"/>
                    </a:lnT>
                    <a:lnB w="6350" cap="flat" cmpd="sng" algn="ctr">
                      <a:solidFill>
                        <a:srgbClr val="83C5BE"/>
                      </a:solidFill>
                      <a:prstDash val="solid"/>
                      <a:round/>
                      <a:headEnd type="none" w="med" len="med"/>
                      <a:tailEnd type="none" w="med" len="med"/>
                    </a:lnB>
                    <a:solidFill>
                      <a:srgbClr val="EDF6F9"/>
                    </a:solidFill>
                  </a:tcPr>
                </a:tc>
              </a:tr>
              <a:tr h="292608">
                <a:tc>
                  <a:txBody>
                    <a:bodyPr/>
                    <a:lstStyle/>
                    <a:p>
                      <a:pPr indent="0" marL="0">
                        <a:buNone/>
                      </a:pPr>
                      <a:r>
                        <a:rPr lang="en-US" sz="1000" dirty="0">
                          <a:solidFill>
                            <a:srgbClr val="006D77"/>
                          </a:solidFill>
                          <a:latin typeface="Calibri" pitchFamily="34" charset="0"/>
                          <a:ea typeface="Calibri" pitchFamily="34" charset="-122"/>
                          <a:cs typeface="Calibri" pitchFamily="34" charset="-120"/>
                        </a:rPr>
                        <a:t>read an issue from Jira</a:t>
                      </a:r>
                      <a:endParaRPr lang="en-US" sz="1000" dirty="0">
                        <a:latin typeface="Calibri" charset="0"/>
                        <a:ea typeface="Calibri" charset="0"/>
                        <a:cs typeface="Calibri" charset="0"/>
                      </a:endParaRPr>
                    </a:p>
                  </a:txBody>
                  <a:tcPr marL="54864" marR="54864" marT="54864" marB="54864" anchor="ctr">
                    <a:lnL w="6350" cap="flat" cmpd="sng" algn="ctr">
                      <a:solidFill>
                        <a:srgbClr val="83C5BE"/>
                      </a:solidFill>
                      <a:prstDash val="solid"/>
                      <a:round/>
                      <a:headEnd type="none" w="med" len="med"/>
                      <a:tailEnd type="none" w="med" len="med"/>
                    </a:lnL>
                    <a:lnR w="6350" cap="flat" cmpd="sng" algn="ctr">
                      <a:solidFill>
                        <a:srgbClr val="83C5BE"/>
                      </a:solidFill>
                      <a:prstDash val="solid"/>
                      <a:round/>
                      <a:headEnd type="none" w="med" len="med"/>
                      <a:tailEnd type="none" w="med" len="med"/>
                    </a:lnR>
                    <a:lnT w="6350" cap="flat" cmpd="sng" algn="ctr">
                      <a:solidFill>
                        <a:srgbClr val="83C5BE"/>
                      </a:solidFill>
                      <a:prstDash val="solid"/>
                      <a:round/>
                      <a:headEnd type="none" w="med" len="med"/>
                      <a:tailEnd type="none" w="med" len="med"/>
                    </a:lnT>
                    <a:lnB w="6350" cap="flat" cmpd="sng" algn="ctr">
                      <a:solidFill>
                        <a:srgbClr val="83C5BE"/>
                      </a:solidFill>
                      <a:prstDash val="solid"/>
                      <a:round/>
                      <a:headEnd type="none" w="med" len="med"/>
                      <a:tailEnd type="none" w="med" len="med"/>
                    </a:lnB>
                    <a:solidFill>
                      <a:srgbClr val="EDF6F9"/>
                    </a:solidFill>
                  </a:tcPr>
                </a:tc>
                <a:tc>
                  <a:txBody>
                    <a:bodyPr/>
                    <a:lstStyle/>
                    <a:p>
                      <a:pPr indent="0" marL="0">
                        <a:buNone/>
                      </a:pPr>
                      <a:r>
                        <a:rPr lang="en-US" sz="1000" dirty="0">
                          <a:solidFill>
                            <a:srgbClr val="006D77"/>
                          </a:solidFill>
                          <a:latin typeface="Calibri" pitchFamily="34" charset="0"/>
                          <a:ea typeface="Calibri" pitchFamily="34" charset="-122"/>
                          <a:cs typeface="Calibri" pitchFamily="34" charset="-120"/>
                        </a:rPr>
                        <a:t>MCP</a:t>
                      </a:r>
                      <a:endParaRPr lang="en-US" sz="1000" dirty="0">
                        <a:latin typeface="Calibri" charset="0"/>
                        <a:ea typeface="Calibri" charset="0"/>
                        <a:cs typeface="Calibri" charset="0"/>
                      </a:endParaRPr>
                    </a:p>
                  </a:txBody>
                  <a:tcPr marL="54864" marR="54864" marT="54864" marB="54864" anchor="ctr">
                    <a:lnL w="6350" cap="flat" cmpd="sng" algn="ctr">
                      <a:solidFill>
                        <a:srgbClr val="83C5BE"/>
                      </a:solidFill>
                      <a:prstDash val="solid"/>
                      <a:round/>
                      <a:headEnd type="none" w="med" len="med"/>
                      <a:tailEnd type="none" w="med" len="med"/>
                    </a:lnL>
                    <a:lnR w="6350" cap="flat" cmpd="sng" algn="ctr">
                      <a:solidFill>
                        <a:srgbClr val="83C5BE"/>
                      </a:solidFill>
                      <a:prstDash val="solid"/>
                      <a:round/>
                      <a:headEnd type="none" w="med" len="med"/>
                      <a:tailEnd type="none" w="med" len="med"/>
                    </a:lnR>
                    <a:lnT w="6350" cap="flat" cmpd="sng" algn="ctr">
                      <a:solidFill>
                        <a:srgbClr val="83C5BE"/>
                      </a:solidFill>
                      <a:prstDash val="solid"/>
                      <a:round/>
                      <a:headEnd type="none" w="med" len="med"/>
                      <a:tailEnd type="none" w="med" len="med"/>
                    </a:lnT>
                    <a:lnB w="6350" cap="flat" cmpd="sng" algn="ctr">
                      <a:solidFill>
                        <a:srgbClr val="83C5BE"/>
                      </a:solidFill>
                      <a:prstDash val="solid"/>
                      <a:round/>
                      <a:headEnd type="none" w="med" len="med"/>
                      <a:tailEnd type="none" w="med" len="med"/>
                    </a:lnB>
                    <a:solidFill>
                      <a:srgbClr val="EDF6F9"/>
                    </a:solidFill>
                  </a:tcPr>
                </a:tc>
              </a:tr>
              <a:tr h="292608">
                <a:tc>
                  <a:txBody>
                    <a:bodyPr/>
                    <a:lstStyle/>
                    <a:p>
                      <a:pPr indent="0" marL="0">
                        <a:buNone/>
                      </a:pPr>
                      <a:r>
                        <a:rPr lang="en-US" sz="1000" dirty="0">
                          <a:solidFill>
                            <a:srgbClr val="006D77"/>
                          </a:solidFill>
                          <a:latin typeface="Calibri" pitchFamily="34" charset="0"/>
                          <a:ea typeface="Calibri" pitchFamily="34" charset="-122"/>
                          <a:cs typeface="Calibri" pitchFamily="34" charset="-120"/>
                        </a:rPr>
                        <a:t>run formatting after every edit</a:t>
                      </a:r>
                      <a:endParaRPr lang="en-US" sz="1000" dirty="0">
                        <a:latin typeface="Calibri" charset="0"/>
                        <a:ea typeface="Calibri" charset="0"/>
                        <a:cs typeface="Calibri" charset="0"/>
                      </a:endParaRPr>
                    </a:p>
                  </a:txBody>
                  <a:tcPr marL="54864" marR="54864" marT="54864" marB="54864" anchor="ctr">
                    <a:lnL w="6350" cap="flat" cmpd="sng" algn="ctr">
                      <a:solidFill>
                        <a:srgbClr val="83C5BE"/>
                      </a:solidFill>
                      <a:prstDash val="solid"/>
                      <a:round/>
                      <a:headEnd type="none" w="med" len="med"/>
                      <a:tailEnd type="none" w="med" len="med"/>
                    </a:lnL>
                    <a:lnR w="6350" cap="flat" cmpd="sng" algn="ctr">
                      <a:solidFill>
                        <a:srgbClr val="83C5BE"/>
                      </a:solidFill>
                      <a:prstDash val="solid"/>
                      <a:round/>
                      <a:headEnd type="none" w="med" len="med"/>
                      <a:tailEnd type="none" w="med" len="med"/>
                    </a:lnR>
                    <a:lnT w="6350" cap="flat" cmpd="sng" algn="ctr">
                      <a:solidFill>
                        <a:srgbClr val="83C5BE"/>
                      </a:solidFill>
                      <a:prstDash val="solid"/>
                      <a:round/>
                      <a:headEnd type="none" w="med" len="med"/>
                      <a:tailEnd type="none" w="med" len="med"/>
                    </a:lnT>
                    <a:lnB w="6350" cap="flat" cmpd="sng" algn="ctr">
                      <a:solidFill>
                        <a:srgbClr val="83C5BE"/>
                      </a:solidFill>
                      <a:prstDash val="solid"/>
                      <a:round/>
                      <a:headEnd type="none" w="med" len="med"/>
                      <a:tailEnd type="none" w="med" len="med"/>
                    </a:lnB>
                    <a:solidFill>
                      <a:srgbClr val="EDF6F9"/>
                    </a:solidFill>
                  </a:tcPr>
                </a:tc>
                <a:tc>
                  <a:txBody>
                    <a:bodyPr/>
                    <a:lstStyle/>
                    <a:p>
                      <a:pPr indent="0" marL="0">
                        <a:buNone/>
                      </a:pPr>
                      <a:r>
                        <a:rPr lang="en-US" sz="1000" dirty="0">
                          <a:solidFill>
                            <a:srgbClr val="006D77"/>
                          </a:solidFill>
                          <a:latin typeface="Calibri" pitchFamily="34" charset="0"/>
                          <a:ea typeface="Calibri" pitchFamily="34" charset="-122"/>
                          <a:cs typeface="Calibri" pitchFamily="34" charset="-120"/>
                        </a:rPr>
                        <a:t>Hook</a:t>
                      </a:r>
                      <a:endParaRPr lang="en-US" sz="1000" dirty="0">
                        <a:latin typeface="Calibri" charset="0"/>
                        <a:ea typeface="Calibri" charset="0"/>
                        <a:cs typeface="Calibri" charset="0"/>
                      </a:endParaRPr>
                    </a:p>
                  </a:txBody>
                  <a:tcPr marL="54864" marR="54864" marT="54864" marB="54864" anchor="ctr">
                    <a:lnL w="6350" cap="flat" cmpd="sng" algn="ctr">
                      <a:solidFill>
                        <a:srgbClr val="83C5BE"/>
                      </a:solidFill>
                      <a:prstDash val="solid"/>
                      <a:round/>
                      <a:headEnd type="none" w="med" len="med"/>
                      <a:tailEnd type="none" w="med" len="med"/>
                    </a:lnL>
                    <a:lnR w="6350" cap="flat" cmpd="sng" algn="ctr">
                      <a:solidFill>
                        <a:srgbClr val="83C5BE"/>
                      </a:solidFill>
                      <a:prstDash val="solid"/>
                      <a:round/>
                      <a:headEnd type="none" w="med" len="med"/>
                      <a:tailEnd type="none" w="med" len="med"/>
                    </a:lnR>
                    <a:lnT w="6350" cap="flat" cmpd="sng" algn="ctr">
                      <a:solidFill>
                        <a:srgbClr val="83C5BE"/>
                      </a:solidFill>
                      <a:prstDash val="solid"/>
                      <a:round/>
                      <a:headEnd type="none" w="med" len="med"/>
                      <a:tailEnd type="none" w="med" len="med"/>
                    </a:lnT>
                    <a:lnB w="6350" cap="flat" cmpd="sng" algn="ctr">
                      <a:solidFill>
                        <a:srgbClr val="83C5BE"/>
                      </a:solidFill>
                      <a:prstDash val="solid"/>
                      <a:round/>
                      <a:headEnd type="none" w="med" len="med"/>
                      <a:tailEnd type="none" w="med" len="med"/>
                    </a:lnB>
                    <a:solidFill>
                      <a:srgbClr val="EDF6F9"/>
                    </a:solidFill>
                  </a:tcPr>
                </a:tc>
              </a:tr>
              <a:tr h="292608">
                <a:tc>
                  <a:txBody>
                    <a:bodyPr/>
                    <a:lstStyle/>
                    <a:p>
                      <a:pPr indent="0" marL="0">
                        <a:buNone/>
                      </a:pPr>
                      <a:r>
                        <a:rPr lang="en-US" sz="1000" dirty="0">
                          <a:solidFill>
                            <a:srgbClr val="006D77"/>
                          </a:solidFill>
                          <a:latin typeface="Calibri" pitchFamily="34" charset="0"/>
                          <a:ea typeface="Calibri" pitchFamily="34" charset="-122"/>
                          <a:cs typeface="Calibri" pitchFamily="34" charset="-120"/>
                        </a:rPr>
                        <a:t>guide a multi-step deployment</a:t>
                      </a:r>
                      <a:endParaRPr lang="en-US" sz="1000" dirty="0">
                        <a:latin typeface="Calibri" charset="0"/>
                        <a:ea typeface="Calibri" charset="0"/>
                        <a:cs typeface="Calibri" charset="0"/>
                      </a:endParaRPr>
                    </a:p>
                  </a:txBody>
                  <a:tcPr marL="54864" marR="54864" marT="54864" marB="54864" anchor="ctr">
                    <a:lnL w="6350" cap="flat" cmpd="sng" algn="ctr">
                      <a:solidFill>
                        <a:srgbClr val="83C5BE"/>
                      </a:solidFill>
                      <a:prstDash val="solid"/>
                      <a:round/>
                      <a:headEnd type="none" w="med" len="med"/>
                      <a:tailEnd type="none" w="med" len="med"/>
                    </a:lnL>
                    <a:lnR w="6350" cap="flat" cmpd="sng" algn="ctr">
                      <a:solidFill>
                        <a:srgbClr val="83C5BE"/>
                      </a:solidFill>
                      <a:prstDash val="solid"/>
                      <a:round/>
                      <a:headEnd type="none" w="med" len="med"/>
                      <a:tailEnd type="none" w="med" len="med"/>
                    </a:lnR>
                    <a:lnT w="6350" cap="flat" cmpd="sng" algn="ctr">
                      <a:solidFill>
                        <a:srgbClr val="83C5BE"/>
                      </a:solidFill>
                      <a:prstDash val="solid"/>
                      <a:round/>
                      <a:headEnd type="none" w="med" len="med"/>
                      <a:tailEnd type="none" w="med" len="med"/>
                    </a:lnT>
                    <a:lnB w="6350" cap="flat" cmpd="sng" algn="ctr">
                      <a:solidFill>
                        <a:srgbClr val="83C5BE"/>
                      </a:solidFill>
                      <a:prstDash val="solid"/>
                      <a:round/>
                      <a:headEnd type="none" w="med" len="med"/>
                      <a:tailEnd type="none" w="med" len="med"/>
                    </a:lnB>
                    <a:solidFill>
                      <a:srgbClr val="EDF6F9"/>
                    </a:solidFill>
                  </a:tcPr>
                </a:tc>
                <a:tc>
                  <a:txBody>
                    <a:bodyPr/>
                    <a:lstStyle/>
                    <a:p>
                      <a:pPr indent="0" marL="0">
                        <a:buNone/>
                      </a:pPr>
                      <a:r>
                        <a:rPr lang="en-US" sz="1000" dirty="0">
                          <a:solidFill>
                            <a:srgbClr val="006D77"/>
                          </a:solidFill>
                          <a:latin typeface="Calibri" pitchFamily="34" charset="0"/>
                          <a:ea typeface="Calibri" pitchFamily="34" charset="-122"/>
                          <a:cs typeface="Calibri" pitchFamily="34" charset="-120"/>
                        </a:rPr>
                        <a:t>Skill</a:t>
                      </a:r>
                      <a:endParaRPr lang="en-US" sz="1000" dirty="0">
                        <a:latin typeface="Calibri" charset="0"/>
                        <a:ea typeface="Calibri" charset="0"/>
                        <a:cs typeface="Calibri" charset="0"/>
                      </a:endParaRPr>
                    </a:p>
                  </a:txBody>
                  <a:tcPr marL="54864" marR="54864" marT="54864" marB="54864" anchor="ctr">
                    <a:lnL w="6350" cap="flat" cmpd="sng" algn="ctr">
                      <a:solidFill>
                        <a:srgbClr val="83C5BE"/>
                      </a:solidFill>
                      <a:prstDash val="solid"/>
                      <a:round/>
                      <a:headEnd type="none" w="med" len="med"/>
                      <a:tailEnd type="none" w="med" len="med"/>
                    </a:lnL>
                    <a:lnR w="6350" cap="flat" cmpd="sng" algn="ctr">
                      <a:solidFill>
                        <a:srgbClr val="83C5BE"/>
                      </a:solidFill>
                      <a:prstDash val="solid"/>
                      <a:round/>
                      <a:headEnd type="none" w="med" len="med"/>
                      <a:tailEnd type="none" w="med" len="med"/>
                    </a:lnR>
                    <a:lnT w="6350" cap="flat" cmpd="sng" algn="ctr">
                      <a:solidFill>
                        <a:srgbClr val="83C5BE"/>
                      </a:solidFill>
                      <a:prstDash val="solid"/>
                      <a:round/>
                      <a:headEnd type="none" w="med" len="med"/>
                      <a:tailEnd type="none" w="med" len="med"/>
                    </a:lnT>
                    <a:lnB w="6350" cap="flat" cmpd="sng" algn="ctr">
                      <a:solidFill>
                        <a:srgbClr val="83C5BE"/>
                      </a:solidFill>
                      <a:prstDash val="solid"/>
                      <a:round/>
                      <a:headEnd type="none" w="med" len="med"/>
                      <a:tailEnd type="none" w="med" len="med"/>
                    </a:lnB>
                    <a:solidFill>
                      <a:srgbClr val="EDF6F9"/>
                    </a:solidFill>
                  </a:tcPr>
                </a:tc>
              </a:tr>
              <a:tr h="292608">
                <a:tc>
                  <a:txBody>
                    <a:bodyPr/>
                    <a:lstStyle/>
                    <a:p>
                      <a:pPr indent="0" marL="0">
                        <a:buNone/>
                      </a:pPr>
                      <a:r>
                        <a:rPr lang="en-US" sz="1000" dirty="0">
                          <a:solidFill>
                            <a:srgbClr val="006D77"/>
                          </a:solidFill>
                          <a:latin typeface="Calibri" pitchFamily="34" charset="0"/>
                          <a:ea typeface="Calibri" pitchFamily="34" charset="-122"/>
                          <a:cs typeface="Calibri" pitchFamily="34" charset="-120"/>
                        </a:rPr>
                        <a:t>send a completion notification</a:t>
                      </a:r>
                      <a:endParaRPr lang="en-US" sz="1000" dirty="0">
                        <a:latin typeface="Calibri" charset="0"/>
                        <a:ea typeface="Calibri" charset="0"/>
                        <a:cs typeface="Calibri" charset="0"/>
                      </a:endParaRPr>
                    </a:p>
                  </a:txBody>
                  <a:tcPr marL="54864" marR="54864" marT="54864" marB="54864" anchor="ctr">
                    <a:lnL w="6350" cap="flat" cmpd="sng" algn="ctr">
                      <a:solidFill>
                        <a:srgbClr val="83C5BE"/>
                      </a:solidFill>
                      <a:prstDash val="solid"/>
                      <a:round/>
                      <a:headEnd type="none" w="med" len="med"/>
                      <a:tailEnd type="none" w="med" len="med"/>
                    </a:lnL>
                    <a:lnR w="6350" cap="flat" cmpd="sng" algn="ctr">
                      <a:solidFill>
                        <a:srgbClr val="83C5BE"/>
                      </a:solidFill>
                      <a:prstDash val="solid"/>
                      <a:round/>
                      <a:headEnd type="none" w="med" len="med"/>
                      <a:tailEnd type="none" w="med" len="med"/>
                    </a:lnR>
                    <a:lnT w="6350" cap="flat" cmpd="sng" algn="ctr">
                      <a:solidFill>
                        <a:srgbClr val="83C5BE"/>
                      </a:solidFill>
                      <a:prstDash val="solid"/>
                      <a:round/>
                      <a:headEnd type="none" w="med" len="med"/>
                      <a:tailEnd type="none" w="med" len="med"/>
                    </a:lnT>
                    <a:lnB w="6350" cap="flat" cmpd="sng" algn="ctr">
                      <a:solidFill>
                        <a:srgbClr val="83C5BE"/>
                      </a:solidFill>
                      <a:prstDash val="solid"/>
                      <a:round/>
                      <a:headEnd type="none" w="med" len="med"/>
                      <a:tailEnd type="none" w="med" len="med"/>
                    </a:lnB>
                    <a:solidFill>
                      <a:srgbClr val="EDF6F9"/>
                    </a:solidFill>
                  </a:tcPr>
                </a:tc>
                <a:tc>
                  <a:txBody>
                    <a:bodyPr/>
                    <a:lstStyle/>
                    <a:p>
                      <a:pPr indent="0" marL="0">
                        <a:buNone/>
                      </a:pPr>
                      <a:r>
                        <a:rPr lang="en-US" sz="1000" dirty="0">
                          <a:solidFill>
                            <a:srgbClr val="006D77"/>
                          </a:solidFill>
                          <a:latin typeface="Calibri" pitchFamily="34" charset="0"/>
                          <a:ea typeface="Calibri" pitchFamily="34" charset="-122"/>
                          <a:cs typeface="Calibri" pitchFamily="34" charset="-120"/>
                        </a:rPr>
                        <a:t>Hook plus MCP</a:t>
                      </a:r>
                      <a:endParaRPr lang="en-US" sz="1000" dirty="0">
                        <a:latin typeface="Calibri" charset="0"/>
                        <a:ea typeface="Calibri" charset="0"/>
                        <a:cs typeface="Calibri" charset="0"/>
                      </a:endParaRPr>
                    </a:p>
                  </a:txBody>
                  <a:tcPr marL="54864" marR="54864" marT="54864" marB="54864" anchor="ctr">
                    <a:lnL w="6350" cap="flat" cmpd="sng" algn="ctr">
                      <a:solidFill>
                        <a:srgbClr val="83C5BE"/>
                      </a:solidFill>
                      <a:prstDash val="solid"/>
                      <a:round/>
                      <a:headEnd type="none" w="med" len="med"/>
                      <a:tailEnd type="none" w="med" len="med"/>
                    </a:lnL>
                    <a:lnR w="6350" cap="flat" cmpd="sng" algn="ctr">
                      <a:solidFill>
                        <a:srgbClr val="83C5BE"/>
                      </a:solidFill>
                      <a:prstDash val="solid"/>
                      <a:round/>
                      <a:headEnd type="none" w="med" len="med"/>
                      <a:tailEnd type="none" w="med" len="med"/>
                    </a:lnR>
                    <a:lnT w="6350" cap="flat" cmpd="sng" algn="ctr">
                      <a:solidFill>
                        <a:srgbClr val="83C5BE"/>
                      </a:solidFill>
                      <a:prstDash val="solid"/>
                      <a:round/>
                      <a:headEnd type="none" w="med" len="med"/>
                      <a:tailEnd type="none" w="med" len="med"/>
                    </a:lnT>
                    <a:lnB w="6350" cap="flat" cmpd="sng" algn="ctr">
                      <a:solidFill>
                        <a:srgbClr val="83C5BE"/>
                      </a:solidFill>
                      <a:prstDash val="solid"/>
                      <a:round/>
                      <a:headEnd type="none" w="med" len="med"/>
                      <a:tailEnd type="none" w="med" len="med"/>
                    </a:lnB>
                    <a:solidFill>
                      <a:srgbClr val="EDF6F9"/>
                    </a:solidFill>
                  </a:tcPr>
                </a:tc>
              </a:tr>
              <a:tr h="292608">
                <a:tc>
                  <a:txBody>
                    <a:bodyPr/>
                    <a:lstStyle/>
                    <a:p>
                      <a:pPr indent="0" marL="0">
                        <a:buNone/>
                      </a:pPr>
                      <a:r>
                        <a:rPr lang="en-US" sz="1000" dirty="0">
                          <a:solidFill>
                            <a:srgbClr val="006D77"/>
                          </a:solidFill>
                          <a:latin typeface="Calibri" pitchFamily="34" charset="0"/>
                          <a:ea typeface="Calibri" pitchFamily="34" charset="-122"/>
                          <a:cs typeface="Calibri" pitchFamily="34" charset="-120"/>
                        </a:rPr>
                        <a:t>block writes to production</a:t>
                      </a:r>
                      <a:endParaRPr lang="en-US" sz="1000" dirty="0">
                        <a:latin typeface="Calibri" charset="0"/>
                        <a:ea typeface="Calibri" charset="0"/>
                        <a:cs typeface="Calibri" charset="0"/>
                      </a:endParaRPr>
                    </a:p>
                  </a:txBody>
                  <a:tcPr marL="54864" marR="54864" marT="54864" marB="54864" anchor="ctr">
                    <a:lnL w="6350" cap="flat" cmpd="sng" algn="ctr">
                      <a:solidFill>
                        <a:srgbClr val="83C5BE"/>
                      </a:solidFill>
                      <a:prstDash val="solid"/>
                      <a:round/>
                      <a:headEnd type="none" w="med" len="med"/>
                      <a:tailEnd type="none" w="med" len="med"/>
                    </a:lnL>
                    <a:lnR w="6350" cap="flat" cmpd="sng" algn="ctr">
                      <a:solidFill>
                        <a:srgbClr val="83C5BE"/>
                      </a:solidFill>
                      <a:prstDash val="solid"/>
                      <a:round/>
                      <a:headEnd type="none" w="med" len="med"/>
                      <a:tailEnd type="none" w="med" len="med"/>
                    </a:lnR>
                    <a:lnT w="6350" cap="flat" cmpd="sng" algn="ctr">
                      <a:solidFill>
                        <a:srgbClr val="83C5BE"/>
                      </a:solidFill>
                      <a:prstDash val="solid"/>
                      <a:round/>
                      <a:headEnd type="none" w="med" len="med"/>
                      <a:tailEnd type="none" w="med" len="med"/>
                    </a:lnT>
                    <a:lnB w="6350" cap="flat" cmpd="sng" algn="ctr">
                      <a:solidFill>
                        <a:srgbClr val="83C5BE"/>
                      </a:solidFill>
                      <a:prstDash val="solid"/>
                      <a:round/>
                      <a:headEnd type="none" w="med" len="med"/>
                      <a:tailEnd type="none" w="med" len="med"/>
                    </a:lnB>
                    <a:solidFill>
                      <a:srgbClr val="EDF6F9"/>
                    </a:solidFill>
                  </a:tcPr>
                </a:tc>
                <a:tc>
                  <a:txBody>
                    <a:bodyPr/>
                    <a:lstStyle/>
                    <a:p>
                      <a:pPr indent="0" marL="0">
                        <a:buNone/>
                      </a:pPr>
                      <a:r>
                        <a:rPr lang="en-US" sz="1000" dirty="0">
                          <a:solidFill>
                            <a:srgbClr val="006D77"/>
                          </a:solidFill>
                          <a:latin typeface="Calibri" pitchFamily="34" charset="0"/>
                          <a:ea typeface="Calibri" pitchFamily="34" charset="-122"/>
                          <a:cs typeface="Calibri" pitchFamily="34" charset="-120"/>
                        </a:rPr>
                        <a:t>Hook or policy</a:t>
                      </a:r>
                      <a:endParaRPr lang="en-US" sz="1000" dirty="0">
                        <a:latin typeface="Calibri" charset="0"/>
                        <a:ea typeface="Calibri" charset="0"/>
                        <a:cs typeface="Calibri" charset="0"/>
                      </a:endParaRPr>
                    </a:p>
                  </a:txBody>
                  <a:tcPr marL="54864" marR="54864" marT="54864" marB="54864" anchor="ctr">
                    <a:lnL w="6350" cap="flat" cmpd="sng" algn="ctr">
                      <a:solidFill>
                        <a:srgbClr val="83C5BE"/>
                      </a:solidFill>
                      <a:prstDash val="solid"/>
                      <a:round/>
                      <a:headEnd type="none" w="med" len="med"/>
                      <a:tailEnd type="none" w="med" len="med"/>
                    </a:lnL>
                    <a:lnR w="6350" cap="flat" cmpd="sng" algn="ctr">
                      <a:solidFill>
                        <a:srgbClr val="83C5BE"/>
                      </a:solidFill>
                      <a:prstDash val="solid"/>
                      <a:round/>
                      <a:headEnd type="none" w="med" len="med"/>
                      <a:tailEnd type="none" w="med" len="med"/>
                    </a:lnR>
                    <a:lnT w="6350" cap="flat" cmpd="sng" algn="ctr">
                      <a:solidFill>
                        <a:srgbClr val="83C5BE"/>
                      </a:solidFill>
                      <a:prstDash val="solid"/>
                      <a:round/>
                      <a:headEnd type="none" w="med" len="med"/>
                      <a:tailEnd type="none" w="med" len="med"/>
                    </a:lnT>
                    <a:lnB w="6350" cap="flat" cmpd="sng" algn="ctr">
                      <a:solidFill>
                        <a:srgbClr val="83C5BE"/>
                      </a:solidFill>
                      <a:prstDash val="solid"/>
                      <a:round/>
                      <a:headEnd type="none" w="med" len="med"/>
                      <a:tailEnd type="none" w="med" len="med"/>
                    </a:lnB>
                    <a:solidFill>
                      <a:srgbClr val="EDF6F9"/>
                    </a:solidFill>
                  </a:tcPr>
                </a:tc>
              </a:tr>
              <a:tr h="292608">
                <a:tc>
                  <a:txBody>
                    <a:bodyPr/>
                    <a:lstStyle/>
                    <a:p>
                      <a:pPr indent="0" marL="0">
                        <a:buNone/>
                      </a:pPr>
                      <a:r>
                        <a:rPr lang="en-US" sz="1000" dirty="0">
                          <a:solidFill>
                            <a:srgbClr val="006D77"/>
                          </a:solidFill>
                          <a:latin typeface="Calibri" pitchFamily="34" charset="0"/>
                          <a:ea typeface="Calibri" pitchFamily="34" charset="-122"/>
                          <a:cs typeface="Calibri" pitchFamily="34" charset="-120"/>
                        </a:rPr>
                        <a:t>share everything across repositories</a:t>
                      </a:r>
                      <a:endParaRPr lang="en-US" sz="1000" dirty="0">
                        <a:latin typeface="Calibri" charset="0"/>
                        <a:ea typeface="Calibri" charset="0"/>
                        <a:cs typeface="Calibri" charset="0"/>
                      </a:endParaRPr>
                    </a:p>
                  </a:txBody>
                  <a:tcPr marL="54864" marR="54864" marT="54864" marB="54864" anchor="ctr">
                    <a:lnL w="6350" cap="flat" cmpd="sng" algn="ctr">
                      <a:solidFill>
                        <a:srgbClr val="83C5BE"/>
                      </a:solidFill>
                      <a:prstDash val="solid"/>
                      <a:round/>
                      <a:headEnd type="none" w="med" len="med"/>
                      <a:tailEnd type="none" w="med" len="med"/>
                    </a:lnL>
                    <a:lnR w="6350" cap="flat" cmpd="sng" algn="ctr">
                      <a:solidFill>
                        <a:srgbClr val="83C5BE"/>
                      </a:solidFill>
                      <a:prstDash val="solid"/>
                      <a:round/>
                      <a:headEnd type="none" w="med" len="med"/>
                      <a:tailEnd type="none" w="med" len="med"/>
                    </a:lnR>
                    <a:lnT w="6350" cap="flat" cmpd="sng" algn="ctr">
                      <a:solidFill>
                        <a:srgbClr val="83C5BE"/>
                      </a:solidFill>
                      <a:prstDash val="solid"/>
                      <a:round/>
                      <a:headEnd type="none" w="med" len="med"/>
                      <a:tailEnd type="none" w="med" len="med"/>
                    </a:lnT>
                    <a:lnB w="6350" cap="flat" cmpd="sng" algn="ctr">
                      <a:solidFill>
                        <a:srgbClr val="83C5BE"/>
                      </a:solidFill>
                      <a:prstDash val="solid"/>
                      <a:round/>
                      <a:headEnd type="none" w="med" len="med"/>
                      <a:tailEnd type="none" w="med" len="med"/>
                    </a:lnB>
                    <a:solidFill>
                      <a:srgbClr val="EDF6F9"/>
                    </a:solidFill>
                  </a:tcPr>
                </a:tc>
                <a:tc>
                  <a:txBody>
                    <a:bodyPr/>
                    <a:lstStyle/>
                    <a:p>
                      <a:pPr indent="0" marL="0">
                        <a:buNone/>
                      </a:pPr>
                      <a:r>
                        <a:rPr lang="en-US" sz="1000" dirty="0">
                          <a:solidFill>
                            <a:srgbClr val="006D77"/>
                          </a:solidFill>
                          <a:latin typeface="Calibri" pitchFamily="34" charset="0"/>
                          <a:ea typeface="Calibri" pitchFamily="34" charset="-122"/>
                          <a:cs typeface="Calibri" pitchFamily="34" charset="-120"/>
                        </a:rPr>
                        <a:t>Plugin</a:t>
                      </a:r>
                      <a:endParaRPr lang="en-US" sz="1000" dirty="0">
                        <a:latin typeface="Calibri" charset="0"/>
                        <a:ea typeface="Calibri" charset="0"/>
                        <a:cs typeface="Calibri" charset="0"/>
                      </a:endParaRPr>
                    </a:p>
                  </a:txBody>
                  <a:tcPr marL="54864" marR="54864" marT="54864" marB="54864" anchor="ctr">
                    <a:lnL w="6350" cap="flat" cmpd="sng" algn="ctr">
                      <a:solidFill>
                        <a:srgbClr val="83C5BE"/>
                      </a:solidFill>
                      <a:prstDash val="solid"/>
                      <a:round/>
                      <a:headEnd type="none" w="med" len="med"/>
                      <a:tailEnd type="none" w="med" len="med"/>
                    </a:lnL>
                    <a:lnR w="6350" cap="flat" cmpd="sng" algn="ctr">
                      <a:solidFill>
                        <a:srgbClr val="83C5BE"/>
                      </a:solidFill>
                      <a:prstDash val="solid"/>
                      <a:round/>
                      <a:headEnd type="none" w="med" len="med"/>
                      <a:tailEnd type="none" w="med" len="med"/>
                    </a:lnR>
                    <a:lnT w="6350" cap="flat" cmpd="sng" algn="ctr">
                      <a:solidFill>
                        <a:srgbClr val="83C5BE"/>
                      </a:solidFill>
                      <a:prstDash val="solid"/>
                      <a:round/>
                      <a:headEnd type="none" w="med" len="med"/>
                      <a:tailEnd type="none" w="med" len="med"/>
                    </a:lnT>
                    <a:lnB w="6350" cap="flat" cmpd="sng" algn="ctr">
                      <a:solidFill>
                        <a:srgbClr val="83C5BE"/>
                      </a:solidFill>
                      <a:prstDash val="solid"/>
                      <a:round/>
                      <a:headEnd type="none" w="med" len="med"/>
                      <a:tailEnd type="none" w="med" len="med"/>
                    </a:lnB>
                    <a:solidFill>
                      <a:srgbClr val="EDF6F9"/>
                    </a:solidFill>
                  </a:tcPr>
                </a:tc>
              </a:tr>
            </a:tbl>
          </a:graphicData>
        </a:graphic>
      </p:graphicFrame>
      <p:sp>
        <p:nvSpPr>
          <p:cNvPr id="5" name="Shape 2"/>
          <p:cNvSpPr/>
          <p:nvPr/>
        </p:nvSpPr>
        <p:spPr>
          <a:xfrm>
            <a:off x="457200" y="3657600"/>
            <a:ext cx="8229600" cy="777240"/>
          </a:xfrm>
          <a:prstGeom prst="rect">
            <a:avLst/>
          </a:prstGeom>
          <a:solidFill>
            <a:srgbClr val="FFDDD2"/>
          </a:solidFill>
          <a:ln w="9525">
            <a:solidFill>
              <a:srgbClr val="83C5BE"/>
            </a:solidFill>
            <a:prstDash val="solid"/>
          </a:ln>
          <a:effectLst>
            <a:outerShdw sx="100000" sy="100000" kx="0" ky="0" algn="bl" rotWithShape="0" blurRad="101600" dist="25400" dir="5400000">
              <a:srgbClr val="006d77">
                <a:alpha val="12000"/>
              </a:srgbClr>
            </a:outerShdw>
          </a:effectLst>
        </p:spPr>
      </p:sp>
      <p:sp>
        <p:nvSpPr>
          <p:cNvPr id="6" name="Shape 3"/>
          <p:cNvSpPr/>
          <p:nvPr/>
        </p:nvSpPr>
        <p:spPr>
          <a:xfrm>
            <a:off x="457200" y="3657600"/>
            <a:ext cx="50292" cy="777240"/>
          </a:xfrm>
          <a:prstGeom prst="rect">
            <a:avLst/>
          </a:prstGeom>
          <a:solidFill>
            <a:srgbClr val="E29578"/>
          </a:solidFill>
          <a:ln w="12700">
            <a:solidFill>
              <a:srgbClr val="E29578"/>
            </a:solidFill>
            <a:prstDash val="solid"/>
          </a:ln>
        </p:spPr>
      </p:sp>
      <p:sp>
        <p:nvSpPr>
          <p:cNvPr id="7" name="Text 4"/>
          <p:cNvSpPr/>
          <p:nvPr/>
        </p:nvSpPr>
        <p:spPr>
          <a:xfrm>
            <a:off x="640080" y="3803904"/>
            <a:ext cx="7900416" cy="502920"/>
          </a:xfrm>
          <a:prstGeom prst="rect">
            <a:avLst/>
          </a:prstGeom>
          <a:noFill/>
          <a:ln/>
        </p:spPr>
        <p:txBody>
          <a:bodyPr wrap="square" lIns="0" tIns="0" rIns="0" bIns="0" rtlCol="0" anchor="ctr"/>
          <a:lstStyle/>
          <a:p>
            <a:pPr algn="l" indent="0" marL="0">
              <a:buNone/>
            </a:pPr>
            <a:r>
              <a:rPr lang="en-US" sz="1050" dirty="0">
                <a:solidFill>
                  <a:srgbClr val="006D77"/>
                </a:solidFill>
                <a:latin typeface="Calibri" pitchFamily="34" charset="0"/>
                <a:ea typeface="Calibri" pitchFamily="34" charset="-122"/>
                <a:cs typeface="Calibri" pitchFamily="34" charset="-120"/>
              </a:rPr>
              <a:t>The four extension mechanisms are explicitly non-interchangeable, and the lecture ends with this classification exercise. A skill decides how, MCP reaches outside, a hook enforces, a plugin distributes.</a:t>
            </a:r>
            <a:endParaRPr lang="en-US" sz="1050" dirty="0"/>
          </a:p>
        </p:txBody>
      </p:sp>
      <p:sp>
        <p:nvSpPr>
          <p:cNvPr id="8" name="Shape 5"/>
          <p:cNvSpPr/>
          <p:nvPr/>
        </p:nvSpPr>
        <p:spPr>
          <a:xfrm>
            <a:off x="8485632" y="4645152"/>
            <a:ext cx="420624" cy="274320"/>
          </a:xfrm>
          <a:prstGeom prst="roundRect">
            <a:avLst>
              <a:gd name="adj" fmla="val 26667"/>
            </a:avLst>
          </a:prstGeom>
          <a:solidFill>
            <a:srgbClr val="006D77"/>
          </a:solidFill>
          <a:ln w="12700">
            <a:solidFill>
              <a:srgbClr val="006D77"/>
            </a:solidFill>
            <a:prstDash val="solid"/>
          </a:ln>
        </p:spPr>
      </p:sp>
      <p:sp>
        <p:nvSpPr>
          <p:cNvPr id="9" name="Text 6"/>
          <p:cNvSpPr/>
          <p:nvPr/>
        </p:nvSpPr>
        <p:spPr>
          <a:xfrm>
            <a:off x="8485632" y="4645152"/>
            <a:ext cx="420624" cy="274320"/>
          </a:xfrm>
          <a:prstGeom prst="rect">
            <a:avLst/>
          </a:prstGeom>
          <a:noFill/>
          <a:ln/>
        </p:spPr>
        <p:txBody>
          <a:bodyPr wrap="square" lIns="0" tIns="0" rIns="0" bIns="0" rtlCol="0" anchor="ctr"/>
          <a:lstStyle/>
          <a:p>
            <a:pPr algn="ctr" indent="0" marL="0">
              <a:buNone/>
            </a:pPr>
            <a:r>
              <a:rPr lang="en-US" sz="1100" dirty="0">
                <a:solidFill>
                  <a:srgbClr val="EDF6F9"/>
                </a:solidFill>
                <a:latin typeface="Calibri" pitchFamily="34" charset="0"/>
                <a:ea typeface="Calibri" pitchFamily="34" charset="-122"/>
                <a:cs typeface="Calibri" pitchFamily="34" charset="-120"/>
              </a:rPr>
              <a:t>12</a:t>
            </a:r>
            <a:endParaRPr lang="en-US" sz="1100" dirty="0"/>
          </a:p>
        </p:txBody>
      </p:sp>
      <p:sp>
        <p:nvSpPr>
          <p:cNvPr id="10" name="Shape 7"/>
          <p:cNvSpPr/>
          <p:nvPr/>
        </p:nvSpPr>
        <p:spPr>
          <a:xfrm>
            <a:off x="457200" y="4754880"/>
            <a:ext cx="7772400" cy="10973"/>
          </a:xfrm>
          <a:prstGeom prst="rect">
            <a:avLst/>
          </a:prstGeom>
          <a:solidFill>
            <a:srgbClr val="83C5BE"/>
          </a:solidFill>
          <a:ln w="12700">
            <a:solidFill>
              <a:srgbClr val="83C5BE"/>
            </a:solidFill>
            <a:prstDash val="solid"/>
          </a:ln>
        </p:spPr>
      </p:sp>
      <p:sp>
        <p:nvSpPr>
          <p:cNvPr id="11" name="Text 8"/>
          <p:cNvSpPr/>
          <p:nvPr/>
        </p:nvSpPr>
        <p:spPr>
          <a:xfrm>
            <a:off x="457200" y="4773168"/>
            <a:ext cx="7772400" cy="219456"/>
          </a:xfrm>
          <a:prstGeom prst="rect">
            <a:avLst/>
          </a:prstGeom>
          <a:noFill/>
          <a:ln/>
        </p:spPr>
        <p:txBody>
          <a:bodyPr wrap="square" lIns="0" tIns="0" rIns="0" bIns="0" rtlCol="0" anchor="ctr"/>
          <a:lstStyle/>
          <a:p>
            <a:pPr algn="l" indent="0" marL="0">
              <a:buNone/>
            </a:pPr>
            <a:r>
              <a:rPr lang="en-US" sz="900" dirty="0">
                <a:solidFill>
                  <a:srgbClr val="006D77">
                    <a:alpha val="55000"/>
                  </a:srgbClr>
                </a:solidFill>
                <a:latin typeface="Calibri" pitchFamily="34" charset="0"/>
                <a:ea typeface="Calibri" pitchFamily="34" charset="-122"/>
                <a:cs typeface="Calibri" pitchFamily="34" charset="-120"/>
              </a:rPr>
              <a:t>Source: https://cs2680.seas.harvard.edu/slides/2_agent_use_1.pdf</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DF6F9"/>
        </a:solidFill>
      </p:bgPr>
    </p:bg>
    <p:spTree>
      <p:nvGrpSpPr>
        <p:cNvPr id="1" name=""/>
        <p:cNvGrpSpPr/>
        <p:nvPr/>
      </p:nvGrpSpPr>
      <p:grpSpPr>
        <a:xfrm>
          <a:off x="0" y="0"/>
          <a:ext cx="0" cy="0"/>
          <a:chOff x="0" y="0"/>
          <a:chExt cx="0" cy="0"/>
        </a:xfrm>
      </p:grpSpPr>
      <p:sp>
        <p:nvSpPr>
          <p:cNvPr id="2" name="Text 0"/>
          <p:cNvSpPr/>
          <p:nvPr/>
        </p:nvSpPr>
        <p:spPr>
          <a:xfrm>
            <a:off x="457200" y="310896"/>
            <a:ext cx="8229600" cy="219456"/>
          </a:xfrm>
          <a:prstGeom prst="rect">
            <a:avLst/>
          </a:prstGeom>
          <a:noFill/>
          <a:ln/>
        </p:spPr>
        <p:txBody>
          <a:bodyPr wrap="square" lIns="0" tIns="0" rIns="0" bIns="0" rtlCol="0" anchor="ctr"/>
          <a:lstStyle/>
          <a:p>
            <a:pPr algn="l" indent="0" marL="0">
              <a:buNone/>
            </a:pPr>
            <a:r>
              <a:rPr lang="en-US" sz="1100" spc="140" kern="0" dirty="0">
                <a:solidFill>
                  <a:srgbClr val="E29578"/>
                </a:solidFill>
                <a:latin typeface="Calibri" pitchFamily="34" charset="0"/>
                <a:ea typeface="Calibri" pitchFamily="34" charset="-122"/>
                <a:cs typeface="Calibri" pitchFamily="34" charset="-120"/>
              </a:rPr>
              <a:t>SUMMARY</a:t>
            </a:r>
            <a:endParaRPr lang="en-US" sz="1100" dirty="0"/>
          </a:p>
        </p:txBody>
      </p:sp>
      <p:sp>
        <p:nvSpPr>
          <p:cNvPr id="3" name="Text 1"/>
          <p:cNvSpPr/>
          <p:nvPr/>
        </p:nvSpPr>
        <p:spPr>
          <a:xfrm>
            <a:off x="457200" y="548640"/>
            <a:ext cx="8229600" cy="566928"/>
          </a:xfrm>
          <a:prstGeom prst="rect">
            <a:avLst/>
          </a:prstGeom>
          <a:noFill/>
          <a:ln/>
        </p:spPr>
        <p:txBody>
          <a:bodyPr wrap="square" lIns="0" tIns="0" rIns="0" bIns="0" rtlCol="0" anchor="ctr">
            <a:normAutofit/>
          </a:bodyPr>
          <a:lstStyle/>
          <a:p>
            <a:pPr algn="l" indent="0" marL="0">
              <a:buNone/>
            </a:pPr>
            <a:r>
              <a:rPr lang="en-US" sz="2700" b="1" dirty="0">
                <a:solidFill>
                  <a:srgbClr val="006D77"/>
                </a:solidFill>
                <a:latin typeface="Georgia" pitchFamily="34" charset="0"/>
                <a:ea typeface="Georgia" pitchFamily="34" charset="-122"/>
                <a:cs typeface="Georgia" pitchFamily="34" charset="-120"/>
              </a:rPr>
              <a:t>Three things to carry out of Lecture 2</a:t>
            </a:r>
            <a:endParaRPr lang="en-US" sz="2700" dirty="0"/>
          </a:p>
        </p:txBody>
      </p:sp>
      <p:sp>
        <p:nvSpPr>
          <p:cNvPr id="4" name="Shape 2"/>
          <p:cNvSpPr/>
          <p:nvPr/>
        </p:nvSpPr>
        <p:spPr>
          <a:xfrm>
            <a:off x="457200" y="1325880"/>
            <a:ext cx="8229600" cy="868680"/>
          </a:xfrm>
          <a:prstGeom prst="rect">
            <a:avLst/>
          </a:prstGeom>
          <a:solidFill>
            <a:srgbClr val="EDF6F9"/>
          </a:solidFill>
          <a:ln w="9525">
            <a:solidFill>
              <a:srgbClr val="83C5BE"/>
            </a:solidFill>
            <a:prstDash val="solid"/>
          </a:ln>
          <a:effectLst>
            <a:outerShdw sx="100000" sy="100000" kx="0" ky="0" algn="bl" rotWithShape="0" blurRad="101600" dist="25400" dir="5400000">
              <a:srgbClr val="006d77">
                <a:alpha val="12000"/>
              </a:srgbClr>
            </a:outerShdw>
          </a:effectLst>
        </p:spPr>
      </p:sp>
      <p:sp>
        <p:nvSpPr>
          <p:cNvPr id="5" name="Shape 3"/>
          <p:cNvSpPr/>
          <p:nvPr/>
        </p:nvSpPr>
        <p:spPr>
          <a:xfrm>
            <a:off x="457200" y="1325880"/>
            <a:ext cx="50292" cy="868680"/>
          </a:xfrm>
          <a:prstGeom prst="rect">
            <a:avLst/>
          </a:prstGeom>
          <a:solidFill>
            <a:srgbClr val="E29578"/>
          </a:solidFill>
          <a:ln w="12700">
            <a:solidFill>
              <a:srgbClr val="E29578"/>
            </a:solidFill>
            <a:prstDash val="solid"/>
          </a:ln>
        </p:spPr>
      </p:sp>
      <p:sp>
        <p:nvSpPr>
          <p:cNvPr id="6" name="Shape 4"/>
          <p:cNvSpPr/>
          <p:nvPr/>
        </p:nvSpPr>
        <p:spPr>
          <a:xfrm>
            <a:off x="640080" y="1673352"/>
            <a:ext cx="329184" cy="329184"/>
          </a:xfrm>
          <a:prstGeom prst="ellipse">
            <a:avLst/>
          </a:prstGeom>
          <a:solidFill>
            <a:srgbClr val="E29578"/>
          </a:solidFill>
          <a:ln w="12700">
            <a:solidFill>
              <a:srgbClr val="E29578"/>
            </a:solidFill>
            <a:prstDash val="solid"/>
          </a:ln>
        </p:spPr>
      </p:sp>
      <p:sp>
        <p:nvSpPr>
          <p:cNvPr id="7" name="Text 5"/>
          <p:cNvSpPr/>
          <p:nvPr/>
        </p:nvSpPr>
        <p:spPr>
          <a:xfrm>
            <a:off x="640080" y="1673352"/>
            <a:ext cx="329184" cy="329184"/>
          </a:xfrm>
          <a:prstGeom prst="rect">
            <a:avLst/>
          </a:prstGeom>
          <a:noFill/>
          <a:ln/>
        </p:spPr>
        <p:txBody>
          <a:bodyPr wrap="square" lIns="0" tIns="0" rIns="0" bIns="0" rtlCol="0" anchor="ctr"/>
          <a:lstStyle/>
          <a:p>
            <a:pPr algn="ctr" indent="0" marL="0">
              <a:buNone/>
            </a:pPr>
            <a:r>
              <a:rPr lang="en-US" sz="1200" dirty="0">
                <a:solidFill>
                  <a:srgbClr val="006D77"/>
                </a:solidFill>
                <a:latin typeface="Calibri" pitchFamily="34" charset="0"/>
                <a:ea typeface="Calibri" pitchFamily="34" charset="-122"/>
                <a:cs typeface="Calibri" pitchFamily="34" charset="-120"/>
              </a:rPr>
              <a:t>1</a:t>
            </a:r>
            <a:endParaRPr lang="en-US" sz="1200" dirty="0"/>
          </a:p>
        </p:txBody>
      </p:sp>
      <p:sp>
        <p:nvSpPr>
          <p:cNvPr id="8" name="Text 6"/>
          <p:cNvSpPr/>
          <p:nvPr/>
        </p:nvSpPr>
        <p:spPr>
          <a:xfrm>
            <a:off x="1097280" y="1563624"/>
            <a:ext cx="7443216" cy="411480"/>
          </a:xfrm>
          <a:prstGeom prst="rect">
            <a:avLst/>
          </a:prstGeom>
          <a:noFill/>
          <a:ln/>
        </p:spPr>
        <p:txBody>
          <a:bodyPr wrap="square" lIns="0" tIns="0" rIns="0" bIns="0" rtlCol="0" anchor="ctr"/>
          <a:lstStyle/>
          <a:p>
            <a:pPr algn="l" indent="0" marL="0">
              <a:buNone/>
            </a:pPr>
            <a:r>
              <a:rPr lang="en-US" sz="1200" dirty="0">
                <a:solidFill>
                  <a:srgbClr val="006D77"/>
                </a:solidFill>
                <a:latin typeface="Calibri" pitchFamily="34" charset="0"/>
                <a:ea typeface="Calibri" pitchFamily="34" charset="-122"/>
                <a:cs typeface="Calibri" pitchFamily="34" charset="-120"/>
              </a:rPr>
              <a:t>One user prompt expands into many model calls and many tool executions; the agentic loop is the unit of work.</a:t>
            </a:r>
            <a:endParaRPr lang="en-US" sz="1200" dirty="0"/>
          </a:p>
        </p:txBody>
      </p:sp>
      <p:sp>
        <p:nvSpPr>
          <p:cNvPr id="9" name="Shape 7"/>
          <p:cNvSpPr/>
          <p:nvPr/>
        </p:nvSpPr>
        <p:spPr>
          <a:xfrm>
            <a:off x="457200" y="2377440"/>
            <a:ext cx="8229600" cy="868680"/>
          </a:xfrm>
          <a:prstGeom prst="rect">
            <a:avLst/>
          </a:prstGeom>
          <a:solidFill>
            <a:srgbClr val="FFDDD2"/>
          </a:solidFill>
          <a:ln w="9525">
            <a:solidFill>
              <a:srgbClr val="83C5BE"/>
            </a:solidFill>
            <a:prstDash val="solid"/>
          </a:ln>
          <a:effectLst>
            <a:outerShdw sx="100000" sy="100000" kx="0" ky="0" algn="bl" rotWithShape="0" blurRad="101600" dist="25400" dir="5400000">
              <a:srgbClr val="006d77">
                <a:alpha val="12000"/>
              </a:srgbClr>
            </a:outerShdw>
          </a:effectLst>
        </p:spPr>
      </p:sp>
      <p:sp>
        <p:nvSpPr>
          <p:cNvPr id="10" name="Shape 8"/>
          <p:cNvSpPr/>
          <p:nvPr/>
        </p:nvSpPr>
        <p:spPr>
          <a:xfrm>
            <a:off x="457200" y="2377440"/>
            <a:ext cx="50292" cy="868680"/>
          </a:xfrm>
          <a:prstGeom prst="rect">
            <a:avLst/>
          </a:prstGeom>
          <a:solidFill>
            <a:srgbClr val="E29578"/>
          </a:solidFill>
          <a:ln w="12700">
            <a:solidFill>
              <a:srgbClr val="E29578"/>
            </a:solidFill>
            <a:prstDash val="solid"/>
          </a:ln>
        </p:spPr>
      </p:sp>
      <p:sp>
        <p:nvSpPr>
          <p:cNvPr id="11" name="Shape 9"/>
          <p:cNvSpPr/>
          <p:nvPr/>
        </p:nvSpPr>
        <p:spPr>
          <a:xfrm>
            <a:off x="640080" y="2724912"/>
            <a:ext cx="329184" cy="329184"/>
          </a:xfrm>
          <a:prstGeom prst="ellipse">
            <a:avLst/>
          </a:prstGeom>
          <a:solidFill>
            <a:srgbClr val="E29578"/>
          </a:solidFill>
          <a:ln w="12700">
            <a:solidFill>
              <a:srgbClr val="E29578"/>
            </a:solidFill>
            <a:prstDash val="solid"/>
          </a:ln>
        </p:spPr>
      </p:sp>
      <p:sp>
        <p:nvSpPr>
          <p:cNvPr id="12" name="Text 10"/>
          <p:cNvSpPr/>
          <p:nvPr/>
        </p:nvSpPr>
        <p:spPr>
          <a:xfrm>
            <a:off x="640080" y="2724912"/>
            <a:ext cx="329184" cy="329184"/>
          </a:xfrm>
          <a:prstGeom prst="rect">
            <a:avLst/>
          </a:prstGeom>
          <a:noFill/>
          <a:ln/>
        </p:spPr>
        <p:txBody>
          <a:bodyPr wrap="square" lIns="0" tIns="0" rIns="0" bIns="0" rtlCol="0" anchor="ctr"/>
          <a:lstStyle/>
          <a:p>
            <a:pPr algn="ctr" indent="0" marL="0">
              <a:buNone/>
            </a:pPr>
            <a:r>
              <a:rPr lang="en-US" sz="1200" dirty="0">
                <a:solidFill>
                  <a:srgbClr val="006D77"/>
                </a:solidFill>
                <a:latin typeface="Calibri" pitchFamily="34" charset="0"/>
                <a:ea typeface="Calibri" pitchFamily="34" charset="-122"/>
                <a:cs typeface="Calibri" pitchFamily="34" charset="-120"/>
              </a:rPr>
              <a:t>2</a:t>
            </a:r>
            <a:endParaRPr lang="en-US" sz="1200" dirty="0"/>
          </a:p>
        </p:txBody>
      </p:sp>
      <p:sp>
        <p:nvSpPr>
          <p:cNvPr id="13" name="Text 11"/>
          <p:cNvSpPr/>
          <p:nvPr/>
        </p:nvSpPr>
        <p:spPr>
          <a:xfrm>
            <a:off x="1097280" y="2615184"/>
            <a:ext cx="7443216" cy="411480"/>
          </a:xfrm>
          <a:prstGeom prst="rect">
            <a:avLst/>
          </a:prstGeom>
          <a:noFill/>
          <a:ln/>
        </p:spPr>
        <p:txBody>
          <a:bodyPr wrap="square" lIns="0" tIns="0" rIns="0" bIns="0" rtlCol="0" anchor="ctr"/>
          <a:lstStyle/>
          <a:p>
            <a:pPr algn="l" indent="0" marL="0">
              <a:buNone/>
            </a:pPr>
            <a:r>
              <a:rPr lang="en-US" sz="1200" dirty="0">
                <a:solidFill>
                  <a:srgbClr val="006D77"/>
                </a:solidFill>
                <a:latin typeface="Calibri" pitchFamily="34" charset="0"/>
                <a:ea typeface="Calibri" pitchFamily="34" charset="-122"/>
                <a:cs typeface="Calibri" pitchFamily="34" charset="-120"/>
              </a:rPr>
              <a:t>The model proposes, the harness executes, and the harness owns context, permissions and memory.</a:t>
            </a:r>
            <a:endParaRPr lang="en-US" sz="1200" dirty="0"/>
          </a:p>
        </p:txBody>
      </p:sp>
      <p:sp>
        <p:nvSpPr>
          <p:cNvPr id="14" name="Shape 12"/>
          <p:cNvSpPr/>
          <p:nvPr/>
        </p:nvSpPr>
        <p:spPr>
          <a:xfrm>
            <a:off x="457200" y="3429000"/>
            <a:ext cx="8229600" cy="868680"/>
          </a:xfrm>
          <a:prstGeom prst="rect">
            <a:avLst/>
          </a:prstGeom>
          <a:solidFill>
            <a:srgbClr val="EDF6F9"/>
          </a:solidFill>
          <a:ln w="9525">
            <a:solidFill>
              <a:srgbClr val="83C5BE"/>
            </a:solidFill>
            <a:prstDash val="solid"/>
          </a:ln>
          <a:effectLst>
            <a:outerShdw sx="100000" sy="100000" kx="0" ky="0" algn="bl" rotWithShape="0" blurRad="101600" dist="25400" dir="5400000">
              <a:srgbClr val="006d77">
                <a:alpha val="12000"/>
              </a:srgbClr>
            </a:outerShdw>
          </a:effectLst>
        </p:spPr>
      </p:sp>
      <p:sp>
        <p:nvSpPr>
          <p:cNvPr id="15" name="Shape 13"/>
          <p:cNvSpPr/>
          <p:nvPr/>
        </p:nvSpPr>
        <p:spPr>
          <a:xfrm>
            <a:off x="457200" y="3429000"/>
            <a:ext cx="50292" cy="868680"/>
          </a:xfrm>
          <a:prstGeom prst="rect">
            <a:avLst/>
          </a:prstGeom>
          <a:solidFill>
            <a:srgbClr val="E29578"/>
          </a:solidFill>
          <a:ln w="12700">
            <a:solidFill>
              <a:srgbClr val="E29578"/>
            </a:solidFill>
            <a:prstDash val="solid"/>
          </a:ln>
        </p:spPr>
      </p:sp>
      <p:sp>
        <p:nvSpPr>
          <p:cNvPr id="16" name="Shape 14"/>
          <p:cNvSpPr/>
          <p:nvPr/>
        </p:nvSpPr>
        <p:spPr>
          <a:xfrm>
            <a:off x="640080" y="3776472"/>
            <a:ext cx="329184" cy="329184"/>
          </a:xfrm>
          <a:prstGeom prst="ellipse">
            <a:avLst/>
          </a:prstGeom>
          <a:solidFill>
            <a:srgbClr val="E29578"/>
          </a:solidFill>
          <a:ln w="12700">
            <a:solidFill>
              <a:srgbClr val="E29578"/>
            </a:solidFill>
            <a:prstDash val="solid"/>
          </a:ln>
        </p:spPr>
      </p:sp>
      <p:sp>
        <p:nvSpPr>
          <p:cNvPr id="17" name="Text 15"/>
          <p:cNvSpPr/>
          <p:nvPr/>
        </p:nvSpPr>
        <p:spPr>
          <a:xfrm>
            <a:off x="640080" y="3776472"/>
            <a:ext cx="329184" cy="329184"/>
          </a:xfrm>
          <a:prstGeom prst="rect">
            <a:avLst/>
          </a:prstGeom>
          <a:noFill/>
          <a:ln/>
        </p:spPr>
        <p:txBody>
          <a:bodyPr wrap="square" lIns="0" tIns="0" rIns="0" bIns="0" rtlCol="0" anchor="ctr"/>
          <a:lstStyle/>
          <a:p>
            <a:pPr algn="ctr" indent="0" marL="0">
              <a:buNone/>
            </a:pPr>
            <a:r>
              <a:rPr lang="en-US" sz="1200" dirty="0">
                <a:solidFill>
                  <a:srgbClr val="006D77"/>
                </a:solidFill>
                <a:latin typeface="Calibri" pitchFamily="34" charset="0"/>
                <a:ea typeface="Calibri" pitchFamily="34" charset="-122"/>
                <a:cs typeface="Calibri" pitchFamily="34" charset="-120"/>
              </a:rPr>
              <a:t>3</a:t>
            </a:r>
            <a:endParaRPr lang="en-US" sz="1200" dirty="0"/>
          </a:p>
        </p:txBody>
      </p:sp>
      <p:sp>
        <p:nvSpPr>
          <p:cNvPr id="18" name="Text 16"/>
          <p:cNvSpPr/>
          <p:nvPr/>
        </p:nvSpPr>
        <p:spPr>
          <a:xfrm>
            <a:off x="1097280" y="3666744"/>
            <a:ext cx="7443216" cy="411480"/>
          </a:xfrm>
          <a:prstGeom prst="rect">
            <a:avLst/>
          </a:prstGeom>
          <a:noFill/>
          <a:ln/>
        </p:spPr>
        <p:txBody>
          <a:bodyPr wrap="square" lIns="0" tIns="0" rIns="0" bIns="0" rtlCol="0" anchor="ctr"/>
          <a:lstStyle/>
          <a:p>
            <a:pPr algn="l" indent="0" marL="0">
              <a:buNone/>
            </a:pPr>
            <a:r>
              <a:rPr lang="en-US" sz="1200" dirty="0">
                <a:solidFill>
                  <a:srgbClr val="006D77"/>
                </a:solidFill>
                <a:latin typeface="Calibri" pitchFamily="34" charset="0"/>
                <a:ea typeface="Calibri" pitchFamily="34" charset="-122"/>
                <a:cs typeface="Calibri" pitchFamily="34" charset="-120"/>
              </a:rPr>
              <a:t>Skill, MCP, Hook and Plugin solve four different problems and must not be confused. Memory is rented context: write only what you want re-read forever.</a:t>
            </a:r>
            <a:endParaRPr lang="en-US" sz="1200" dirty="0"/>
          </a:p>
        </p:txBody>
      </p:sp>
      <p:sp>
        <p:nvSpPr>
          <p:cNvPr id="19" name="Shape 17"/>
          <p:cNvSpPr/>
          <p:nvPr/>
        </p:nvSpPr>
        <p:spPr>
          <a:xfrm>
            <a:off x="8485632" y="4645152"/>
            <a:ext cx="420624" cy="274320"/>
          </a:xfrm>
          <a:prstGeom prst="roundRect">
            <a:avLst>
              <a:gd name="adj" fmla="val 26667"/>
            </a:avLst>
          </a:prstGeom>
          <a:solidFill>
            <a:srgbClr val="006D77"/>
          </a:solidFill>
          <a:ln w="12700">
            <a:solidFill>
              <a:srgbClr val="006D77"/>
            </a:solidFill>
            <a:prstDash val="solid"/>
          </a:ln>
        </p:spPr>
      </p:sp>
      <p:sp>
        <p:nvSpPr>
          <p:cNvPr id="20" name="Text 18"/>
          <p:cNvSpPr/>
          <p:nvPr/>
        </p:nvSpPr>
        <p:spPr>
          <a:xfrm>
            <a:off x="8485632" y="4645152"/>
            <a:ext cx="420624" cy="274320"/>
          </a:xfrm>
          <a:prstGeom prst="rect">
            <a:avLst/>
          </a:prstGeom>
          <a:noFill/>
          <a:ln/>
        </p:spPr>
        <p:txBody>
          <a:bodyPr wrap="square" lIns="0" tIns="0" rIns="0" bIns="0" rtlCol="0" anchor="ctr"/>
          <a:lstStyle/>
          <a:p>
            <a:pPr algn="ctr" indent="0" marL="0">
              <a:buNone/>
            </a:pPr>
            <a:r>
              <a:rPr lang="en-US" sz="1100" dirty="0">
                <a:solidFill>
                  <a:srgbClr val="EDF6F9"/>
                </a:solidFill>
                <a:latin typeface="Calibri" pitchFamily="34" charset="0"/>
                <a:ea typeface="Calibri" pitchFamily="34" charset="-122"/>
                <a:cs typeface="Calibri" pitchFamily="34" charset="-120"/>
              </a:rPr>
              <a:t>13</a:t>
            </a:r>
            <a:endParaRPr lang="en-US" sz="1100" dirty="0"/>
          </a:p>
        </p:txBody>
      </p:sp>
      <p:sp>
        <p:nvSpPr>
          <p:cNvPr id="21" name="Shape 19"/>
          <p:cNvSpPr/>
          <p:nvPr/>
        </p:nvSpPr>
        <p:spPr>
          <a:xfrm>
            <a:off x="457200" y="4754880"/>
            <a:ext cx="7772400" cy="10973"/>
          </a:xfrm>
          <a:prstGeom prst="rect">
            <a:avLst/>
          </a:prstGeom>
          <a:solidFill>
            <a:srgbClr val="83C5BE"/>
          </a:solidFill>
          <a:ln w="12700">
            <a:solidFill>
              <a:srgbClr val="83C5BE"/>
            </a:solidFill>
            <a:prstDash val="solid"/>
          </a:ln>
        </p:spPr>
      </p:sp>
      <p:sp>
        <p:nvSpPr>
          <p:cNvPr id="22" name="Text 20"/>
          <p:cNvSpPr/>
          <p:nvPr/>
        </p:nvSpPr>
        <p:spPr>
          <a:xfrm>
            <a:off x="457200" y="4773168"/>
            <a:ext cx="7772400" cy="219456"/>
          </a:xfrm>
          <a:prstGeom prst="rect">
            <a:avLst/>
          </a:prstGeom>
          <a:noFill/>
          <a:ln/>
        </p:spPr>
        <p:txBody>
          <a:bodyPr wrap="square" lIns="0" tIns="0" rIns="0" bIns="0" rtlCol="0" anchor="ctr"/>
          <a:lstStyle/>
          <a:p>
            <a:pPr algn="l" indent="0" marL="0">
              <a:buNone/>
            </a:pPr>
            <a:r>
              <a:rPr lang="en-US" sz="900" dirty="0">
                <a:solidFill>
                  <a:srgbClr val="006D77">
                    <a:alpha val="55000"/>
                  </a:srgbClr>
                </a:solidFill>
                <a:latin typeface="Calibri" pitchFamily="34" charset="0"/>
                <a:ea typeface="Calibri" pitchFamily="34" charset="-122"/>
                <a:cs typeface="Calibri" pitchFamily="34" charset="-120"/>
              </a:rPr>
              <a:t>Source: https://cs2680.seas.harvard.edu/slides/2_agent_use_1.pdf</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Derived from the public CS2680 course site, Harvard SEAS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lecture-02-agent-use-1</dc:title>
  <dc:subject>CS2680 Modern AI Systems: Agents and System Optimizations</dc:subject>
  <dc:creator>CS2680 Courseware (personal study mirror)</dc:creator>
  <cp:lastModifiedBy>CS2680 Courseware (personal study mirror)</cp:lastModifiedBy>
  <cp:revision>1</cp:revision>
  <dcterms:created xsi:type="dcterms:W3CDTF">2026-10-19T17:39:52Z</dcterms:created>
  <dcterms:modified xsi:type="dcterms:W3CDTF">2026-10-19T17:39:52Z</dcterms:modified>
</cp:coreProperties>
</file>