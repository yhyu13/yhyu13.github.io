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0"/>
            <a:ext cx="3383280" cy="51435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09360" y="2560320"/>
            <a:ext cx="457200" cy="73152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148840"/>
            <a:ext cx="457200" cy="114300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0" y="1691640"/>
            <a:ext cx="457200" cy="160020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0" y="1234440"/>
            <a:ext cx="457200" cy="2057400"/>
          </a:xfrm>
          <a:prstGeom prst="rect">
            <a:avLst/>
          </a:prstGeom>
          <a:solidFill>
            <a:srgbClr val="FFDDD2"/>
          </a:solidFill>
          <a:ln w="12700">
            <a:solidFill>
              <a:srgbClr val="FF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0" y="3474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and what it buys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1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CS2680 / Harvard SEAS / Juncheng Yang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agent design I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and performance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8640" y="3017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8  .  2026-10-07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3649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deck: course/site/slides/8_agent_design_5.pdf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https://cs2680.seas.harvard.edu/slides/8_agent_design_5.pdf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LEVER LATER IN THIS DECK MOVES EXACTLY ONE FACTOR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Cost, decomposed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402336"/>
          </a:xfrm>
          <a:prstGeom prst="rect">
            <a:avLst/>
          </a:prstGeom>
          <a:solidFill>
            <a:srgbClr val="FFDDD2"/>
          </a:solidFill>
          <a:ln w="9525">
            <a:solidFill>
              <a:srgbClr val="E295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= Users x Sessions/User x Turns/Session x Steps/Turn x Tokens/Step x Price/Token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19072"/>
            <a:ext cx="1280160" cy="731520"/>
          </a:xfrm>
          <a:prstGeom prst="rect">
            <a:avLst/>
          </a:prstGeom>
          <a:solidFill>
            <a:srgbClr val="83C5BE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7739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12064" y="210312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with adoption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47088" y="1719072"/>
            <a:ext cx="1280160" cy="731520"/>
          </a:xfrm>
          <a:prstGeom prst="rect">
            <a:avLst/>
          </a:prstGeom>
          <a:solidFill>
            <a:srgbClr val="83C5BE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01952" y="17739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Sessions / User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901952" y="210312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with adoption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36976" y="1719072"/>
            <a:ext cx="1280160" cy="731520"/>
          </a:xfrm>
          <a:prstGeom prst="rect">
            <a:avLst/>
          </a:prstGeom>
          <a:solidFill>
            <a:srgbClr val="E29578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7739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Turns / Session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91840" y="210312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yours to shrink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1719072"/>
            <a:ext cx="1280160" cy="731520"/>
          </a:xfrm>
          <a:prstGeom prst="rect">
            <a:avLst/>
          </a:prstGeom>
          <a:solidFill>
            <a:srgbClr val="E29578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17739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Steps / Turn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81728" y="210312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yours to shrink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16752" y="1719072"/>
            <a:ext cx="1280160" cy="731520"/>
          </a:xfrm>
          <a:prstGeom prst="rect">
            <a:avLst/>
          </a:prstGeom>
          <a:solidFill>
            <a:srgbClr val="E29578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71616" y="17739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Tokens / Step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071616" y="210312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yours to shrink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406640" y="1719072"/>
            <a:ext cx="1280160" cy="731520"/>
          </a:xfrm>
          <a:prstGeom prst="rect">
            <a:avLst/>
          </a:prstGeom>
          <a:solidFill>
            <a:srgbClr val="E29578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61504" y="17739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 / Token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461504" y="210312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yours to shrink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2651760"/>
            <a:ext cx="1920240" cy="137160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2706624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Sessions / User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" y="2962656"/>
            <a:ext cx="17007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Single-prompt sessions: 68% (Assignment 1), 75% (Assignment 2). Marathons run 100+ turns.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560320" y="2651760"/>
            <a:ext cx="1920240" cy="137160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70048" y="2706624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Steps / Turn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670048" y="2962656"/>
            <a:ext cx="17007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3 (Assignment 1), 4 (Assignment 2). Some turns run almost 1,000 steps, mostly because effort is set to medium or high.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63440" y="2651760"/>
            <a:ext cx="1920240" cy="137160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2706624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Tokens / Step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73168" y="2962656"/>
            <a:ext cx="17007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agent median 208K (A1), 301K (A2); p90 600K-700K. Subagent median ~80K, p90 ~200K.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766560" y="2651760"/>
            <a:ext cx="1920240" cy="137160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76288" y="2706624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growth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76288" y="2962656"/>
            <a:ext cx="17007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at step ~500: 670K (Assignment 1), 650K (Assignment 2).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57200" y="41696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and engagement grow the first two factors. The agent trajectory and the unit price are the ones you can shrink.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https://cs2680.seas.harvard.edu/slides/8_agent_design_5.pdf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K RE-READS TURNS 1..K-1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Turns cost quadratically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25296"/>
            <a:ext cx="3977640" cy="292608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25296"/>
            <a:ext cx="50292" cy="292608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each turn carries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17373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737360" y="17373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re-read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" y="21488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645920" y="2176272"/>
            <a:ext cx="237744" cy="201168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5603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3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645920" y="2587752"/>
            <a:ext cx="237744" cy="201168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56816" y="2587752"/>
            <a:ext cx="237744" cy="201168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971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645920" y="2999232"/>
            <a:ext cx="237744" cy="201168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56816" y="2999232"/>
            <a:ext cx="237744" cy="201168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7712" y="2999232"/>
            <a:ext cx="237744" cy="201168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70048" y="29718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k-1 turns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401568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grows with the square of the turn count.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1225296"/>
            <a:ext cx="3977640" cy="292608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225296"/>
            <a:ext cx="50292" cy="292608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371600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levers on turns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92040" y="1810512"/>
            <a:ext cx="310896" cy="310896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F6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30952" y="1773936"/>
            <a:ext cx="3209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Front-load planning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92040" y="2359152"/>
            <a:ext cx="310896" cy="310896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F6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30952" y="2322576"/>
            <a:ext cx="3209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task decomposition, with a done check per subtask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92040" y="2907792"/>
            <a:ext cx="310896" cy="310896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907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F6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30952" y="2871216"/>
            <a:ext cx="3209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Self-verification before handoff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92040" y="3383280"/>
            <a:ext cx="3648456" cy="548640"/>
          </a:xfrm>
          <a:prstGeom prst="rect">
            <a:avLst/>
          </a:prstGeom>
          <a:solidFill>
            <a:srgbClr val="FFDDD2"/>
          </a:solidFill>
          <a:ln w="9525">
            <a:solidFill>
              <a:srgbClr val="E2957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0056" y="3383280"/>
            <a:ext cx="3392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goal: finish autonomously, with no user check-ins.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2611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user turn expands into many steps, and every later turn pays for the earlier ones again.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https://cs2680.seas.harvard.edu/slides/8_agent_design_5.pdf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MODEL CALLS, FEWER RE-READS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Steps: batch instead of one call per action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201168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0292" cy="201168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371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call per action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148840" y="1353312"/>
            <a:ext cx="640080" cy="384048"/>
          </a:xfrm>
          <a:prstGeom prst="rect">
            <a:avLst/>
          </a:prstGeom>
          <a:solidFill>
            <a:srgbClr val="83C5BE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48840" y="135331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98064" y="1453896"/>
            <a:ext cx="73152" cy="182880"/>
          </a:xfrm>
          <a:prstGeom prst="rightArrow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80360" y="1353312"/>
            <a:ext cx="640080" cy="384048"/>
          </a:xfrm>
          <a:prstGeom prst="rect">
            <a:avLst/>
          </a:prstGeom>
          <a:solidFill>
            <a:srgbClr val="83C5BE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0360" y="135331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529584" y="1453896"/>
            <a:ext cx="73152" cy="182880"/>
          </a:xfrm>
          <a:prstGeom prst="rightArrow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11880" y="1353312"/>
            <a:ext cx="640080" cy="384048"/>
          </a:xfrm>
          <a:prstGeom prst="rect">
            <a:avLst/>
          </a:prstGeom>
          <a:solidFill>
            <a:srgbClr val="83C5BE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135331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61104" y="1453896"/>
            <a:ext cx="73152" cy="182880"/>
          </a:xfrm>
          <a:prstGeom prst="rightArrow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1353312"/>
            <a:ext cx="640080" cy="384048"/>
          </a:xfrm>
          <a:prstGeom prst="rect">
            <a:avLst/>
          </a:prstGeom>
          <a:solidFill>
            <a:srgbClr val="83C5BE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43400" y="135331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20640" y="135331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 calls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" y="2103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Plan-then-batch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148840" y="2093976"/>
            <a:ext cx="640080" cy="384048"/>
          </a:xfrm>
          <a:prstGeom prst="rect">
            <a:avLst/>
          </a:prstGeom>
          <a:solidFill>
            <a:srgbClr val="83C5BE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48840" y="209397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880360" y="2093976"/>
            <a:ext cx="640080" cy="384048"/>
          </a:xfrm>
          <a:prstGeom prst="rect">
            <a:avLst/>
          </a:prstGeom>
          <a:solidFill>
            <a:srgbClr val="83C5BE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80360" y="209397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584448" y="2194560"/>
            <a:ext cx="182880" cy="182880"/>
          </a:xfrm>
          <a:prstGeom prst="rightArrow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0" y="1783080"/>
            <a:ext cx="640080" cy="237744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0" y="178308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840480" y="2075688"/>
            <a:ext cx="640080" cy="237744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0" y="207568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840480" y="2368296"/>
            <a:ext cx="640080" cy="237744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0" y="236829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663440" y="209397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model calls, 3 tools in parallel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337560"/>
            <a:ext cx="2651760" cy="594360"/>
          </a:xfrm>
          <a:prstGeom prst="rect">
            <a:avLst/>
          </a:prstGeom>
          <a:solidFill>
            <a:srgbClr val="FFDDD2"/>
          </a:solidFill>
          <a:ln w="9525">
            <a:solidFill>
              <a:srgbClr val="E2957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5216" y="3337560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independent calls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46120" y="3337560"/>
            <a:ext cx="2651760" cy="594360"/>
          </a:xfrm>
          <a:prstGeom prst="rect">
            <a:avLst/>
          </a:prstGeom>
          <a:solidFill>
            <a:srgbClr val="FFDDD2"/>
          </a:solidFill>
          <a:ln w="9525">
            <a:solidFill>
              <a:srgbClr val="E2957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74136" y="3337560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plans and skills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035040" y="3337560"/>
            <a:ext cx="2651760" cy="594360"/>
          </a:xfrm>
          <a:prstGeom prst="rect">
            <a:avLst/>
          </a:prstGeom>
          <a:solidFill>
            <a:srgbClr val="FFDDD2"/>
          </a:solidFill>
          <a:ln w="9525">
            <a:solidFill>
              <a:srgbClr val="E2957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63056" y="3337560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context up front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407822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call re-reads the full context, so fewer calls cost less. Batch independent calls, reuse plans and skills, and load context up front.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https://cs2680.seas.harvard.edu/slides/8_agent_design_5.pdf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HALVES OF THE TOKEN BILL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Tokens: shrink what enters, reduce what comes out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301752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0292" cy="30175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35024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Shrink what enters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700784"/>
            <a:ext cx="364845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stale results</a:t>
            </a:r>
            <a:endParaRPr lang="en-US" sz="1100" dirty="0"/>
          </a:p>
          <a:p>
            <a:pPr algn="l"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history into state</a:t>
            </a:r>
            <a:endParaRPr lang="en-US" sz="1100" dirty="0"/>
          </a:p>
          <a:p>
            <a:pPr algn="l"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observations, keeping errors rather than full logs</a:t>
            </a:r>
            <a:endParaRPr lang="en-US" sz="1100" dirty="0"/>
          </a:p>
          <a:p>
            <a:pPr algn="l"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Offload big outputs to files</a:t>
            </a:r>
            <a:endParaRPr lang="en-US" sz="1100" dirty="0"/>
          </a:p>
          <a:p>
            <a:pPr algn="l"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selectively</a:t>
            </a:r>
            <a:endParaRPr lang="en-US" sz="1100" dirty="0"/>
          </a:p>
          <a:p>
            <a:pPr algn="l"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exploration in a sub-agent that returns a summary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188720"/>
            <a:ext cx="3977640" cy="301752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88720"/>
            <a:ext cx="50292" cy="30175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335024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Reduce output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1700784"/>
            <a:ext cx="36484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Prompt-level constraints</a:t>
            </a:r>
            <a:endParaRPr lang="en-US" sz="1100" dirty="0"/>
          </a:p>
          <a:p>
            <a:pPr algn="l"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Output-token caps</a:t>
            </a:r>
            <a:endParaRPr lang="en-US" sz="1100" dirty="0"/>
          </a:p>
          <a:p>
            <a:pPr algn="l"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schemas</a:t>
            </a:r>
            <a:endParaRPr lang="en-US" sz="1100" dirty="0"/>
          </a:p>
          <a:p>
            <a:pPr algn="l"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reasoning effort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92040" y="2798064"/>
            <a:ext cx="3648456" cy="1133856"/>
          </a:xfrm>
          <a:prstGeom prst="rect">
            <a:avLst/>
          </a:prstGeom>
          <a:solidFill>
            <a:srgbClr val="FFDDD2"/>
          </a:solidFill>
          <a:ln w="9525">
            <a:solidFill>
              <a:srgbClr val="E295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0056" y="2834640"/>
            <a:ext cx="339242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reasoning effort: a lookup runs at effort="low", a debug runs at effort="high". Set it per call or per step, as a reasoning effort or a thinking-token budget.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297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constraints: "Answer in &lt;= 100 words."  "Return only JSON."  "One sentence. Top 3 items." Caps are max_tokens=300 / max_output_tokens=300, but reasoning can use up the cap.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https://cs2680.seas.harvard.edu/slides/8_agent_design_5.pdf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AND PRICE POINT IN OPPOSITE DIRECTIONS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token bill is cache-dominated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566928"/>
          </a:xfrm>
          <a:prstGeom prst="rect">
            <a:avLst/>
          </a:prstGeom>
          <a:solidFill>
            <a:srgbClr val="E29578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188720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reads - the largest volume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127248" y="1344168"/>
            <a:ext cx="100584" cy="256032"/>
          </a:xfrm>
          <a:prstGeom prst="rightArrow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46120" y="1188720"/>
            <a:ext cx="2651760" cy="566928"/>
          </a:xfrm>
          <a:prstGeom prst="rect">
            <a:avLst/>
          </a:prstGeom>
          <a:solidFill>
            <a:srgbClr val="83C5BE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55848" y="1188720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prefill - 100x smaller than cache reads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16168" y="1344168"/>
            <a:ext cx="100584" cy="256032"/>
          </a:xfrm>
          <a:prstGeom prst="rightArrow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1188720"/>
            <a:ext cx="2651760" cy="566928"/>
          </a:xfrm>
          <a:prstGeom prst="rect">
            <a:avLst/>
          </a:prstGeom>
          <a:solidFill>
            <a:srgbClr val="83C5BE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44768" y="1188720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- 5x smaller than fresh prefill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90195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 ratio: cache read : input : output = 1 : 10 : 50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2128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read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737360" y="2212848"/>
            <a:ext cx="2743200" cy="27432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37360" y="2212848"/>
            <a:ext cx="54864" cy="27432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22128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578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737360" y="2578608"/>
            <a:ext cx="2743200" cy="27432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37360" y="2578608"/>
            <a:ext cx="548640" cy="27432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2578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9443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737360" y="2944368"/>
            <a:ext cx="2743200" cy="27432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37360" y="2944368"/>
            <a:ext cx="2743200" cy="2743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29443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34670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token is the cheapest one: a cache read costs 1 against 10 for input and 50 for output.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12080" y="1847088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97.6%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5212080" y="2505456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tokens in the measured usage were cache reads (Assignment 1)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212080" y="3072384"/>
            <a:ext cx="3474720" cy="731520"/>
          </a:xfrm>
          <a:prstGeom prst="rect">
            <a:avLst/>
          </a:prstGeom>
          <a:solidFill>
            <a:srgbClr val="FFDDD2"/>
          </a:solidFill>
          <a:ln w="9525">
            <a:solidFill>
              <a:srgbClr val="E2957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40096" y="3108960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that stay in context are paid for again on every later step.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212080" y="3877056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(advanced slides): code execution with MCP (2025) moves 150K tokens to 2K; Tool Search (2025) cuts tool tokens by 85%; programmatic tool calling cuts them by 37%.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https://cs2680.seas.harvard.edu/slides/8_agent_design_5.pdf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AND BATCHING, ROUTING, AND SYSTEM LEVERS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Price: three shapes of reduction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301752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0292" cy="30175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35024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Caching and batching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stable prefixes, and batch what can wait.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12140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+ cached input</a:t>
            </a:r>
            <a:pPr algn="l" indent="0" marL="0">
              <a:buNone/>
            </a:pPr>
            <a:r>
              <a:rPr lang="en-US" sz="10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0.05x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4140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input</a:t>
            </a:r>
            <a:pPr algn="l" indent="0" marL="0">
              <a:buNone/>
            </a:pPr>
            <a:r>
              <a:rPr lang="en-US" sz="10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0.1x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706624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input</a:t>
            </a:r>
            <a:pPr algn="l" indent="0" marL="0">
              <a:buNone/>
            </a:pPr>
            <a:r>
              <a:rPr lang="en-US" sz="10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0.5x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999232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input token</a:t>
            </a:r>
            <a:pPr algn="l" indent="0" marL="0">
              <a:buNone/>
            </a:pPr>
            <a:r>
              <a:rPr lang="en-US" sz="10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1x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29184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token</a:t>
            </a:r>
            <a:pPr algn="l" indent="0" marL="0">
              <a:buNone/>
            </a:pPr>
            <a:r>
              <a:rPr lang="en-US" sz="10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5x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602736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per token on the Claude API.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46120" y="1188720"/>
            <a:ext cx="2651760" cy="301752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188720"/>
            <a:ext cx="50292" cy="30175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1335024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routing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1700784"/>
            <a:ext cx="23225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model up front</a:t>
            </a:r>
            <a:endParaRPr lang="en-US" sz="110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on failure</a:t>
            </a:r>
            <a:endParaRPr lang="en-US" sz="110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Re-route each step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9000" y="2980944"/>
            <a:ext cx="23225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work: RouteLLM (2024) learned router; FrugalGPT (2023) learned cascade; AutoMix (2023) self-verification; EcoAssistant (2023) execution feedback; ToolOrchestra (2025) small orchestrator; BAAR and MTRouter (2026) budget-aware.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035040" y="1188720"/>
            <a:ext cx="2651760" cy="301752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1188720"/>
            <a:ext cx="50292" cy="30175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335024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Later-lecture system levers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0" y="1700784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295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optimization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17920" y="1920240"/>
            <a:ext cx="23225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/ sparsity, quantization, pruning, distillation, workload-targeted fine-tuning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17920" y="2569464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295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Serving engine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17920" y="2788920"/>
            <a:ext cx="23225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speculative decoding, KV-cache optimization, better request scheduling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17920" y="3438144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295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Hardware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17920" y="3657600"/>
            <a:ext cx="23225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kernels, better kernel scheduling, specialized accelerators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cost technique also cuts latency: the same lever is usually a latency lever too.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https://cs2680.seas.harvard.edu/slides/8_agent_design_5.pdf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SAVING IS WHAT YOU CAN CLAIM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saving has a counter-cost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saving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663440" y="118872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counter-cost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566160" cy="566928"/>
          </a:xfrm>
          <a:prstGeom prst="rect">
            <a:avLst/>
          </a:prstGeom>
          <a:solidFill>
            <a:srgbClr val="FFDDD2"/>
          </a:solidFill>
          <a:ln w="9525">
            <a:solidFill>
              <a:srgbClr val="E295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463040"/>
            <a:ext cx="3273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Compaction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0" y="1609344"/>
            <a:ext cx="457200" cy="274320"/>
          </a:xfrm>
          <a:prstGeom prst="rightArrow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463040"/>
            <a:ext cx="4023360" cy="566928"/>
          </a:xfrm>
          <a:prstGeom prst="rect">
            <a:avLst/>
          </a:prstGeom>
          <a:solidFill>
            <a:srgbClr val="83C5BE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9744" y="1463040"/>
            <a:ext cx="3730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Reconstruction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121408"/>
            <a:ext cx="3566160" cy="566928"/>
          </a:xfrm>
          <a:prstGeom prst="rect">
            <a:avLst/>
          </a:prstGeom>
          <a:solidFill>
            <a:srgbClr val="FFDDD2"/>
          </a:solidFill>
          <a:ln w="9525">
            <a:solidFill>
              <a:srgbClr val="E295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" y="2121408"/>
            <a:ext cx="3273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114800" y="2267712"/>
            <a:ext cx="457200" cy="274320"/>
          </a:xfrm>
          <a:prstGeom prst="rightArrow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2121408"/>
            <a:ext cx="4023360" cy="566928"/>
          </a:xfrm>
          <a:prstGeom prst="rect">
            <a:avLst/>
          </a:prstGeom>
          <a:solidFill>
            <a:srgbClr val="83C5BE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9744" y="2121408"/>
            <a:ext cx="3730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Longer failures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2779776"/>
            <a:ext cx="3566160" cy="566928"/>
          </a:xfrm>
          <a:prstGeom prst="rect">
            <a:avLst/>
          </a:prstGeom>
          <a:solidFill>
            <a:srgbClr val="FFDDD2"/>
          </a:solidFill>
          <a:ln w="9525">
            <a:solidFill>
              <a:srgbClr val="E295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" y="2779776"/>
            <a:ext cx="3273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Subagents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114800" y="2926080"/>
            <a:ext cx="457200" cy="274320"/>
          </a:xfrm>
          <a:prstGeom prst="rightArrow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779776"/>
            <a:ext cx="4023360" cy="566928"/>
          </a:xfrm>
          <a:prstGeom prst="rect">
            <a:avLst/>
          </a:prstGeom>
          <a:solidFill>
            <a:srgbClr val="83C5BE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9744" y="2779776"/>
            <a:ext cx="3730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Duplicated context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3438144"/>
            <a:ext cx="3566160" cy="566928"/>
          </a:xfrm>
          <a:prstGeom prst="rect">
            <a:avLst/>
          </a:prstGeom>
          <a:solidFill>
            <a:srgbClr val="FFDDD2"/>
          </a:solidFill>
          <a:ln w="9525">
            <a:solidFill>
              <a:srgbClr val="E295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" y="3438144"/>
            <a:ext cx="3273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Speculation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114800" y="3584448"/>
            <a:ext cx="457200" cy="274320"/>
          </a:xfrm>
          <a:prstGeom prst="rightArrow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3438144"/>
            <a:ext cx="4023360" cy="566928"/>
          </a:xfrm>
          <a:prstGeom prst="rect">
            <a:avLst/>
          </a:prstGeom>
          <a:solidFill>
            <a:srgbClr val="83C5BE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9744" y="3438144"/>
            <a:ext cx="3730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Wasted work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solidFill>
            <a:srgbClr val="FFDDD2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4114800"/>
            <a:ext cx="7900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 saving = gross saving - counter-cost. Measure both on the same tasks.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https://cs2680.seas.harvard.edu/slides/8_agent_design_5.pdf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HOW THE TASK GETS BOUNDED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you spend: does the step need reasoning?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301752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0292" cy="30175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35024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this before using an LLM at all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700784"/>
            <a:ext cx="292608" cy="292608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007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DF6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42416" y="1664208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steps every time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42416" y="188366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script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286000"/>
            <a:ext cx="292608" cy="292608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DF6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42416" y="224942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Fixed input format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42416" y="24688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with rules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871216"/>
            <a:ext cx="292608" cy="292608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871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DF6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42416" y="283464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Narrow label or score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42416" y="305409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small classifier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456432"/>
            <a:ext cx="292608" cy="292608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456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DF6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42416" y="3419856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Fixed workflow with little reasoning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42416" y="36393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the workflow, and call the LLM only at the steps that need it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1188720"/>
            <a:ext cx="3977640" cy="301752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1188720"/>
            <a:ext cx="50292" cy="30175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1335024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Bound the task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92040" y="1645920"/>
            <a:ext cx="3648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per-task budget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92040" y="1700784"/>
            <a:ext cx="1783080" cy="438912"/>
          </a:xfrm>
          <a:prstGeom prst="rect">
            <a:avLst/>
          </a:prstGeom>
          <a:solidFill>
            <a:srgbClr val="FFDDD2"/>
          </a:solidFill>
          <a:ln w="9525">
            <a:solidFill>
              <a:srgbClr val="E2957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1700784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757416" y="1700784"/>
            <a:ext cx="1783080" cy="438912"/>
          </a:xfrm>
          <a:prstGeom prst="rect">
            <a:avLst/>
          </a:prstGeom>
          <a:solidFill>
            <a:srgbClr val="FFDDD2"/>
          </a:solidFill>
          <a:ln w="9525">
            <a:solidFill>
              <a:srgbClr val="E2957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48856" y="1700784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 calls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92040" y="2212848"/>
            <a:ext cx="1783080" cy="438912"/>
          </a:xfrm>
          <a:prstGeom prst="rect">
            <a:avLst/>
          </a:prstGeom>
          <a:solidFill>
            <a:srgbClr val="FFDDD2"/>
          </a:solidFill>
          <a:ln w="9525">
            <a:solidFill>
              <a:srgbClr val="E2957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221284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min tool time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757416" y="2212848"/>
            <a:ext cx="1783080" cy="438912"/>
          </a:xfrm>
          <a:prstGeom prst="rect">
            <a:avLst/>
          </a:prstGeom>
          <a:solidFill>
            <a:srgbClr val="FFDDD2"/>
          </a:solidFill>
          <a:ln w="9525">
            <a:solidFill>
              <a:srgbClr val="E2957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8856" y="221284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retries per step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92040" y="2743200"/>
            <a:ext cx="3648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limits from traced runs, e.g. 2x the p95 of successful tasks.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92040" y="3035808"/>
            <a:ext cx="3648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 when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0056" y="327355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verifier passes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0056" y="347472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passing test appears in N steps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0056" y="367588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error repeats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20056" y="387705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limit hits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4279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hand off with a summary: a stopped task with a summary costs less than a runaway one.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https://cs2680.seas.harvard.edu/slides/8_agent_design_5.pdf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SUM OF EVERY STEP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Speed: completion time is the critical path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301752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0292" cy="30175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35024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Serial and parallel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5910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566928" cy="310896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828800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252728" y="1828800"/>
            <a:ext cx="566928" cy="310896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71016" y="1828800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65376" y="1828800"/>
            <a:ext cx="566928" cy="310896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83664" y="1828800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prefill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478024" y="1828800"/>
            <a:ext cx="566928" cy="310896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96312" y="1828800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090672" y="1828800"/>
            <a:ext cx="566928" cy="310896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0" y="1828800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703320" y="1828800"/>
            <a:ext cx="566928" cy="310896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21608" y="1828800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40080" y="2194560"/>
            <a:ext cx="3648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~= the sum of the steps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248716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2779776"/>
            <a:ext cx="566928" cy="310896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2779776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1298448" y="2688336"/>
            <a:ext cx="822960" cy="310896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98448" y="268833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A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298448" y="3054096"/>
            <a:ext cx="822960" cy="310896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98448" y="305409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B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212848" y="2779776"/>
            <a:ext cx="566928" cy="310896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31136" y="2779776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40080" y="3163824"/>
            <a:ext cx="3648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~= the critical path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" y="3456432"/>
            <a:ext cx="3648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can be slower: small models may take more steps, and parallelism costs more tokens for less waiting.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1188720"/>
            <a:ext cx="3977640" cy="301752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1188720"/>
            <a:ext cx="50292" cy="30175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1335024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speed levers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892040" y="1700784"/>
            <a:ext cx="128016" cy="566928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48072" y="1700784"/>
            <a:ext cx="3392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 up LLM serving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148072" y="1920240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cost technique also cuts latency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92040" y="2286000"/>
            <a:ext cx="128016" cy="566928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48072" y="2286000"/>
            <a:ext cx="3392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Improve orchestration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148072" y="2505456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execution, persistent sessions, stream and pipeline, colocate services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92040" y="2871216"/>
            <a:ext cx="128016" cy="566928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48072" y="2871216"/>
            <a:ext cx="3392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 up tool calls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148072" y="3090672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tool results, faster hardware, better tools, fail fast - measure tool time per step first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92040" y="3456432"/>
            <a:ext cx="128016" cy="566928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48072" y="3456432"/>
            <a:ext cx="3392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Parallelize work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148072" y="3675888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work, a third of the wait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is not just LLM latency: it is the critical path of the whole run.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https://cs2680.seas.harvard.edu/slides/8_agent_design_5.pdf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FOR THE WAIT, OR SPEND ONE WASTED CALL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Speculative actions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20240" cy="685800"/>
          </a:xfrm>
          <a:prstGeom prst="rect">
            <a:avLst/>
          </a:prstGeom>
          <a:solidFill>
            <a:srgbClr val="83C5BE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cheap model predicts the next action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386584" y="1408176"/>
            <a:ext cx="146304" cy="256032"/>
          </a:xfrm>
          <a:prstGeom prst="rightArrow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1188720"/>
            <a:ext cx="1920240" cy="685800"/>
          </a:xfrm>
          <a:prstGeom prst="rect">
            <a:avLst/>
          </a:prstGeom>
          <a:solidFill>
            <a:srgbClr val="83C5BE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11887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 early, while the main model still thinks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89704" y="1408176"/>
            <a:ext cx="146304" cy="256032"/>
          </a:xfrm>
          <a:prstGeom prst="rightArrow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188720"/>
            <a:ext cx="1920240" cy="685800"/>
          </a:xfrm>
          <a:prstGeom prst="rect">
            <a:avLst/>
          </a:prstGeom>
          <a:solidFill>
            <a:srgbClr val="83C5BE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1887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results are compared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592824" y="1408176"/>
            <a:ext cx="146304" cy="256032"/>
          </a:xfrm>
          <a:prstGeom prst="rightArrow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0" y="1188720"/>
            <a:ext cx="1920240" cy="685800"/>
          </a:xfrm>
          <a:prstGeom prst="rect">
            <a:avLst/>
          </a:prstGeom>
          <a:solidFill>
            <a:srgbClr val="E29578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11887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match skips the wait; a miss costs one wasted call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201168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can be speculated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267712"/>
            <a:ext cx="1280160" cy="45720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26771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intent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847088" y="2267712"/>
            <a:ext cx="1280160" cy="45720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92808" y="226771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 with arguments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36976" y="2267712"/>
            <a:ext cx="1280160" cy="45720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82696" y="226771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action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26864" y="2267712"/>
            <a:ext cx="1280160" cy="45720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72584" y="226771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016752" y="2267712"/>
            <a:ext cx="1280160" cy="45720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62472" y="226771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whole multi-step trajectory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2834640"/>
            <a:ext cx="3977640" cy="109728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834640"/>
            <a:ext cx="50292" cy="109728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2980944"/>
            <a:ext cx="3648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prediction comes from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68096" y="325526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68096" y="347472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early fork of the same model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68096" y="369417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traces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2834640"/>
            <a:ext cx="3977640" cy="109728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2834640"/>
            <a:ext cx="50292" cy="109728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2980944"/>
            <a:ext cx="3648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trade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892040" y="3236976"/>
            <a:ext cx="3648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pays off when guesses are often right and actions can be undone. It can be lossless (always verify) or lossy.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3639312"/>
            <a:ext cx="3648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SPORK example: think: 2,000 tokens ... early probe -&gt; search(q)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57200" y="40416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work: Speculative Actions (ICLR 2026), Speculative Tool Calls (arXiv 2025), SPAgent (arXiv 2025), PASTE (arXiv 2026), B-PASTE (arXiv 2026), SPORK (arXiv 2026), Speculate with Memory (arXiv 2026), Speculative Macro Commit (arXiv 2026).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https://cs2680.seas.harvard.edu/slides/8_agent_design_5.pdf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 MOVING OUT OF THE AGENT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harness architectures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256032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0292" cy="25603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35024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Monolithic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664208"/>
            <a:ext cx="23225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one runtime: the agent owns everything.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3090672"/>
            <a:ext cx="2322576" cy="384048"/>
          </a:xfrm>
          <a:prstGeom prst="rect">
            <a:avLst/>
          </a:prstGeom>
          <a:solidFill>
            <a:srgbClr val="FFDDD2"/>
          </a:solidFill>
          <a:ln w="9525">
            <a:solidFill>
              <a:srgbClr val="E295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309067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Fit: standalone agents.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1188720"/>
            <a:ext cx="2651760" cy="256032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188720"/>
            <a:ext cx="50292" cy="25603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335024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Modular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29000" y="1664208"/>
            <a:ext cx="23225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controller delegates through interfaces. Providers: RedisMemory, MCPTools, SlidingWindowContext, DockerSandbox (Docker -&gt; Firecracker swap).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29000" y="3090672"/>
            <a:ext cx="2322576" cy="384048"/>
          </a:xfrm>
          <a:prstGeom prst="rect">
            <a:avLst/>
          </a:prstGeom>
          <a:solidFill>
            <a:srgbClr val="FFDDD2"/>
          </a:solidFill>
          <a:ln w="9525">
            <a:solidFill>
              <a:srgbClr val="E295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38728" y="309067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Fit: swap the provider, not the agent.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1188720"/>
            <a:ext cx="2651760" cy="256032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188720"/>
            <a:ext cx="50292" cy="25603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335024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microkernel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17920" y="1664208"/>
            <a:ext cx="23225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runtime keeps only state, coordination, scheduling and security; external services supply memory, tools and execution.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3090672"/>
            <a:ext cx="2322576" cy="384048"/>
          </a:xfrm>
          <a:prstGeom prst="rect">
            <a:avLst/>
          </a:prstGeom>
          <a:solidFill>
            <a:srgbClr val="FFDDD2"/>
          </a:solidFill>
          <a:ln w="9525">
            <a:solidFill>
              <a:srgbClr val="E295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27648" y="309067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Fit: multi-agent infrastructure.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384048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Python snippet, three paths: monolithic executes locally, modular calls SandboxProvider.run(code), microkernel sends an execution request to an execution service that owns allocation, isolation and sandbox lifecycle.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26110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 is from code, to interfaces, to services - and the microkernel trades simplicity and low overhead for isolation, sharing and scale.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https://cs2680.seas.harvard.edu/slides/8_agent_design_5.pdf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WITH A DISTINCTIVE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real harnesses, one optimization loop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20240" cy="118872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234440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1463040"/>
            <a:ext cx="17007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layer and typed hooks.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560320" y="1188720"/>
            <a:ext cx="1920240" cy="118872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70048" y="1234440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Codex CLI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670048" y="1463040"/>
            <a:ext cx="17007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with no network access, approval only to go out of the sandbox; Lark patch grammar, hunks matched in four passes.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1920240" cy="118872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234440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DeepSeek Harness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73168" y="1463040"/>
            <a:ext cx="17007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is a plugin; compare-and-swap edits.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766560" y="1188720"/>
            <a:ext cx="1920240" cy="118872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76288" y="1234440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OpenCode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76288" y="1463040"/>
            <a:ext cx="17007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harness is a server; nine replacers from exact to anchor match; a shadow git repository for /undo.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" y="2450592"/>
            <a:ext cx="1920240" cy="118872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496312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2724912"/>
            <a:ext cx="17007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has four tools and no MCP; keep-alive requests only when the expected saving is $0.05 or more; pi-ai supports 42 providers on 10 wire APIs.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560320" y="2450592"/>
            <a:ext cx="1920240" cy="118872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70048" y="2496312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oh-my-pi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670048" y="2724912"/>
            <a:ext cx="17007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4-hex file tag plus line numbers per edit; one shell stays open for all calls; snapcompact changes old history into images; TTSR stops and tries again when a regex matches.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663440" y="2450592"/>
            <a:ext cx="1920240" cy="118872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2496312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OpenClaw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73168" y="2724912"/>
            <a:ext cx="17007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chat channels send messages to one lane for each session; memory before compaction; fences, taint and sentinels.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766560" y="2450592"/>
            <a:ext cx="1920240" cy="118872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76288" y="2496312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Hermes Agent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876288" y="2724912"/>
            <a:ext cx="17007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background fork edits the memory and the skills; compaction starts at 50% of the window, the earliest of the eight; tool-call rows are written before any side effect.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" y="3730752"/>
            <a:ext cx="1920240" cy="512064"/>
          </a:xfrm>
          <a:prstGeom prst="rect">
            <a:avLst/>
          </a:prstGeom>
          <a:solidFill>
            <a:srgbClr val="83C5BE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3730752"/>
            <a:ext cx="1773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and profile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386584" y="3867912"/>
            <a:ext cx="146304" cy="237744"/>
          </a:xfrm>
          <a:prstGeom prst="rightArrow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0" y="3730752"/>
            <a:ext cx="1920240" cy="512064"/>
          </a:xfrm>
          <a:prstGeom prst="rect">
            <a:avLst/>
          </a:prstGeom>
          <a:solidFill>
            <a:srgbClr val="83C5BE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33472" y="3730752"/>
            <a:ext cx="1773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489704" y="3867912"/>
            <a:ext cx="146304" cy="237744"/>
          </a:xfrm>
          <a:prstGeom prst="rightArrow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3730752"/>
            <a:ext cx="1920240" cy="512064"/>
          </a:xfrm>
          <a:prstGeom prst="rect">
            <a:avLst/>
          </a:prstGeom>
          <a:solidFill>
            <a:srgbClr val="83C5BE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36592" y="3730752"/>
            <a:ext cx="1773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thing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592824" y="3867912"/>
            <a:ext cx="146304" cy="237744"/>
          </a:xfrm>
          <a:prstGeom prst="rightArrow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66560" y="3730752"/>
            <a:ext cx="1920240" cy="512064"/>
          </a:xfrm>
          <a:prstGeom prst="rect">
            <a:avLst/>
          </a:prstGeom>
          <a:solidFill>
            <a:srgbClr val="E29578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39712" y="3730752"/>
            <a:ext cx="1773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re-evaluate: success, spend, p95 latency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deck on the loop: "Remember this for your Assignment 4!"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https://cs2680.seas.harvard.edu/slides/8_agent_design_5.pdf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AGENT DESIGN I WRAP-UP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84048" cy="384048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87552" y="1243584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= Users x Sessions x Turns x Steps x Tokens x Price; only four of those factors are yours to shrink, and turns cost quadratically.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384048" cy="384048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87552" y="2112264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optimization has a counter-cost - measure net saving, not gross saving.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384048" cy="384048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2980944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agents are not simply cheaper or faster; they are Pareto-efficient on capability, cost and speed.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207008"/>
            <a:ext cx="2651760" cy="265176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207008"/>
            <a:ext cx="50292" cy="265176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353312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scope, stated up front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1645920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focuses on LLM cost, and ignores the other compute costs.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2322576"/>
            <a:ext cx="2322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factors are yours: turns, steps, tokens and price. The other two grow with adoption, and are not a lever.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0" y="3090672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stable prefix is worth more than a shorter prompt.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041648"/>
            <a:ext cx="8229600" cy="475488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404164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Assignment 3 - MadsOpt, the harness competition, scored on capability, cost and time.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https://cs2680.seas.harvard.edu/slides/8_agent_design_5.pdf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Derived from the public CS2680 course site, Harvard SEAS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lecture-08-agent-design-5</dc:title>
  <dc:subject>CS2680 Modern AI Systems: Agents and System Optimizations</dc:subject>
  <dc:creator>CS2680 Courseware (personal study mirror)</dc:creator>
  <cp:lastModifiedBy>CS2680 Courseware (personal study mirror)</cp:lastModifiedBy>
  <cp:revision>1</cp:revision>
  <dcterms:created xsi:type="dcterms:W3CDTF">2026-10-19T17:39:52Z</dcterms:created>
  <dcterms:modified xsi:type="dcterms:W3CDTF">2026-10-19T17:39:52Z</dcterms:modified>
</cp:coreProperties>
</file>