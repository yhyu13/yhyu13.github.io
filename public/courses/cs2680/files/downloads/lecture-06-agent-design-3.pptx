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DF6F9"/>
        </a:solidFill>
      </p:bgPr>
    </p:bg>
    <p:spTree>
      <p:nvGrpSpPr>
        <p:cNvPr id="1" name=""/>
        <p:cNvGrpSpPr/>
        <p:nvPr/>
      </p:nvGrpSpPr>
      <p:grpSpPr>
        <a:xfrm>
          <a:off x="0" y="0"/>
          <a:ext cx="0" cy="0"/>
          <a:chOff x="0" y="0"/>
          <a:chExt cx="0" cy="0"/>
        </a:xfrm>
      </p:grpSpPr>
      <p:sp>
        <p:nvSpPr>
          <p:cNvPr id="2" name="Shape 0"/>
          <p:cNvSpPr/>
          <p:nvPr/>
        </p:nvSpPr>
        <p:spPr>
          <a:xfrm>
            <a:off x="5760720" y="0"/>
            <a:ext cx="3383280" cy="5143500"/>
          </a:xfrm>
          <a:prstGeom prst="rect">
            <a:avLst/>
          </a:prstGeom>
          <a:solidFill>
            <a:srgbClr val="006D77"/>
          </a:solidFill>
          <a:ln w="12700">
            <a:solidFill>
              <a:srgbClr val="006D77"/>
            </a:solidFill>
            <a:prstDash val="solid"/>
          </a:ln>
        </p:spPr>
      </p:sp>
      <p:sp>
        <p:nvSpPr>
          <p:cNvPr id="3" name="Shape 1"/>
          <p:cNvSpPr/>
          <p:nvPr/>
        </p:nvSpPr>
        <p:spPr>
          <a:xfrm>
            <a:off x="6309360" y="1005840"/>
            <a:ext cx="2194560" cy="384048"/>
          </a:xfrm>
          <a:prstGeom prst="rect">
            <a:avLst/>
          </a:prstGeom>
          <a:solidFill>
            <a:srgbClr val="FFDDD2"/>
          </a:solidFill>
          <a:ln w="12700">
            <a:solidFill>
              <a:srgbClr val="FFDDD2"/>
            </a:solidFill>
            <a:prstDash val="solid"/>
          </a:ln>
        </p:spPr>
      </p:sp>
      <p:sp>
        <p:nvSpPr>
          <p:cNvPr id="4" name="Shape 2"/>
          <p:cNvSpPr/>
          <p:nvPr/>
        </p:nvSpPr>
        <p:spPr>
          <a:xfrm>
            <a:off x="6309360" y="1481328"/>
            <a:ext cx="1920240" cy="384048"/>
          </a:xfrm>
          <a:prstGeom prst="rect">
            <a:avLst/>
          </a:prstGeom>
          <a:solidFill>
            <a:srgbClr val="E29578"/>
          </a:solidFill>
          <a:ln w="12700">
            <a:solidFill>
              <a:srgbClr val="E29578"/>
            </a:solidFill>
            <a:prstDash val="solid"/>
          </a:ln>
        </p:spPr>
      </p:sp>
      <p:sp>
        <p:nvSpPr>
          <p:cNvPr id="5" name="Shape 3"/>
          <p:cNvSpPr/>
          <p:nvPr/>
        </p:nvSpPr>
        <p:spPr>
          <a:xfrm>
            <a:off x="6309360" y="1956816"/>
            <a:ext cx="1645920" cy="384048"/>
          </a:xfrm>
          <a:prstGeom prst="rect">
            <a:avLst/>
          </a:prstGeom>
          <a:solidFill>
            <a:srgbClr val="83C5BE"/>
          </a:solidFill>
          <a:ln w="12700">
            <a:solidFill>
              <a:srgbClr val="83C5BE"/>
            </a:solidFill>
            <a:prstDash val="solid"/>
          </a:ln>
        </p:spPr>
      </p:sp>
      <p:sp>
        <p:nvSpPr>
          <p:cNvPr id="6" name="Shape 4"/>
          <p:cNvSpPr/>
          <p:nvPr/>
        </p:nvSpPr>
        <p:spPr>
          <a:xfrm>
            <a:off x="6309360" y="2432304"/>
            <a:ext cx="1371600" cy="384048"/>
          </a:xfrm>
          <a:prstGeom prst="rect">
            <a:avLst/>
          </a:prstGeom>
          <a:solidFill>
            <a:srgbClr val="E29578"/>
          </a:solidFill>
          <a:ln w="12700">
            <a:solidFill>
              <a:srgbClr val="E29578"/>
            </a:solidFill>
            <a:prstDash val="solid"/>
          </a:ln>
        </p:spPr>
      </p:sp>
      <p:sp>
        <p:nvSpPr>
          <p:cNvPr id="7" name="Shape 5"/>
          <p:cNvSpPr/>
          <p:nvPr/>
        </p:nvSpPr>
        <p:spPr>
          <a:xfrm>
            <a:off x="6309360" y="2907792"/>
            <a:ext cx="1097280" cy="384048"/>
          </a:xfrm>
          <a:prstGeom prst="rect">
            <a:avLst/>
          </a:prstGeom>
          <a:solidFill>
            <a:srgbClr val="FFDDD2"/>
          </a:solidFill>
          <a:ln w="12700">
            <a:solidFill>
              <a:srgbClr val="FFDDD2"/>
            </a:solidFill>
            <a:prstDash val="solid"/>
          </a:ln>
        </p:spPr>
      </p:sp>
      <p:sp>
        <p:nvSpPr>
          <p:cNvPr id="8" name="Text 6"/>
          <p:cNvSpPr/>
          <p:nvPr/>
        </p:nvSpPr>
        <p:spPr>
          <a:xfrm>
            <a:off x="6309360" y="3474720"/>
            <a:ext cx="2194560" cy="274320"/>
          </a:xfrm>
          <a:prstGeom prst="rect">
            <a:avLst/>
          </a:prstGeom>
          <a:noFill/>
          <a:ln/>
        </p:spPr>
        <p:txBody>
          <a:bodyPr wrap="square" lIns="0" tIns="0" rIns="0" bIns="0" rtlCol="0" anchor="ctr"/>
          <a:lstStyle/>
          <a:p>
            <a:pPr algn="l" indent="0" marL="0">
              <a:buNone/>
            </a:pPr>
            <a:r>
              <a:rPr lang="en-US" sz="1100" dirty="0">
                <a:solidFill>
                  <a:srgbClr val="EDF6F9"/>
                </a:solidFill>
                <a:latin typeface="Calibri" pitchFamily="34" charset="0"/>
                <a:ea typeface="Calibri" pitchFamily="34" charset="-122"/>
                <a:cs typeface="Calibri" pitchFamily="34" charset="-120"/>
              </a:rPr>
              <a:t>Memory and reliability</a:t>
            </a:r>
            <a:endParaRPr lang="en-US" sz="1100" dirty="0"/>
          </a:p>
        </p:txBody>
      </p:sp>
      <p:sp>
        <p:nvSpPr>
          <p:cNvPr id="9" name="Text 7"/>
          <p:cNvSpPr/>
          <p:nvPr/>
        </p:nvSpPr>
        <p:spPr>
          <a:xfrm>
            <a:off x="548640" y="1051560"/>
            <a:ext cx="4937760" cy="274320"/>
          </a:xfrm>
          <a:prstGeom prst="rect">
            <a:avLst/>
          </a:prstGeom>
          <a:noFill/>
          <a:ln/>
        </p:spPr>
        <p:txBody>
          <a:bodyPr wrap="square" lIns="0" tIns="0" rIns="0" bIns="0" rtlCol="0" anchor="ctr"/>
          <a:lstStyle/>
          <a:p>
            <a:pPr algn="l" indent="0" marL="0">
              <a:buNone/>
            </a:pPr>
            <a:r>
              <a:rPr lang="en-US" sz="1200" spc="110" kern="0" dirty="0">
                <a:solidFill>
                  <a:srgbClr val="E29578"/>
                </a:solidFill>
                <a:latin typeface="Calibri" pitchFamily="34" charset="0"/>
                <a:ea typeface="Calibri" pitchFamily="34" charset="-122"/>
                <a:cs typeface="Calibri" pitchFamily="34" charset="-120"/>
              </a:rPr>
              <a:t>CS2680 / Harvard SEAS / Juncheng Yang</a:t>
            </a:r>
            <a:endParaRPr lang="en-US" sz="1200" dirty="0"/>
          </a:p>
        </p:txBody>
      </p:sp>
      <p:sp>
        <p:nvSpPr>
          <p:cNvPr id="10" name="Text 8"/>
          <p:cNvSpPr/>
          <p:nvPr/>
        </p:nvSpPr>
        <p:spPr>
          <a:xfrm>
            <a:off x="548640" y="1417320"/>
            <a:ext cx="4937760" cy="822960"/>
          </a:xfrm>
          <a:prstGeom prst="rect">
            <a:avLst/>
          </a:prstGeom>
          <a:noFill/>
          <a:ln/>
        </p:spPr>
        <p:txBody>
          <a:bodyPr wrap="square" lIns="0" tIns="0" rIns="0" bIns="0" rtlCol="0" anchor="ctr">
            <a:normAutofit/>
          </a:bodyPr>
          <a:lstStyle/>
          <a:p>
            <a:pPr algn="l" indent="0" marL="0">
              <a:buNone/>
            </a:pPr>
            <a:r>
              <a:rPr lang="en-US" sz="4000" b="1" dirty="0">
                <a:solidFill>
                  <a:srgbClr val="006D77"/>
                </a:solidFill>
                <a:latin typeface="Georgia" pitchFamily="34" charset="0"/>
                <a:ea typeface="Georgia" pitchFamily="34" charset="-122"/>
                <a:cs typeface="Georgia" pitchFamily="34" charset="-120"/>
              </a:rPr>
              <a:t>Agents design III</a:t>
            </a:r>
            <a:endParaRPr lang="en-US" sz="4000" dirty="0"/>
          </a:p>
        </p:txBody>
      </p:sp>
      <p:sp>
        <p:nvSpPr>
          <p:cNvPr id="11" name="Text 9"/>
          <p:cNvSpPr/>
          <p:nvPr/>
        </p:nvSpPr>
        <p:spPr>
          <a:xfrm>
            <a:off x="548640" y="2286000"/>
            <a:ext cx="4846320" cy="640080"/>
          </a:xfrm>
          <a:prstGeom prst="rect">
            <a:avLst/>
          </a:prstGeom>
          <a:noFill/>
          <a:ln/>
        </p:spPr>
        <p:txBody>
          <a:bodyPr wrap="square" lIns="0" tIns="0" rIns="0" bIns="0" rtlCol="0" anchor="t"/>
          <a:lstStyle/>
          <a:p>
            <a:pPr algn="l" indent="0" marL="0">
              <a:buNone/>
            </a:pPr>
            <a:r>
              <a:rPr lang="en-US" sz="1700" dirty="0">
                <a:solidFill>
                  <a:srgbClr val="006D77"/>
                </a:solidFill>
                <a:latin typeface="Calibri" pitchFamily="34" charset="0"/>
                <a:ea typeface="Calibri" pitchFamily="34" charset="-122"/>
                <a:cs typeface="Calibri" pitchFamily="34" charset="-120"/>
              </a:rPr>
              <a:t>Agent memory and reliability</a:t>
            </a:r>
            <a:endParaRPr lang="en-US" sz="1700" dirty="0"/>
          </a:p>
        </p:txBody>
      </p:sp>
      <p:sp>
        <p:nvSpPr>
          <p:cNvPr id="12" name="Text 10"/>
          <p:cNvSpPr/>
          <p:nvPr/>
        </p:nvSpPr>
        <p:spPr>
          <a:xfrm>
            <a:off x="548640" y="3017520"/>
            <a:ext cx="4846320" cy="274320"/>
          </a:xfrm>
          <a:prstGeom prst="rect">
            <a:avLst/>
          </a:prstGeom>
          <a:noFill/>
          <a:ln/>
        </p:spPr>
        <p:txBody>
          <a:bodyPr wrap="square" lIns="0" tIns="0" rIns="0" bIns="0" rtlCol="0" anchor="ctr"/>
          <a:lstStyle/>
          <a:p>
            <a:pPr algn="l" indent="0" marL="0">
              <a:buNone/>
            </a:pPr>
            <a:r>
              <a:rPr lang="en-US" sz="1300" dirty="0">
                <a:solidFill>
                  <a:srgbClr val="006D77"/>
                </a:solidFill>
                <a:latin typeface="Calibri" pitchFamily="34" charset="0"/>
                <a:ea typeface="Calibri" pitchFamily="34" charset="-122"/>
                <a:cs typeface="Calibri" pitchFamily="34" charset="-120"/>
              </a:rPr>
              <a:t>Lecture 6  .  2026-09-28</a:t>
            </a:r>
            <a:endParaRPr lang="en-US" sz="1300" dirty="0"/>
          </a:p>
        </p:txBody>
      </p:sp>
      <p:sp>
        <p:nvSpPr>
          <p:cNvPr id="13" name="Text 11"/>
          <p:cNvSpPr/>
          <p:nvPr/>
        </p:nvSpPr>
        <p:spPr>
          <a:xfrm>
            <a:off x="548640" y="3364992"/>
            <a:ext cx="4846320" cy="274320"/>
          </a:xfrm>
          <a:prstGeom prst="rect">
            <a:avLst/>
          </a:prstGeom>
          <a:noFill/>
          <a:ln/>
        </p:spPr>
        <p:txBody>
          <a:bodyPr wrap="square" lIns="0" tIns="0" rIns="0" bIns="0" rtlCol="0" anchor="ctr"/>
          <a:lstStyle/>
          <a:p>
            <a:pPr algn="l" indent="0" marL="0">
              <a:buNone/>
            </a:pPr>
            <a:r>
              <a:rPr lang="en-US" sz="1000" dirty="0">
                <a:solidFill>
                  <a:srgbClr val="006D77">
                    <a:alpha val="65000"/>
                  </a:srgbClr>
                </a:solidFill>
                <a:latin typeface="Calibri" pitchFamily="34" charset="0"/>
                <a:ea typeface="Calibri" pitchFamily="34" charset="-122"/>
                <a:cs typeface="Calibri" pitchFamily="34" charset="-120"/>
              </a:rPr>
              <a:t>Source deck: course/site/slides/6_agent_design_3.pdf</a:t>
            </a:r>
            <a:endParaRPr lang="en-US" sz="1000" dirty="0"/>
          </a:p>
        </p:txBody>
      </p:sp>
      <p:sp>
        <p:nvSpPr>
          <p:cNvPr id="14" name="Shape 12"/>
          <p:cNvSpPr/>
          <p:nvPr/>
        </p:nvSpPr>
        <p:spPr>
          <a:xfrm>
            <a:off x="457200" y="4754880"/>
            <a:ext cx="7772400" cy="10973"/>
          </a:xfrm>
          <a:prstGeom prst="rect">
            <a:avLst/>
          </a:prstGeom>
          <a:solidFill>
            <a:srgbClr val="83C5BE"/>
          </a:solidFill>
          <a:ln w="12700">
            <a:solidFill>
              <a:srgbClr val="83C5BE"/>
            </a:solidFill>
            <a:prstDash val="solid"/>
          </a:ln>
        </p:spPr>
      </p:sp>
      <p:sp>
        <p:nvSpPr>
          <p:cNvPr id="15" name="Text 13"/>
          <p:cNvSpPr/>
          <p:nvPr/>
        </p:nvSpPr>
        <p:spPr>
          <a:xfrm>
            <a:off x="457200" y="4773168"/>
            <a:ext cx="7772400" cy="219456"/>
          </a:xfrm>
          <a:prstGeom prst="rect">
            <a:avLst/>
          </a:prstGeom>
          <a:noFill/>
          <a:ln/>
        </p:spPr>
        <p:txBody>
          <a:bodyPr wrap="square" lIns="0" tIns="0" rIns="0" bIns="0" rtlCol="0" anchor="ctr"/>
          <a:lstStyle/>
          <a:p>
            <a:pPr algn="l" indent="0" marL="0">
              <a:buNone/>
            </a:pPr>
            <a:r>
              <a:rPr lang="en-US" sz="900" dirty="0">
                <a:solidFill>
                  <a:srgbClr val="006D77">
                    <a:alpha val="55000"/>
                  </a:srgbClr>
                </a:solidFill>
                <a:latin typeface="Calibri" pitchFamily="34" charset="0"/>
                <a:ea typeface="Calibri" pitchFamily="34" charset="-122"/>
                <a:cs typeface="Calibri" pitchFamily="34" charset="-120"/>
              </a:rPr>
              <a:t>Source: https://cs2680.seas.harvard.edu/slides/6_agent_design_3.pdf</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F6F9"/>
        </a:solidFill>
      </p:bgPr>
    </p:bg>
    <p:spTree>
      <p:nvGrpSpPr>
        <p:cNvPr id="1" name=""/>
        <p:cNvGrpSpPr/>
        <p:nvPr/>
      </p:nvGrpSpPr>
      <p:grpSpPr>
        <a:xfrm>
          <a:off x="0" y="0"/>
          <a:ext cx="0" cy="0"/>
          <a:chOff x="0" y="0"/>
          <a:chExt cx="0" cy="0"/>
        </a:xfrm>
      </p:grpSpPr>
      <p:sp>
        <p:nvSpPr>
          <p:cNvPr id="2" name="Text 0"/>
          <p:cNvSpPr/>
          <p:nvPr/>
        </p:nvSpPr>
        <p:spPr>
          <a:xfrm>
            <a:off x="457200" y="310896"/>
            <a:ext cx="8229600" cy="219456"/>
          </a:xfrm>
          <a:prstGeom prst="rect">
            <a:avLst/>
          </a:prstGeom>
          <a:noFill/>
          <a:ln/>
        </p:spPr>
        <p:txBody>
          <a:bodyPr wrap="square" lIns="0" tIns="0" rIns="0" bIns="0" rtlCol="0" anchor="ctr"/>
          <a:lstStyle/>
          <a:p>
            <a:pPr algn="l" indent="0" marL="0">
              <a:buNone/>
            </a:pPr>
            <a:r>
              <a:rPr lang="en-US" sz="1100" spc="140" kern="0" dirty="0">
                <a:solidFill>
                  <a:srgbClr val="E29578"/>
                </a:solidFill>
                <a:latin typeface="Calibri" pitchFamily="34" charset="0"/>
                <a:ea typeface="Calibri" pitchFamily="34" charset="-122"/>
                <a:cs typeface="Calibri" pitchFamily="34" charset="-120"/>
              </a:rPr>
              <a:t>WORKING STATE VS STORED STATE</a:t>
            </a:r>
            <a:endParaRPr lang="en-US" sz="1100" dirty="0"/>
          </a:p>
        </p:txBody>
      </p:sp>
      <p:sp>
        <p:nvSpPr>
          <p:cNvPr id="3" name="Text 1"/>
          <p:cNvSpPr/>
          <p:nvPr/>
        </p:nvSpPr>
        <p:spPr>
          <a:xfrm>
            <a:off x="457200" y="548640"/>
            <a:ext cx="8229600" cy="566928"/>
          </a:xfrm>
          <a:prstGeom prst="rect">
            <a:avLst/>
          </a:prstGeom>
          <a:noFill/>
          <a:ln/>
        </p:spPr>
        <p:txBody>
          <a:bodyPr wrap="square" lIns="0" tIns="0" rIns="0" bIns="0" rtlCol="0" anchor="ctr">
            <a:normAutofit/>
          </a:bodyPr>
          <a:lstStyle/>
          <a:p>
            <a:pPr algn="l" indent="0" marL="0">
              <a:buNone/>
            </a:pPr>
            <a:r>
              <a:rPr lang="en-US" sz="2700" b="1" dirty="0">
                <a:solidFill>
                  <a:srgbClr val="006D77"/>
                </a:solidFill>
                <a:latin typeface="Georgia" pitchFamily="34" charset="0"/>
                <a:ea typeface="Georgia" pitchFamily="34" charset="-122"/>
                <a:cs typeface="Georgia" pitchFamily="34" charset="-120"/>
              </a:rPr>
              <a:t>Memory is persistent state beyond the context window</a:t>
            </a:r>
            <a:endParaRPr lang="en-US" sz="2700" dirty="0"/>
          </a:p>
        </p:txBody>
      </p:sp>
      <p:sp>
        <p:nvSpPr>
          <p:cNvPr id="4" name="Shape 2"/>
          <p:cNvSpPr/>
          <p:nvPr/>
        </p:nvSpPr>
        <p:spPr>
          <a:xfrm>
            <a:off x="457200" y="1225296"/>
            <a:ext cx="3749040" cy="228600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5" name="Shape 3"/>
          <p:cNvSpPr/>
          <p:nvPr/>
        </p:nvSpPr>
        <p:spPr>
          <a:xfrm>
            <a:off x="457200" y="1225296"/>
            <a:ext cx="50292" cy="2286000"/>
          </a:xfrm>
          <a:prstGeom prst="rect">
            <a:avLst/>
          </a:prstGeom>
          <a:solidFill>
            <a:srgbClr val="E29578"/>
          </a:solidFill>
          <a:ln w="12700">
            <a:solidFill>
              <a:srgbClr val="E29578"/>
            </a:solidFill>
            <a:prstDash val="solid"/>
          </a:ln>
        </p:spPr>
      </p:sp>
      <p:sp>
        <p:nvSpPr>
          <p:cNvPr id="6" name="Text 4"/>
          <p:cNvSpPr/>
          <p:nvPr/>
        </p:nvSpPr>
        <p:spPr>
          <a:xfrm>
            <a:off x="640080" y="1371600"/>
            <a:ext cx="3419856" cy="292608"/>
          </a:xfrm>
          <a:prstGeom prst="rect">
            <a:avLst/>
          </a:prstGeom>
          <a:noFill/>
          <a:ln/>
        </p:spPr>
        <p:txBody>
          <a:bodyPr wrap="square" lIns="0" tIns="0" rIns="0" bIns="0" rtlCol="0" anchor="ctr"/>
          <a:lstStyle/>
          <a:p>
            <a:pPr algn="l" indent="0" marL="0">
              <a:buNone/>
            </a:pPr>
            <a:r>
              <a:rPr lang="en-US" sz="1600" b="1" dirty="0">
                <a:solidFill>
                  <a:srgbClr val="006D77"/>
                </a:solidFill>
                <a:latin typeface="Georgia" pitchFamily="34" charset="0"/>
                <a:ea typeface="Georgia" pitchFamily="34" charset="-122"/>
                <a:cs typeface="Georgia" pitchFamily="34" charset="-120"/>
              </a:rPr>
              <a:t>Context window</a:t>
            </a:r>
            <a:endParaRPr lang="en-US" sz="1600" dirty="0"/>
          </a:p>
        </p:txBody>
      </p:sp>
      <p:sp>
        <p:nvSpPr>
          <p:cNvPr id="7" name="Text 5"/>
          <p:cNvSpPr/>
          <p:nvPr/>
        </p:nvSpPr>
        <p:spPr>
          <a:xfrm>
            <a:off x="640080" y="1737360"/>
            <a:ext cx="3419856" cy="640080"/>
          </a:xfrm>
          <a:prstGeom prst="rect">
            <a:avLst/>
          </a:prstGeom>
          <a:noFill/>
          <a:ln/>
        </p:spPr>
        <p:txBody>
          <a:bodyPr wrap="square" lIns="0" tIns="0" rIns="0" bIns="0" rtlCol="0" anchor="t"/>
          <a:lstStyle/>
          <a:p>
            <a:pPr algn="l" indent="0" marL="0">
              <a:buNone/>
            </a:pPr>
            <a:r>
              <a:rPr lang="en-US" sz="1200" dirty="0">
                <a:solidFill>
                  <a:srgbClr val="006D77"/>
                </a:solidFill>
                <a:latin typeface="Calibri" pitchFamily="34" charset="0"/>
                <a:ea typeface="Calibri" pitchFamily="34" charset="-122"/>
                <a:cs typeface="Calibri" pitchFamily="34" charset="-120"/>
              </a:rPr>
              <a:t>Temporary working state. It is re-filled every turn and it dies with the session.</a:t>
            </a:r>
            <a:endParaRPr lang="en-US" sz="1200" dirty="0"/>
          </a:p>
        </p:txBody>
      </p:sp>
      <p:sp>
        <p:nvSpPr>
          <p:cNvPr id="8" name="Shape 6"/>
          <p:cNvSpPr/>
          <p:nvPr/>
        </p:nvSpPr>
        <p:spPr>
          <a:xfrm>
            <a:off x="640080" y="2468880"/>
            <a:ext cx="3419856" cy="457200"/>
          </a:xfrm>
          <a:prstGeom prst="rect">
            <a:avLst/>
          </a:prstGeom>
          <a:solidFill>
            <a:srgbClr val="83C5BE"/>
          </a:solidFill>
          <a:ln w="9525">
            <a:solidFill>
              <a:srgbClr val="006D77"/>
            </a:solidFill>
            <a:prstDash val="solid"/>
          </a:ln>
        </p:spPr>
      </p:sp>
      <p:sp>
        <p:nvSpPr>
          <p:cNvPr id="9" name="Text 7"/>
          <p:cNvSpPr/>
          <p:nvPr/>
        </p:nvSpPr>
        <p:spPr>
          <a:xfrm>
            <a:off x="640080" y="2468880"/>
            <a:ext cx="3419856" cy="457200"/>
          </a:xfrm>
          <a:prstGeom prst="rect">
            <a:avLst/>
          </a:prstGeom>
          <a:noFill/>
          <a:ln/>
        </p:spPr>
        <p:txBody>
          <a:bodyPr wrap="square" lIns="0" tIns="0" rIns="0" bIns="0" rtlCol="0" anchor="ctr"/>
          <a:lstStyle/>
          <a:p>
            <a:pPr algn="ctr" indent="0" marL="0">
              <a:buNone/>
            </a:pPr>
            <a:r>
              <a:rPr lang="en-US" sz="1100" dirty="0">
                <a:solidFill>
                  <a:srgbClr val="006D77"/>
                </a:solidFill>
                <a:latin typeface="Calibri" pitchFamily="34" charset="0"/>
                <a:ea typeface="Calibri" pitchFamily="34" charset="-122"/>
                <a:cs typeface="Calibri" pitchFamily="34" charset="-120"/>
              </a:rPr>
              <a:t>dies with the session</a:t>
            </a:r>
            <a:endParaRPr lang="en-US" sz="1100" dirty="0"/>
          </a:p>
        </p:txBody>
      </p:sp>
      <p:sp>
        <p:nvSpPr>
          <p:cNvPr id="10" name="Shape 8"/>
          <p:cNvSpPr/>
          <p:nvPr/>
        </p:nvSpPr>
        <p:spPr>
          <a:xfrm>
            <a:off x="4315968" y="2139696"/>
            <a:ext cx="512064" cy="457200"/>
          </a:xfrm>
          <a:prstGeom prst="rightArrow">
            <a:avLst/>
          </a:prstGeom>
          <a:solidFill>
            <a:srgbClr val="E29578"/>
          </a:solidFill>
          <a:ln w="12700">
            <a:solidFill>
              <a:srgbClr val="E29578"/>
            </a:solidFill>
            <a:prstDash val="solid"/>
          </a:ln>
        </p:spPr>
      </p:sp>
      <p:sp>
        <p:nvSpPr>
          <p:cNvPr id="11" name="Shape 9"/>
          <p:cNvSpPr/>
          <p:nvPr/>
        </p:nvSpPr>
        <p:spPr>
          <a:xfrm>
            <a:off x="4937760" y="1225296"/>
            <a:ext cx="3749040" cy="228600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12" name="Shape 10"/>
          <p:cNvSpPr/>
          <p:nvPr/>
        </p:nvSpPr>
        <p:spPr>
          <a:xfrm>
            <a:off x="4937760" y="1225296"/>
            <a:ext cx="50292" cy="2286000"/>
          </a:xfrm>
          <a:prstGeom prst="rect">
            <a:avLst/>
          </a:prstGeom>
          <a:solidFill>
            <a:srgbClr val="E29578"/>
          </a:solidFill>
          <a:ln w="12700">
            <a:solidFill>
              <a:srgbClr val="E29578"/>
            </a:solidFill>
            <a:prstDash val="solid"/>
          </a:ln>
        </p:spPr>
      </p:sp>
      <p:sp>
        <p:nvSpPr>
          <p:cNvPr id="13" name="Text 11"/>
          <p:cNvSpPr/>
          <p:nvPr/>
        </p:nvSpPr>
        <p:spPr>
          <a:xfrm>
            <a:off x="5120640" y="1371600"/>
            <a:ext cx="3419856" cy="292608"/>
          </a:xfrm>
          <a:prstGeom prst="rect">
            <a:avLst/>
          </a:prstGeom>
          <a:noFill/>
          <a:ln/>
        </p:spPr>
        <p:txBody>
          <a:bodyPr wrap="square" lIns="0" tIns="0" rIns="0" bIns="0" rtlCol="0" anchor="ctr"/>
          <a:lstStyle/>
          <a:p>
            <a:pPr algn="l" indent="0" marL="0">
              <a:buNone/>
            </a:pPr>
            <a:r>
              <a:rPr lang="en-US" sz="1600" b="1" dirty="0">
                <a:solidFill>
                  <a:srgbClr val="006D77"/>
                </a:solidFill>
                <a:latin typeface="Georgia" pitchFamily="34" charset="0"/>
                <a:ea typeface="Georgia" pitchFamily="34" charset="-122"/>
                <a:cs typeface="Georgia" pitchFamily="34" charset="-120"/>
              </a:rPr>
              <a:t>Memory store</a:t>
            </a:r>
            <a:endParaRPr lang="en-US" sz="1600" dirty="0"/>
          </a:p>
        </p:txBody>
      </p:sp>
      <p:sp>
        <p:nvSpPr>
          <p:cNvPr id="14" name="Text 12"/>
          <p:cNvSpPr/>
          <p:nvPr/>
        </p:nvSpPr>
        <p:spPr>
          <a:xfrm>
            <a:off x="5120640" y="1737360"/>
            <a:ext cx="3419856" cy="640080"/>
          </a:xfrm>
          <a:prstGeom prst="rect">
            <a:avLst/>
          </a:prstGeom>
          <a:noFill/>
          <a:ln/>
        </p:spPr>
        <p:txBody>
          <a:bodyPr wrap="square" lIns="0" tIns="0" rIns="0" bIns="0" rtlCol="0" anchor="t"/>
          <a:lstStyle/>
          <a:p>
            <a:pPr algn="l" indent="0" marL="0">
              <a:buNone/>
            </a:pPr>
            <a:r>
              <a:rPr lang="en-US" sz="1200" dirty="0">
                <a:solidFill>
                  <a:srgbClr val="006D77"/>
                </a:solidFill>
                <a:latin typeface="Calibri" pitchFamily="34" charset="0"/>
                <a:ea typeface="Calibri" pitchFamily="34" charset="-122"/>
                <a:cs typeface="Calibri" pitchFamily="34" charset="-120"/>
              </a:rPr>
              <a:t>Persistent state across interactions. It is written once and re-read later.</a:t>
            </a:r>
            <a:endParaRPr lang="en-US" sz="1200" dirty="0"/>
          </a:p>
        </p:txBody>
      </p:sp>
      <p:sp>
        <p:nvSpPr>
          <p:cNvPr id="15" name="Shape 13"/>
          <p:cNvSpPr/>
          <p:nvPr/>
        </p:nvSpPr>
        <p:spPr>
          <a:xfrm>
            <a:off x="5120640" y="2468880"/>
            <a:ext cx="3419856" cy="457200"/>
          </a:xfrm>
          <a:prstGeom prst="rect">
            <a:avLst/>
          </a:prstGeom>
          <a:solidFill>
            <a:srgbClr val="FFDDD2"/>
          </a:solidFill>
          <a:ln w="9525">
            <a:solidFill>
              <a:srgbClr val="E29578"/>
            </a:solidFill>
            <a:prstDash val="solid"/>
          </a:ln>
        </p:spPr>
      </p:sp>
      <p:sp>
        <p:nvSpPr>
          <p:cNvPr id="16" name="Text 14"/>
          <p:cNvSpPr/>
          <p:nvPr/>
        </p:nvSpPr>
        <p:spPr>
          <a:xfrm>
            <a:off x="5120640" y="2468880"/>
            <a:ext cx="3419856" cy="457200"/>
          </a:xfrm>
          <a:prstGeom prst="rect">
            <a:avLst/>
          </a:prstGeom>
          <a:noFill/>
          <a:ln/>
        </p:spPr>
        <p:txBody>
          <a:bodyPr wrap="square" lIns="0" tIns="0" rIns="0" bIns="0" rtlCol="0" anchor="ctr"/>
          <a:lstStyle/>
          <a:p>
            <a:pPr algn="ctr" indent="0" marL="0">
              <a:buNone/>
            </a:pPr>
            <a:r>
              <a:rPr lang="en-US" sz="1100" dirty="0">
                <a:solidFill>
                  <a:srgbClr val="006D77"/>
                </a:solidFill>
                <a:latin typeface="Calibri" pitchFamily="34" charset="0"/>
                <a:ea typeface="Calibri" pitchFamily="34" charset="-122"/>
                <a:cs typeface="Calibri" pitchFamily="34" charset="-120"/>
              </a:rPr>
              <a:t>survives the session</a:t>
            </a:r>
            <a:endParaRPr lang="en-US" sz="1100" dirty="0"/>
          </a:p>
        </p:txBody>
      </p:sp>
      <p:sp>
        <p:nvSpPr>
          <p:cNvPr id="17" name="Text 15"/>
          <p:cNvSpPr/>
          <p:nvPr/>
        </p:nvSpPr>
        <p:spPr>
          <a:xfrm>
            <a:off x="457200" y="3639312"/>
            <a:ext cx="8229600" cy="256032"/>
          </a:xfrm>
          <a:prstGeom prst="rect">
            <a:avLst/>
          </a:prstGeom>
          <a:noFill/>
          <a:ln/>
        </p:spPr>
        <p:txBody>
          <a:bodyPr wrap="square" lIns="0" tIns="0" rIns="0" bIns="0" rtlCol="0" anchor="ctr"/>
          <a:lstStyle/>
          <a:p>
            <a:pPr algn="l" indent="0" marL="0">
              <a:buNone/>
            </a:pPr>
            <a:r>
              <a:rPr lang="en-US" sz="1100" dirty="0">
                <a:solidFill>
                  <a:srgbClr val="006D77"/>
                </a:solidFill>
                <a:latin typeface="Calibri" pitchFamily="34" charset="0"/>
                <a:ea typeface="Calibri" pitchFamily="34" charset="-122"/>
                <a:cs typeface="Calibri" pitchFamily="34" charset="-120"/>
              </a:rPr>
              <a:t>The same six questions are repeated as a navigation footer on every memory slide, so the design space stays visible.</a:t>
            </a:r>
            <a:endParaRPr lang="en-US" sz="1100" dirty="0"/>
          </a:p>
        </p:txBody>
      </p:sp>
      <p:sp>
        <p:nvSpPr>
          <p:cNvPr id="18" name="Shape 16"/>
          <p:cNvSpPr/>
          <p:nvPr/>
        </p:nvSpPr>
        <p:spPr>
          <a:xfrm>
            <a:off x="457200" y="3968496"/>
            <a:ext cx="1280160" cy="475488"/>
          </a:xfrm>
          <a:prstGeom prst="rect">
            <a:avLst/>
          </a:prstGeom>
          <a:solidFill>
            <a:srgbClr val="FFDDD2"/>
          </a:solidFill>
          <a:ln w="9525">
            <a:solidFill>
              <a:srgbClr val="E29578"/>
            </a:solidFill>
            <a:prstDash val="solid"/>
          </a:ln>
        </p:spPr>
      </p:sp>
      <p:sp>
        <p:nvSpPr>
          <p:cNvPr id="19" name="Text 17"/>
          <p:cNvSpPr/>
          <p:nvPr/>
        </p:nvSpPr>
        <p:spPr>
          <a:xfrm>
            <a:off x="457200" y="3968496"/>
            <a:ext cx="1280160" cy="475488"/>
          </a:xfrm>
          <a:prstGeom prst="rect">
            <a:avLst/>
          </a:prstGeom>
          <a:noFill/>
          <a:ln/>
        </p:spPr>
        <p:txBody>
          <a:bodyPr wrap="square" lIns="0" tIns="0" rIns="0" bIns="0" rtlCol="0" anchor="ctr"/>
          <a:lstStyle/>
          <a:p>
            <a:pPr algn="ctr" indent="0" marL="0">
              <a:buNone/>
            </a:pPr>
            <a:r>
              <a:rPr lang="en-US" sz="1200" b="1" dirty="0">
                <a:solidFill>
                  <a:srgbClr val="006D77"/>
                </a:solidFill>
                <a:latin typeface="Georgia" pitchFamily="34" charset="0"/>
                <a:ea typeface="Georgia" pitchFamily="34" charset="-122"/>
                <a:cs typeface="Georgia" pitchFamily="34" charset="-120"/>
              </a:rPr>
              <a:t>keeping</a:t>
            </a:r>
            <a:endParaRPr lang="en-US" sz="1200" dirty="0"/>
          </a:p>
        </p:txBody>
      </p:sp>
      <p:sp>
        <p:nvSpPr>
          <p:cNvPr id="20" name="Shape 18"/>
          <p:cNvSpPr/>
          <p:nvPr/>
        </p:nvSpPr>
        <p:spPr>
          <a:xfrm>
            <a:off x="1847088" y="3968496"/>
            <a:ext cx="1280160" cy="475488"/>
          </a:xfrm>
          <a:prstGeom prst="rect">
            <a:avLst/>
          </a:prstGeom>
          <a:solidFill>
            <a:srgbClr val="FFDDD2"/>
          </a:solidFill>
          <a:ln w="9525">
            <a:solidFill>
              <a:srgbClr val="E29578"/>
            </a:solidFill>
            <a:prstDash val="solid"/>
          </a:ln>
        </p:spPr>
      </p:sp>
      <p:sp>
        <p:nvSpPr>
          <p:cNvPr id="21" name="Text 19"/>
          <p:cNvSpPr/>
          <p:nvPr/>
        </p:nvSpPr>
        <p:spPr>
          <a:xfrm>
            <a:off x="1847088" y="3968496"/>
            <a:ext cx="1280160" cy="475488"/>
          </a:xfrm>
          <a:prstGeom prst="rect">
            <a:avLst/>
          </a:prstGeom>
          <a:noFill/>
          <a:ln/>
        </p:spPr>
        <p:txBody>
          <a:bodyPr wrap="square" lIns="0" tIns="0" rIns="0" bIns="0" rtlCol="0" anchor="ctr"/>
          <a:lstStyle/>
          <a:p>
            <a:pPr algn="ctr" indent="0" marL="0">
              <a:buNone/>
            </a:pPr>
            <a:r>
              <a:rPr lang="en-US" sz="1200" b="1" dirty="0">
                <a:solidFill>
                  <a:srgbClr val="006D77"/>
                </a:solidFill>
                <a:latin typeface="Georgia" pitchFamily="34" charset="0"/>
                <a:ea typeface="Georgia" pitchFamily="34" charset="-122"/>
                <a:cs typeface="Georgia" pitchFamily="34" charset="-120"/>
              </a:rPr>
              <a:t>format</a:t>
            </a:r>
            <a:endParaRPr lang="en-US" sz="1200" dirty="0"/>
          </a:p>
        </p:txBody>
      </p:sp>
      <p:sp>
        <p:nvSpPr>
          <p:cNvPr id="22" name="Shape 20"/>
          <p:cNvSpPr/>
          <p:nvPr/>
        </p:nvSpPr>
        <p:spPr>
          <a:xfrm>
            <a:off x="3236976" y="3968496"/>
            <a:ext cx="1280160" cy="475488"/>
          </a:xfrm>
          <a:prstGeom prst="rect">
            <a:avLst/>
          </a:prstGeom>
          <a:solidFill>
            <a:srgbClr val="FFDDD2"/>
          </a:solidFill>
          <a:ln w="9525">
            <a:solidFill>
              <a:srgbClr val="E29578"/>
            </a:solidFill>
            <a:prstDash val="solid"/>
          </a:ln>
        </p:spPr>
      </p:sp>
      <p:sp>
        <p:nvSpPr>
          <p:cNvPr id="23" name="Text 21"/>
          <p:cNvSpPr/>
          <p:nvPr/>
        </p:nvSpPr>
        <p:spPr>
          <a:xfrm>
            <a:off x="3236976" y="3968496"/>
            <a:ext cx="1280160" cy="475488"/>
          </a:xfrm>
          <a:prstGeom prst="rect">
            <a:avLst/>
          </a:prstGeom>
          <a:noFill/>
          <a:ln/>
        </p:spPr>
        <p:txBody>
          <a:bodyPr wrap="square" lIns="0" tIns="0" rIns="0" bIns="0" rtlCol="0" anchor="ctr"/>
          <a:lstStyle/>
          <a:p>
            <a:pPr algn="ctr" indent="0" marL="0">
              <a:buNone/>
            </a:pPr>
            <a:r>
              <a:rPr lang="en-US" sz="1200" b="1" dirty="0">
                <a:solidFill>
                  <a:srgbClr val="006D77"/>
                </a:solidFill>
                <a:latin typeface="Georgia" pitchFamily="34" charset="0"/>
                <a:ea typeface="Georgia" pitchFamily="34" charset="-122"/>
                <a:cs typeface="Georgia" pitchFamily="34" charset="-120"/>
              </a:rPr>
              <a:t>need it</a:t>
            </a:r>
            <a:endParaRPr lang="en-US" sz="1200" dirty="0"/>
          </a:p>
        </p:txBody>
      </p:sp>
      <p:sp>
        <p:nvSpPr>
          <p:cNvPr id="24" name="Shape 22"/>
          <p:cNvSpPr/>
          <p:nvPr/>
        </p:nvSpPr>
        <p:spPr>
          <a:xfrm>
            <a:off x="4626864" y="3968496"/>
            <a:ext cx="1280160" cy="475488"/>
          </a:xfrm>
          <a:prstGeom prst="rect">
            <a:avLst/>
          </a:prstGeom>
          <a:solidFill>
            <a:srgbClr val="FFDDD2"/>
          </a:solidFill>
          <a:ln w="9525">
            <a:solidFill>
              <a:srgbClr val="E29578"/>
            </a:solidFill>
            <a:prstDash val="solid"/>
          </a:ln>
        </p:spPr>
      </p:sp>
      <p:sp>
        <p:nvSpPr>
          <p:cNvPr id="25" name="Text 23"/>
          <p:cNvSpPr/>
          <p:nvPr/>
        </p:nvSpPr>
        <p:spPr>
          <a:xfrm>
            <a:off x="4626864" y="3968496"/>
            <a:ext cx="1280160" cy="475488"/>
          </a:xfrm>
          <a:prstGeom prst="rect">
            <a:avLst/>
          </a:prstGeom>
          <a:noFill/>
          <a:ln/>
        </p:spPr>
        <p:txBody>
          <a:bodyPr wrap="square" lIns="0" tIns="0" rIns="0" bIns="0" rtlCol="0" anchor="ctr"/>
          <a:lstStyle/>
          <a:p>
            <a:pPr algn="ctr" indent="0" marL="0">
              <a:buNone/>
            </a:pPr>
            <a:r>
              <a:rPr lang="en-US" sz="1200" b="1" dirty="0">
                <a:solidFill>
                  <a:srgbClr val="006D77"/>
                </a:solidFill>
                <a:latin typeface="Georgia" pitchFamily="34" charset="0"/>
                <a:ea typeface="Georgia" pitchFamily="34" charset="-122"/>
                <a:cs typeface="Georgia" pitchFamily="34" charset="-120"/>
              </a:rPr>
              <a:t>lesson</a:t>
            </a:r>
            <a:endParaRPr lang="en-US" sz="1200" dirty="0"/>
          </a:p>
        </p:txBody>
      </p:sp>
      <p:sp>
        <p:nvSpPr>
          <p:cNvPr id="26" name="Shape 24"/>
          <p:cNvSpPr/>
          <p:nvPr/>
        </p:nvSpPr>
        <p:spPr>
          <a:xfrm>
            <a:off x="6016752" y="3968496"/>
            <a:ext cx="1280160" cy="475488"/>
          </a:xfrm>
          <a:prstGeom prst="rect">
            <a:avLst/>
          </a:prstGeom>
          <a:solidFill>
            <a:srgbClr val="FFDDD2"/>
          </a:solidFill>
          <a:ln w="9525">
            <a:solidFill>
              <a:srgbClr val="E29578"/>
            </a:solidFill>
            <a:prstDash val="solid"/>
          </a:ln>
        </p:spPr>
      </p:sp>
      <p:sp>
        <p:nvSpPr>
          <p:cNvPr id="27" name="Text 25"/>
          <p:cNvSpPr/>
          <p:nvPr/>
        </p:nvSpPr>
        <p:spPr>
          <a:xfrm>
            <a:off x="6016752" y="3968496"/>
            <a:ext cx="1280160" cy="475488"/>
          </a:xfrm>
          <a:prstGeom prst="rect">
            <a:avLst/>
          </a:prstGeom>
          <a:noFill/>
          <a:ln/>
        </p:spPr>
        <p:txBody>
          <a:bodyPr wrap="square" lIns="0" tIns="0" rIns="0" bIns="0" rtlCol="0" anchor="ctr"/>
          <a:lstStyle/>
          <a:p>
            <a:pPr algn="ctr" indent="0" marL="0">
              <a:buNone/>
            </a:pPr>
            <a:r>
              <a:rPr lang="en-US" sz="1200" b="1" dirty="0">
                <a:solidFill>
                  <a:srgbClr val="006D77"/>
                </a:solidFill>
                <a:latin typeface="Georgia" pitchFamily="34" charset="0"/>
                <a:ea typeface="Georgia" pitchFamily="34" charset="-122"/>
                <a:cs typeface="Georgia" pitchFamily="34" charset="-120"/>
              </a:rPr>
              <a:t>valid</a:t>
            </a:r>
            <a:endParaRPr lang="en-US" sz="1200" dirty="0"/>
          </a:p>
        </p:txBody>
      </p:sp>
      <p:sp>
        <p:nvSpPr>
          <p:cNvPr id="28" name="Shape 26"/>
          <p:cNvSpPr/>
          <p:nvPr/>
        </p:nvSpPr>
        <p:spPr>
          <a:xfrm>
            <a:off x="7406640" y="3968496"/>
            <a:ext cx="1280160" cy="475488"/>
          </a:xfrm>
          <a:prstGeom prst="rect">
            <a:avLst/>
          </a:prstGeom>
          <a:solidFill>
            <a:srgbClr val="FFDDD2"/>
          </a:solidFill>
          <a:ln w="9525">
            <a:solidFill>
              <a:srgbClr val="E29578"/>
            </a:solidFill>
            <a:prstDash val="solid"/>
          </a:ln>
        </p:spPr>
      </p:sp>
      <p:sp>
        <p:nvSpPr>
          <p:cNvPr id="29" name="Text 27"/>
          <p:cNvSpPr/>
          <p:nvPr/>
        </p:nvSpPr>
        <p:spPr>
          <a:xfrm>
            <a:off x="7406640" y="3968496"/>
            <a:ext cx="1280160" cy="475488"/>
          </a:xfrm>
          <a:prstGeom prst="rect">
            <a:avLst/>
          </a:prstGeom>
          <a:noFill/>
          <a:ln/>
        </p:spPr>
        <p:txBody>
          <a:bodyPr wrap="square" lIns="0" tIns="0" rIns="0" bIns="0" rtlCol="0" anchor="ctr"/>
          <a:lstStyle/>
          <a:p>
            <a:pPr algn="ctr" indent="0" marL="0">
              <a:buNone/>
            </a:pPr>
            <a:r>
              <a:rPr lang="en-US" sz="1200" b="1" dirty="0">
                <a:solidFill>
                  <a:srgbClr val="006D77"/>
                </a:solidFill>
                <a:latin typeface="Georgia" pitchFamily="34" charset="0"/>
                <a:ea typeface="Georgia" pitchFamily="34" charset="-122"/>
                <a:cs typeface="Georgia" pitchFamily="34" charset="-120"/>
              </a:rPr>
              <a:t>backend</a:t>
            </a:r>
            <a:endParaRPr lang="en-US" sz="1200" dirty="0"/>
          </a:p>
        </p:txBody>
      </p:sp>
      <p:sp>
        <p:nvSpPr>
          <p:cNvPr id="30" name="Shape 28"/>
          <p:cNvSpPr/>
          <p:nvPr/>
        </p:nvSpPr>
        <p:spPr>
          <a:xfrm>
            <a:off x="8485632" y="4645152"/>
            <a:ext cx="420624" cy="274320"/>
          </a:xfrm>
          <a:prstGeom prst="roundRect">
            <a:avLst>
              <a:gd name="adj" fmla="val 26667"/>
            </a:avLst>
          </a:prstGeom>
          <a:solidFill>
            <a:srgbClr val="006D77"/>
          </a:solidFill>
          <a:ln w="12700">
            <a:solidFill>
              <a:srgbClr val="006D77"/>
            </a:solidFill>
            <a:prstDash val="solid"/>
          </a:ln>
        </p:spPr>
      </p:sp>
      <p:sp>
        <p:nvSpPr>
          <p:cNvPr id="31" name="Text 29"/>
          <p:cNvSpPr/>
          <p:nvPr/>
        </p:nvSpPr>
        <p:spPr>
          <a:xfrm>
            <a:off x="8485632" y="4645152"/>
            <a:ext cx="420624" cy="274320"/>
          </a:xfrm>
          <a:prstGeom prst="rect">
            <a:avLst/>
          </a:prstGeom>
          <a:noFill/>
          <a:ln/>
        </p:spPr>
        <p:txBody>
          <a:bodyPr wrap="square" lIns="0" tIns="0" rIns="0" bIns="0" rtlCol="0" anchor="ctr"/>
          <a:lstStyle/>
          <a:p>
            <a:pPr algn="ctr" indent="0" marL="0">
              <a:buNone/>
            </a:pPr>
            <a:r>
              <a:rPr lang="en-US" sz="1100" dirty="0">
                <a:solidFill>
                  <a:srgbClr val="EDF6F9"/>
                </a:solidFill>
                <a:latin typeface="Calibri" pitchFamily="34" charset="0"/>
                <a:ea typeface="Calibri" pitchFamily="34" charset="-122"/>
                <a:cs typeface="Calibri" pitchFamily="34" charset="-120"/>
              </a:rPr>
              <a:t>2</a:t>
            </a:r>
            <a:endParaRPr lang="en-US" sz="1100" dirty="0"/>
          </a:p>
        </p:txBody>
      </p:sp>
      <p:sp>
        <p:nvSpPr>
          <p:cNvPr id="32" name="Shape 30"/>
          <p:cNvSpPr/>
          <p:nvPr/>
        </p:nvSpPr>
        <p:spPr>
          <a:xfrm>
            <a:off x="457200" y="4754880"/>
            <a:ext cx="7772400" cy="10973"/>
          </a:xfrm>
          <a:prstGeom prst="rect">
            <a:avLst/>
          </a:prstGeom>
          <a:solidFill>
            <a:srgbClr val="83C5BE"/>
          </a:solidFill>
          <a:ln w="12700">
            <a:solidFill>
              <a:srgbClr val="83C5BE"/>
            </a:solidFill>
            <a:prstDash val="solid"/>
          </a:ln>
        </p:spPr>
      </p:sp>
      <p:sp>
        <p:nvSpPr>
          <p:cNvPr id="33" name="Text 31"/>
          <p:cNvSpPr/>
          <p:nvPr/>
        </p:nvSpPr>
        <p:spPr>
          <a:xfrm>
            <a:off x="457200" y="4773168"/>
            <a:ext cx="7772400" cy="219456"/>
          </a:xfrm>
          <a:prstGeom prst="rect">
            <a:avLst/>
          </a:prstGeom>
          <a:noFill/>
          <a:ln/>
        </p:spPr>
        <p:txBody>
          <a:bodyPr wrap="square" lIns="0" tIns="0" rIns="0" bIns="0" rtlCol="0" anchor="ctr"/>
          <a:lstStyle/>
          <a:p>
            <a:pPr algn="l" indent="0" marL="0">
              <a:buNone/>
            </a:pPr>
            <a:r>
              <a:rPr lang="en-US" sz="900" dirty="0">
                <a:solidFill>
                  <a:srgbClr val="006D77">
                    <a:alpha val="55000"/>
                  </a:srgbClr>
                </a:solidFill>
                <a:latin typeface="Calibri" pitchFamily="34" charset="0"/>
                <a:ea typeface="Calibri" pitchFamily="34" charset="-122"/>
                <a:cs typeface="Calibri" pitchFamily="34" charset="-120"/>
              </a:rPr>
              <a:t>Source: https://cs2680.seas.harvard.edu/slides/6_agent_design_3.pdf</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F6F9"/>
        </a:solidFill>
      </p:bgPr>
    </p:bg>
    <p:spTree>
      <p:nvGrpSpPr>
        <p:cNvPr id="1" name=""/>
        <p:cNvGrpSpPr/>
        <p:nvPr/>
      </p:nvGrpSpPr>
      <p:grpSpPr>
        <a:xfrm>
          <a:off x="0" y="0"/>
          <a:ext cx="0" cy="0"/>
          <a:chOff x="0" y="0"/>
          <a:chExt cx="0" cy="0"/>
        </a:xfrm>
      </p:grpSpPr>
      <p:sp>
        <p:nvSpPr>
          <p:cNvPr id="2" name="Text 0"/>
          <p:cNvSpPr/>
          <p:nvPr/>
        </p:nvSpPr>
        <p:spPr>
          <a:xfrm>
            <a:off x="457200" y="310896"/>
            <a:ext cx="8229600" cy="219456"/>
          </a:xfrm>
          <a:prstGeom prst="rect">
            <a:avLst/>
          </a:prstGeom>
          <a:noFill/>
          <a:ln/>
        </p:spPr>
        <p:txBody>
          <a:bodyPr wrap="square" lIns="0" tIns="0" rIns="0" bIns="0" rtlCol="0" anchor="ctr"/>
          <a:lstStyle/>
          <a:p>
            <a:pPr algn="l" indent="0" marL="0">
              <a:buNone/>
            </a:pPr>
            <a:r>
              <a:rPr lang="en-US" sz="1100" spc="140" kern="0" dirty="0">
                <a:solidFill>
                  <a:srgbClr val="E29578"/>
                </a:solidFill>
                <a:latin typeface="Calibri" pitchFamily="34" charset="0"/>
                <a:ea typeface="Calibri" pitchFamily="34" charset="-122"/>
                <a:cs typeface="Calibri" pitchFamily="34" charset="-120"/>
              </a:rPr>
              <a:t>EACH ONE HAS A NAMED DECISION</a:t>
            </a:r>
            <a:endParaRPr lang="en-US" sz="1100" dirty="0"/>
          </a:p>
        </p:txBody>
      </p:sp>
      <p:sp>
        <p:nvSpPr>
          <p:cNvPr id="3" name="Text 1"/>
          <p:cNvSpPr/>
          <p:nvPr/>
        </p:nvSpPr>
        <p:spPr>
          <a:xfrm>
            <a:off x="457200" y="548640"/>
            <a:ext cx="8229600" cy="566928"/>
          </a:xfrm>
          <a:prstGeom prst="rect">
            <a:avLst/>
          </a:prstGeom>
          <a:noFill/>
          <a:ln/>
        </p:spPr>
        <p:txBody>
          <a:bodyPr wrap="square" lIns="0" tIns="0" rIns="0" bIns="0" rtlCol="0" anchor="ctr">
            <a:normAutofit/>
          </a:bodyPr>
          <a:lstStyle/>
          <a:p>
            <a:pPr algn="l" indent="0" marL="0">
              <a:buNone/>
            </a:pPr>
            <a:r>
              <a:rPr lang="en-US" sz="2700" b="1" dirty="0">
                <a:solidFill>
                  <a:srgbClr val="006D77"/>
                </a:solidFill>
                <a:latin typeface="Georgia" pitchFamily="34" charset="0"/>
                <a:ea typeface="Georgia" pitchFamily="34" charset="-122"/>
                <a:cs typeface="Georgia" pitchFamily="34" charset="-120"/>
              </a:rPr>
              <a:t>Memory design is six policy questions</a:t>
            </a:r>
            <a:endParaRPr lang="en-US" sz="2700" dirty="0"/>
          </a:p>
        </p:txBody>
      </p:sp>
      <p:sp>
        <p:nvSpPr>
          <p:cNvPr id="4" name="Shape 2"/>
          <p:cNvSpPr/>
          <p:nvPr/>
        </p:nvSpPr>
        <p:spPr>
          <a:xfrm>
            <a:off x="457200" y="1225296"/>
            <a:ext cx="3977640" cy="91440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5" name="Shape 3"/>
          <p:cNvSpPr/>
          <p:nvPr/>
        </p:nvSpPr>
        <p:spPr>
          <a:xfrm>
            <a:off x="457200" y="1225296"/>
            <a:ext cx="50292" cy="914400"/>
          </a:xfrm>
          <a:prstGeom prst="rect">
            <a:avLst/>
          </a:prstGeom>
          <a:solidFill>
            <a:srgbClr val="E29578"/>
          </a:solidFill>
          <a:ln w="12700">
            <a:solidFill>
              <a:srgbClr val="E29578"/>
            </a:solidFill>
            <a:prstDash val="solid"/>
          </a:ln>
        </p:spPr>
      </p:sp>
      <p:sp>
        <p:nvSpPr>
          <p:cNvPr id="6" name="Text 4"/>
          <p:cNvSpPr/>
          <p:nvPr/>
        </p:nvSpPr>
        <p:spPr>
          <a:xfrm>
            <a:off x="640080" y="1371600"/>
            <a:ext cx="3648456" cy="274320"/>
          </a:xfrm>
          <a:prstGeom prst="rect">
            <a:avLst/>
          </a:prstGeom>
          <a:noFill/>
          <a:ln/>
        </p:spPr>
        <p:txBody>
          <a:bodyPr wrap="square" lIns="0" tIns="0" rIns="0" bIns="0" rtlCol="0" anchor="ctr"/>
          <a:lstStyle/>
          <a:p>
            <a:pPr algn="l" indent="0" marL="0">
              <a:buNone/>
            </a:pPr>
            <a:r>
              <a:rPr lang="en-US" sz="1500" b="1" dirty="0">
                <a:solidFill>
                  <a:srgbClr val="006D77"/>
                </a:solidFill>
                <a:latin typeface="Georgia" pitchFamily="34" charset="0"/>
                <a:ea typeface="Georgia" pitchFamily="34" charset="-122"/>
                <a:cs typeface="Georgia" pitchFamily="34" charset="-120"/>
              </a:rPr>
              <a:t>Keeping?</a:t>
            </a:r>
            <a:endParaRPr lang="en-US" sz="1500" dirty="0"/>
          </a:p>
        </p:txBody>
      </p:sp>
      <p:sp>
        <p:nvSpPr>
          <p:cNvPr id="7" name="Shape 5"/>
          <p:cNvSpPr/>
          <p:nvPr/>
        </p:nvSpPr>
        <p:spPr>
          <a:xfrm>
            <a:off x="640080" y="1719072"/>
            <a:ext cx="2011680" cy="347472"/>
          </a:xfrm>
          <a:prstGeom prst="rect">
            <a:avLst/>
          </a:prstGeom>
          <a:solidFill>
            <a:srgbClr val="E29578"/>
          </a:solidFill>
          <a:ln w="12700">
            <a:solidFill>
              <a:srgbClr val="E29578"/>
            </a:solidFill>
            <a:prstDash val="solid"/>
          </a:ln>
        </p:spPr>
      </p:sp>
      <p:sp>
        <p:nvSpPr>
          <p:cNvPr id="8" name="Text 6"/>
          <p:cNvSpPr/>
          <p:nvPr/>
        </p:nvSpPr>
        <p:spPr>
          <a:xfrm>
            <a:off x="640080" y="1719072"/>
            <a:ext cx="2011680" cy="347472"/>
          </a:xfrm>
          <a:prstGeom prst="rect">
            <a:avLst/>
          </a:prstGeom>
          <a:noFill/>
          <a:ln/>
        </p:spPr>
        <p:txBody>
          <a:bodyPr wrap="square" lIns="0" tIns="0" rIns="0" bIns="0" rtlCol="0" anchor="ctr"/>
          <a:lstStyle/>
          <a:p>
            <a:pPr algn="ctr" indent="0" marL="0">
              <a:buNone/>
            </a:pPr>
            <a:r>
              <a:rPr lang="en-US" sz="1050" dirty="0">
                <a:solidFill>
                  <a:srgbClr val="006D77"/>
                </a:solidFill>
                <a:latin typeface="Calibri" pitchFamily="34" charset="0"/>
                <a:ea typeface="Calibri" pitchFamily="34" charset="-122"/>
                <a:cs typeface="Calibri" pitchFamily="34" charset="-120"/>
              </a:rPr>
              <a:t>WRITE OR SKIP</a:t>
            </a:r>
            <a:endParaRPr lang="en-US" sz="1050" dirty="0"/>
          </a:p>
        </p:txBody>
      </p:sp>
      <p:sp>
        <p:nvSpPr>
          <p:cNvPr id="9" name="Shape 7"/>
          <p:cNvSpPr/>
          <p:nvPr/>
        </p:nvSpPr>
        <p:spPr>
          <a:xfrm>
            <a:off x="4709160" y="1225296"/>
            <a:ext cx="3977640" cy="91440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10" name="Shape 8"/>
          <p:cNvSpPr/>
          <p:nvPr/>
        </p:nvSpPr>
        <p:spPr>
          <a:xfrm>
            <a:off x="4709160" y="1225296"/>
            <a:ext cx="50292" cy="914400"/>
          </a:xfrm>
          <a:prstGeom prst="rect">
            <a:avLst/>
          </a:prstGeom>
          <a:solidFill>
            <a:srgbClr val="E29578"/>
          </a:solidFill>
          <a:ln w="12700">
            <a:solidFill>
              <a:srgbClr val="E29578"/>
            </a:solidFill>
            <a:prstDash val="solid"/>
          </a:ln>
        </p:spPr>
      </p:sp>
      <p:sp>
        <p:nvSpPr>
          <p:cNvPr id="11" name="Text 9"/>
          <p:cNvSpPr/>
          <p:nvPr/>
        </p:nvSpPr>
        <p:spPr>
          <a:xfrm>
            <a:off x="4892040" y="1371600"/>
            <a:ext cx="3648456" cy="274320"/>
          </a:xfrm>
          <a:prstGeom prst="rect">
            <a:avLst/>
          </a:prstGeom>
          <a:noFill/>
          <a:ln/>
        </p:spPr>
        <p:txBody>
          <a:bodyPr wrap="square" lIns="0" tIns="0" rIns="0" bIns="0" rtlCol="0" anchor="ctr"/>
          <a:lstStyle/>
          <a:p>
            <a:pPr algn="l" indent="0" marL="0">
              <a:buNone/>
            </a:pPr>
            <a:r>
              <a:rPr lang="en-US" sz="1500" b="1" dirty="0">
                <a:solidFill>
                  <a:srgbClr val="006D77"/>
                </a:solidFill>
                <a:latin typeface="Georgia" pitchFamily="34" charset="0"/>
                <a:ea typeface="Georgia" pitchFamily="34" charset="-122"/>
                <a:cs typeface="Georgia" pitchFamily="34" charset="-120"/>
              </a:rPr>
              <a:t>Format?</a:t>
            </a:r>
            <a:endParaRPr lang="en-US" sz="1500" dirty="0"/>
          </a:p>
        </p:txBody>
      </p:sp>
      <p:sp>
        <p:nvSpPr>
          <p:cNvPr id="12" name="Shape 10"/>
          <p:cNvSpPr/>
          <p:nvPr/>
        </p:nvSpPr>
        <p:spPr>
          <a:xfrm>
            <a:off x="4892040" y="1719072"/>
            <a:ext cx="2011680" cy="347472"/>
          </a:xfrm>
          <a:prstGeom prst="rect">
            <a:avLst/>
          </a:prstGeom>
          <a:solidFill>
            <a:srgbClr val="E29578"/>
          </a:solidFill>
          <a:ln w="12700">
            <a:solidFill>
              <a:srgbClr val="E29578"/>
            </a:solidFill>
            <a:prstDash val="solid"/>
          </a:ln>
        </p:spPr>
      </p:sp>
      <p:sp>
        <p:nvSpPr>
          <p:cNvPr id="13" name="Text 11"/>
          <p:cNvSpPr/>
          <p:nvPr/>
        </p:nvSpPr>
        <p:spPr>
          <a:xfrm>
            <a:off x="4892040" y="1719072"/>
            <a:ext cx="2011680" cy="347472"/>
          </a:xfrm>
          <a:prstGeom prst="rect">
            <a:avLst/>
          </a:prstGeom>
          <a:noFill/>
          <a:ln/>
        </p:spPr>
        <p:txBody>
          <a:bodyPr wrap="square" lIns="0" tIns="0" rIns="0" bIns="0" rtlCol="0" anchor="ctr"/>
          <a:lstStyle/>
          <a:p>
            <a:pPr algn="ctr" indent="0" marL="0">
              <a:buNone/>
            </a:pPr>
            <a:r>
              <a:rPr lang="en-US" sz="1050" dirty="0">
                <a:solidFill>
                  <a:srgbClr val="006D77"/>
                </a:solidFill>
                <a:latin typeface="Calibri" pitchFamily="34" charset="0"/>
                <a:ea typeface="Calibri" pitchFamily="34" charset="-122"/>
                <a:cs typeface="Calibri" pitchFamily="34" charset="-120"/>
              </a:rPr>
              <a:t>ENCODE / ORGANIZE</a:t>
            </a:r>
            <a:endParaRPr lang="en-US" sz="1050" dirty="0"/>
          </a:p>
        </p:txBody>
      </p:sp>
      <p:sp>
        <p:nvSpPr>
          <p:cNvPr id="14" name="Shape 12"/>
          <p:cNvSpPr/>
          <p:nvPr/>
        </p:nvSpPr>
        <p:spPr>
          <a:xfrm>
            <a:off x="457200" y="2231136"/>
            <a:ext cx="3977640" cy="91440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15" name="Shape 13"/>
          <p:cNvSpPr/>
          <p:nvPr/>
        </p:nvSpPr>
        <p:spPr>
          <a:xfrm>
            <a:off x="457200" y="2231136"/>
            <a:ext cx="50292" cy="914400"/>
          </a:xfrm>
          <a:prstGeom prst="rect">
            <a:avLst/>
          </a:prstGeom>
          <a:solidFill>
            <a:srgbClr val="E29578"/>
          </a:solidFill>
          <a:ln w="12700">
            <a:solidFill>
              <a:srgbClr val="E29578"/>
            </a:solidFill>
            <a:prstDash val="solid"/>
          </a:ln>
        </p:spPr>
      </p:sp>
      <p:sp>
        <p:nvSpPr>
          <p:cNvPr id="16" name="Text 14"/>
          <p:cNvSpPr/>
          <p:nvPr/>
        </p:nvSpPr>
        <p:spPr>
          <a:xfrm>
            <a:off x="640080" y="2377440"/>
            <a:ext cx="3648456" cy="274320"/>
          </a:xfrm>
          <a:prstGeom prst="rect">
            <a:avLst/>
          </a:prstGeom>
          <a:noFill/>
          <a:ln/>
        </p:spPr>
        <p:txBody>
          <a:bodyPr wrap="square" lIns="0" tIns="0" rIns="0" bIns="0" rtlCol="0" anchor="ctr"/>
          <a:lstStyle/>
          <a:p>
            <a:pPr algn="l" indent="0" marL="0">
              <a:buNone/>
            </a:pPr>
            <a:r>
              <a:rPr lang="en-US" sz="1500" b="1" dirty="0">
                <a:solidFill>
                  <a:srgbClr val="006D77"/>
                </a:solidFill>
                <a:latin typeface="Georgia" pitchFamily="34" charset="0"/>
                <a:ea typeface="Georgia" pitchFamily="34" charset="-122"/>
                <a:cs typeface="Georgia" pitchFamily="34" charset="-120"/>
              </a:rPr>
              <a:t>Need it?</a:t>
            </a:r>
            <a:endParaRPr lang="en-US" sz="1500" dirty="0"/>
          </a:p>
        </p:txBody>
      </p:sp>
      <p:sp>
        <p:nvSpPr>
          <p:cNvPr id="17" name="Shape 15"/>
          <p:cNvSpPr/>
          <p:nvPr/>
        </p:nvSpPr>
        <p:spPr>
          <a:xfrm>
            <a:off x="640080" y="2724912"/>
            <a:ext cx="2011680" cy="347472"/>
          </a:xfrm>
          <a:prstGeom prst="rect">
            <a:avLst/>
          </a:prstGeom>
          <a:solidFill>
            <a:srgbClr val="E29578"/>
          </a:solidFill>
          <a:ln w="12700">
            <a:solidFill>
              <a:srgbClr val="E29578"/>
            </a:solidFill>
            <a:prstDash val="solid"/>
          </a:ln>
        </p:spPr>
      </p:sp>
      <p:sp>
        <p:nvSpPr>
          <p:cNvPr id="18" name="Text 16"/>
          <p:cNvSpPr/>
          <p:nvPr/>
        </p:nvSpPr>
        <p:spPr>
          <a:xfrm>
            <a:off x="640080" y="2724912"/>
            <a:ext cx="2011680" cy="347472"/>
          </a:xfrm>
          <a:prstGeom prst="rect">
            <a:avLst/>
          </a:prstGeom>
          <a:noFill/>
          <a:ln/>
        </p:spPr>
        <p:txBody>
          <a:bodyPr wrap="square" lIns="0" tIns="0" rIns="0" bIns="0" rtlCol="0" anchor="ctr"/>
          <a:lstStyle/>
          <a:p>
            <a:pPr algn="ctr" indent="0" marL="0">
              <a:buNone/>
            </a:pPr>
            <a:r>
              <a:rPr lang="en-US" sz="1050" dirty="0">
                <a:solidFill>
                  <a:srgbClr val="006D77"/>
                </a:solidFill>
                <a:latin typeface="Calibri" pitchFamily="34" charset="0"/>
                <a:ea typeface="Calibri" pitchFamily="34" charset="-122"/>
                <a:cs typeface="Calibri" pitchFamily="34" charset="-120"/>
              </a:rPr>
              <a:t>RETRIEVE</a:t>
            </a:r>
            <a:endParaRPr lang="en-US" sz="1050" dirty="0"/>
          </a:p>
        </p:txBody>
      </p:sp>
      <p:sp>
        <p:nvSpPr>
          <p:cNvPr id="19" name="Shape 17"/>
          <p:cNvSpPr/>
          <p:nvPr/>
        </p:nvSpPr>
        <p:spPr>
          <a:xfrm>
            <a:off x="4709160" y="2231136"/>
            <a:ext cx="3977640" cy="91440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20" name="Shape 18"/>
          <p:cNvSpPr/>
          <p:nvPr/>
        </p:nvSpPr>
        <p:spPr>
          <a:xfrm>
            <a:off x="4709160" y="2231136"/>
            <a:ext cx="50292" cy="914400"/>
          </a:xfrm>
          <a:prstGeom prst="rect">
            <a:avLst/>
          </a:prstGeom>
          <a:solidFill>
            <a:srgbClr val="E29578"/>
          </a:solidFill>
          <a:ln w="12700">
            <a:solidFill>
              <a:srgbClr val="E29578"/>
            </a:solidFill>
            <a:prstDash val="solid"/>
          </a:ln>
        </p:spPr>
      </p:sp>
      <p:sp>
        <p:nvSpPr>
          <p:cNvPr id="21" name="Text 19"/>
          <p:cNvSpPr/>
          <p:nvPr/>
        </p:nvSpPr>
        <p:spPr>
          <a:xfrm>
            <a:off x="4892040" y="2377440"/>
            <a:ext cx="3648456" cy="274320"/>
          </a:xfrm>
          <a:prstGeom prst="rect">
            <a:avLst/>
          </a:prstGeom>
          <a:noFill/>
          <a:ln/>
        </p:spPr>
        <p:txBody>
          <a:bodyPr wrap="square" lIns="0" tIns="0" rIns="0" bIns="0" rtlCol="0" anchor="ctr"/>
          <a:lstStyle/>
          <a:p>
            <a:pPr algn="l" indent="0" marL="0">
              <a:buNone/>
            </a:pPr>
            <a:r>
              <a:rPr lang="en-US" sz="1500" b="1" dirty="0">
                <a:solidFill>
                  <a:srgbClr val="006D77"/>
                </a:solidFill>
                <a:latin typeface="Georgia" pitchFamily="34" charset="0"/>
                <a:ea typeface="Georgia" pitchFamily="34" charset="-122"/>
                <a:cs typeface="Georgia" pitchFamily="34" charset="-120"/>
              </a:rPr>
              <a:t>Lesson?</a:t>
            </a:r>
            <a:endParaRPr lang="en-US" sz="1500" dirty="0"/>
          </a:p>
        </p:txBody>
      </p:sp>
      <p:sp>
        <p:nvSpPr>
          <p:cNvPr id="22" name="Shape 20"/>
          <p:cNvSpPr/>
          <p:nvPr/>
        </p:nvSpPr>
        <p:spPr>
          <a:xfrm>
            <a:off x="4892040" y="2724912"/>
            <a:ext cx="2011680" cy="347472"/>
          </a:xfrm>
          <a:prstGeom prst="rect">
            <a:avLst/>
          </a:prstGeom>
          <a:solidFill>
            <a:srgbClr val="E29578"/>
          </a:solidFill>
          <a:ln w="12700">
            <a:solidFill>
              <a:srgbClr val="E29578"/>
            </a:solidFill>
            <a:prstDash val="solid"/>
          </a:ln>
        </p:spPr>
      </p:sp>
      <p:sp>
        <p:nvSpPr>
          <p:cNvPr id="23" name="Text 21"/>
          <p:cNvSpPr/>
          <p:nvPr/>
        </p:nvSpPr>
        <p:spPr>
          <a:xfrm>
            <a:off x="4892040" y="2724912"/>
            <a:ext cx="2011680" cy="347472"/>
          </a:xfrm>
          <a:prstGeom prst="rect">
            <a:avLst/>
          </a:prstGeom>
          <a:noFill/>
          <a:ln/>
        </p:spPr>
        <p:txBody>
          <a:bodyPr wrap="square" lIns="0" tIns="0" rIns="0" bIns="0" rtlCol="0" anchor="ctr"/>
          <a:lstStyle/>
          <a:p>
            <a:pPr algn="ctr" indent="0" marL="0">
              <a:buNone/>
            </a:pPr>
            <a:r>
              <a:rPr lang="en-US" sz="1050" dirty="0">
                <a:solidFill>
                  <a:srgbClr val="006D77"/>
                </a:solidFill>
                <a:latin typeface="Calibri" pitchFamily="34" charset="0"/>
                <a:ea typeface="Calibri" pitchFamily="34" charset="-122"/>
                <a:cs typeface="Calibri" pitchFamily="34" charset="-120"/>
              </a:rPr>
              <a:t>REFLECT / GENERALIZE</a:t>
            </a:r>
            <a:endParaRPr lang="en-US" sz="1050" dirty="0"/>
          </a:p>
        </p:txBody>
      </p:sp>
      <p:sp>
        <p:nvSpPr>
          <p:cNvPr id="24" name="Shape 22"/>
          <p:cNvSpPr/>
          <p:nvPr/>
        </p:nvSpPr>
        <p:spPr>
          <a:xfrm>
            <a:off x="457200" y="3236976"/>
            <a:ext cx="3977640" cy="91440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25" name="Shape 23"/>
          <p:cNvSpPr/>
          <p:nvPr/>
        </p:nvSpPr>
        <p:spPr>
          <a:xfrm>
            <a:off x="457200" y="3236976"/>
            <a:ext cx="50292" cy="914400"/>
          </a:xfrm>
          <a:prstGeom prst="rect">
            <a:avLst/>
          </a:prstGeom>
          <a:solidFill>
            <a:srgbClr val="E29578"/>
          </a:solidFill>
          <a:ln w="12700">
            <a:solidFill>
              <a:srgbClr val="E29578"/>
            </a:solidFill>
            <a:prstDash val="solid"/>
          </a:ln>
        </p:spPr>
      </p:sp>
      <p:sp>
        <p:nvSpPr>
          <p:cNvPr id="26" name="Text 24"/>
          <p:cNvSpPr/>
          <p:nvPr/>
        </p:nvSpPr>
        <p:spPr>
          <a:xfrm>
            <a:off x="640080" y="3383280"/>
            <a:ext cx="3648456" cy="274320"/>
          </a:xfrm>
          <a:prstGeom prst="rect">
            <a:avLst/>
          </a:prstGeom>
          <a:noFill/>
          <a:ln/>
        </p:spPr>
        <p:txBody>
          <a:bodyPr wrap="square" lIns="0" tIns="0" rIns="0" bIns="0" rtlCol="0" anchor="ctr"/>
          <a:lstStyle/>
          <a:p>
            <a:pPr algn="l" indent="0" marL="0">
              <a:buNone/>
            </a:pPr>
            <a:r>
              <a:rPr lang="en-US" sz="1500" b="1" dirty="0">
                <a:solidFill>
                  <a:srgbClr val="006D77"/>
                </a:solidFill>
                <a:latin typeface="Georgia" pitchFamily="34" charset="0"/>
                <a:ea typeface="Georgia" pitchFamily="34" charset="-122"/>
                <a:cs typeface="Georgia" pitchFamily="34" charset="-120"/>
              </a:rPr>
              <a:t>Valid?</a:t>
            </a:r>
            <a:endParaRPr lang="en-US" sz="1500" dirty="0"/>
          </a:p>
        </p:txBody>
      </p:sp>
      <p:sp>
        <p:nvSpPr>
          <p:cNvPr id="27" name="Shape 25"/>
          <p:cNvSpPr/>
          <p:nvPr/>
        </p:nvSpPr>
        <p:spPr>
          <a:xfrm>
            <a:off x="640080" y="3730752"/>
            <a:ext cx="2011680" cy="347472"/>
          </a:xfrm>
          <a:prstGeom prst="rect">
            <a:avLst/>
          </a:prstGeom>
          <a:solidFill>
            <a:srgbClr val="E29578"/>
          </a:solidFill>
          <a:ln w="12700">
            <a:solidFill>
              <a:srgbClr val="E29578"/>
            </a:solidFill>
            <a:prstDash val="solid"/>
          </a:ln>
        </p:spPr>
      </p:sp>
      <p:sp>
        <p:nvSpPr>
          <p:cNvPr id="28" name="Text 26"/>
          <p:cNvSpPr/>
          <p:nvPr/>
        </p:nvSpPr>
        <p:spPr>
          <a:xfrm>
            <a:off x="640080" y="3730752"/>
            <a:ext cx="2011680" cy="347472"/>
          </a:xfrm>
          <a:prstGeom prst="rect">
            <a:avLst/>
          </a:prstGeom>
          <a:noFill/>
          <a:ln/>
        </p:spPr>
        <p:txBody>
          <a:bodyPr wrap="square" lIns="0" tIns="0" rIns="0" bIns="0" rtlCol="0" anchor="ctr"/>
          <a:lstStyle/>
          <a:p>
            <a:pPr algn="ctr" indent="0" marL="0">
              <a:buNone/>
            </a:pPr>
            <a:r>
              <a:rPr lang="en-US" sz="1050" dirty="0">
                <a:solidFill>
                  <a:srgbClr val="006D77"/>
                </a:solidFill>
                <a:latin typeface="Calibri" pitchFamily="34" charset="0"/>
                <a:ea typeface="Calibri" pitchFamily="34" charset="-122"/>
                <a:cs typeface="Calibri" pitchFamily="34" charset="-120"/>
              </a:rPr>
              <a:t>KEEP / UPDATE / DELETE</a:t>
            </a:r>
            <a:endParaRPr lang="en-US" sz="1050" dirty="0"/>
          </a:p>
        </p:txBody>
      </p:sp>
      <p:sp>
        <p:nvSpPr>
          <p:cNvPr id="29" name="Shape 27"/>
          <p:cNvSpPr/>
          <p:nvPr/>
        </p:nvSpPr>
        <p:spPr>
          <a:xfrm>
            <a:off x="4709160" y="3236976"/>
            <a:ext cx="3977640" cy="91440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30" name="Shape 28"/>
          <p:cNvSpPr/>
          <p:nvPr/>
        </p:nvSpPr>
        <p:spPr>
          <a:xfrm>
            <a:off x="4709160" y="3236976"/>
            <a:ext cx="50292" cy="914400"/>
          </a:xfrm>
          <a:prstGeom prst="rect">
            <a:avLst/>
          </a:prstGeom>
          <a:solidFill>
            <a:srgbClr val="E29578"/>
          </a:solidFill>
          <a:ln w="12700">
            <a:solidFill>
              <a:srgbClr val="E29578"/>
            </a:solidFill>
            <a:prstDash val="solid"/>
          </a:ln>
        </p:spPr>
      </p:sp>
      <p:sp>
        <p:nvSpPr>
          <p:cNvPr id="31" name="Text 29"/>
          <p:cNvSpPr/>
          <p:nvPr/>
        </p:nvSpPr>
        <p:spPr>
          <a:xfrm>
            <a:off x="4892040" y="3383280"/>
            <a:ext cx="3648456" cy="274320"/>
          </a:xfrm>
          <a:prstGeom prst="rect">
            <a:avLst/>
          </a:prstGeom>
          <a:noFill/>
          <a:ln/>
        </p:spPr>
        <p:txBody>
          <a:bodyPr wrap="square" lIns="0" tIns="0" rIns="0" bIns="0" rtlCol="0" anchor="ctr"/>
          <a:lstStyle/>
          <a:p>
            <a:pPr algn="l" indent="0" marL="0">
              <a:buNone/>
            </a:pPr>
            <a:r>
              <a:rPr lang="en-US" sz="1500" b="1" dirty="0">
                <a:solidFill>
                  <a:srgbClr val="006D77"/>
                </a:solidFill>
                <a:latin typeface="Georgia" pitchFamily="34" charset="0"/>
                <a:ea typeface="Georgia" pitchFamily="34" charset="-122"/>
                <a:cs typeface="Georgia" pitchFamily="34" charset="-120"/>
              </a:rPr>
              <a:t>Backend?</a:t>
            </a:r>
            <a:endParaRPr lang="en-US" sz="1500" dirty="0"/>
          </a:p>
        </p:txBody>
      </p:sp>
      <p:sp>
        <p:nvSpPr>
          <p:cNvPr id="32" name="Shape 30"/>
          <p:cNvSpPr/>
          <p:nvPr/>
        </p:nvSpPr>
        <p:spPr>
          <a:xfrm>
            <a:off x="4892040" y="3730752"/>
            <a:ext cx="2011680" cy="347472"/>
          </a:xfrm>
          <a:prstGeom prst="rect">
            <a:avLst/>
          </a:prstGeom>
          <a:solidFill>
            <a:srgbClr val="E29578"/>
          </a:solidFill>
          <a:ln w="12700">
            <a:solidFill>
              <a:srgbClr val="E29578"/>
            </a:solidFill>
            <a:prstDash val="solid"/>
          </a:ln>
        </p:spPr>
      </p:sp>
      <p:sp>
        <p:nvSpPr>
          <p:cNvPr id="33" name="Text 31"/>
          <p:cNvSpPr/>
          <p:nvPr/>
        </p:nvSpPr>
        <p:spPr>
          <a:xfrm>
            <a:off x="4892040" y="3730752"/>
            <a:ext cx="2011680" cy="347472"/>
          </a:xfrm>
          <a:prstGeom prst="rect">
            <a:avLst/>
          </a:prstGeom>
          <a:noFill/>
          <a:ln/>
        </p:spPr>
        <p:txBody>
          <a:bodyPr wrap="square" lIns="0" tIns="0" rIns="0" bIns="0" rtlCol="0" anchor="ctr"/>
          <a:lstStyle/>
          <a:p>
            <a:pPr algn="ctr" indent="0" marL="0">
              <a:buNone/>
            </a:pPr>
            <a:r>
              <a:rPr lang="en-US" sz="1050" dirty="0">
                <a:solidFill>
                  <a:srgbClr val="006D77"/>
                </a:solidFill>
                <a:latin typeface="Calibri" pitchFamily="34" charset="0"/>
                <a:ea typeface="Calibri" pitchFamily="34" charset="-122"/>
                <a:cs typeface="Calibri" pitchFamily="34" charset="-120"/>
              </a:rPr>
              <a:t>STORE</a:t>
            </a:r>
            <a:endParaRPr lang="en-US" sz="1050" dirty="0"/>
          </a:p>
        </p:txBody>
      </p:sp>
      <p:sp>
        <p:nvSpPr>
          <p:cNvPr id="34" name="Text 32"/>
          <p:cNvSpPr/>
          <p:nvPr/>
        </p:nvSpPr>
        <p:spPr>
          <a:xfrm>
            <a:off x="457200" y="4279392"/>
            <a:ext cx="8229600" cy="274320"/>
          </a:xfrm>
          <a:prstGeom prst="rect">
            <a:avLst/>
          </a:prstGeom>
          <a:noFill/>
          <a:ln/>
        </p:spPr>
        <p:txBody>
          <a:bodyPr wrap="square" lIns="0" tIns="0" rIns="0" bIns="0" rtlCol="0" anchor="ctr"/>
          <a:lstStyle/>
          <a:p>
            <a:pPr algn="l" indent="0" marL="0">
              <a:buNone/>
            </a:pPr>
            <a:r>
              <a:rPr lang="en-US" sz="1100" dirty="0">
                <a:solidFill>
                  <a:srgbClr val="006D77"/>
                </a:solidFill>
                <a:latin typeface="Calibri" pitchFamily="34" charset="0"/>
                <a:ea typeface="Calibri" pitchFamily="34" charset="-122"/>
                <a:cs typeface="Calibri" pitchFamily="34" charset="-120"/>
              </a:rPr>
              <a:t>The deck reuses this navigation on every memory slide, so the designer always sees the whole policy space.</a:t>
            </a:r>
            <a:endParaRPr lang="en-US" sz="1100" dirty="0"/>
          </a:p>
        </p:txBody>
      </p:sp>
      <p:sp>
        <p:nvSpPr>
          <p:cNvPr id="35" name="Shape 33"/>
          <p:cNvSpPr/>
          <p:nvPr/>
        </p:nvSpPr>
        <p:spPr>
          <a:xfrm>
            <a:off x="8485632" y="4645152"/>
            <a:ext cx="420624" cy="274320"/>
          </a:xfrm>
          <a:prstGeom prst="roundRect">
            <a:avLst>
              <a:gd name="adj" fmla="val 26667"/>
            </a:avLst>
          </a:prstGeom>
          <a:solidFill>
            <a:srgbClr val="006D77"/>
          </a:solidFill>
          <a:ln w="12700">
            <a:solidFill>
              <a:srgbClr val="006D77"/>
            </a:solidFill>
            <a:prstDash val="solid"/>
          </a:ln>
        </p:spPr>
      </p:sp>
      <p:sp>
        <p:nvSpPr>
          <p:cNvPr id="36" name="Text 34"/>
          <p:cNvSpPr/>
          <p:nvPr/>
        </p:nvSpPr>
        <p:spPr>
          <a:xfrm>
            <a:off x="8485632" y="4645152"/>
            <a:ext cx="420624" cy="274320"/>
          </a:xfrm>
          <a:prstGeom prst="rect">
            <a:avLst/>
          </a:prstGeom>
          <a:noFill/>
          <a:ln/>
        </p:spPr>
        <p:txBody>
          <a:bodyPr wrap="square" lIns="0" tIns="0" rIns="0" bIns="0" rtlCol="0" anchor="ctr"/>
          <a:lstStyle/>
          <a:p>
            <a:pPr algn="ctr" indent="0" marL="0">
              <a:buNone/>
            </a:pPr>
            <a:r>
              <a:rPr lang="en-US" sz="1100" dirty="0">
                <a:solidFill>
                  <a:srgbClr val="EDF6F9"/>
                </a:solidFill>
                <a:latin typeface="Calibri" pitchFamily="34" charset="0"/>
                <a:ea typeface="Calibri" pitchFamily="34" charset="-122"/>
                <a:cs typeface="Calibri" pitchFamily="34" charset="-120"/>
              </a:rPr>
              <a:t>3</a:t>
            </a:r>
            <a:endParaRPr lang="en-US" sz="1100" dirty="0"/>
          </a:p>
        </p:txBody>
      </p:sp>
      <p:sp>
        <p:nvSpPr>
          <p:cNvPr id="37" name="Shape 35"/>
          <p:cNvSpPr/>
          <p:nvPr/>
        </p:nvSpPr>
        <p:spPr>
          <a:xfrm>
            <a:off x="457200" y="4754880"/>
            <a:ext cx="7772400" cy="10973"/>
          </a:xfrm>
          <a:prstGeom prst="rect">
            <a:avLst/>
          </a:prstGeom>
          <a:solidFill>
            <a:srgbClr val="83C5BE"/>
          </a:solidFill>
          <a:ln w="12700">
            <a:solidFill>
              <a:srgbClr val="83C5BE"/>
            </a:solidFill>
            <a:prstDash val="solid"/>
          </a:ln>
        </p:spPr>
      </p:sp>
      <p:sp>
        <p:nvSpPr>
          <p:cNvPr id="38" name="Text 36"/>
          <p:cNvSpPr/>
          <p:nvPr/>
        </p:nvSpPr>
        <p:spPr>
          <a:xfrm>
            <a:off x="457200" y="4773168"/>
            <a:ext cx="7772400" cy="219456"/>
          </a:xfrm>
          <a:prstGeom prst="rect">
            <a:avLst/>
          </a:prstGeom>
          <a:noFill/>
          <a:ln/>
        </p:spPr>
        <p:txBody>
          <a:bodyPr wrap="square" lIns="0" tIns="0" rIns="0" bIns="0" rtlCol="0" anchor="ctr"/>
          <a:lstStyle/>
          <a:p>
            <a:pPr algn="l" indent="0" marL="0">
              <a:buNone/>
            </a:pPr>
            <a:r>
              <a:rPr lang="en-US" sz="900" dirty="0">
                <a:solidFill>
                  <a:srgbClr val="006D77">
                    <a:alpha val="55000"/>
                  </a:srgbClr>
                </a:solidFill>
                <a:latin typeface="Calibri" pitchFamily="34" charset="0"/>
                <a:ea typeface="Calibri" pitchFamily="34" charset="-122"/>
                <a:cs typeface="Calibri" pitchFamily="34" charset="-120"/>
              </a:rPr>
              <a:t>Source: https://cs2680.seas.harvard.edu/slides/6_agent_design_3.pdf</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F6F9"/>
        </a:solidFill>
      </p:bgPr>
    </p:bg>
    <p:spTree>
      <p:nvGrpSpPr>
        <p:cNvPr id="1" name=""/>
        <p:cNvGrpSpPr/>
        <p:nvPr/>
      </p:nvGrpSpPr>
      <p:grpSpPr>
        <a:xfrm>
          <a:off x="0" y="0"/>
          <a:ext cx="0" cy="0"/>
          <a:chOff x="0" y="0"/>
          <a:chExt cx="0" cy="0"/>
        </a:xfrm>
      </p:grpSpPr>
      <p:sp>
        <p:nvSpPr>
          <p:cNvPr id="2" name="Text 0"/>
          <p:cNvSpPr/>
          <p:nvPr/>
        </p:nvSpPr>
        <p:spPr>
          <a:xfrm>
            <a:off x="457200" y="310896"/>
            <a:ext cx="8229600" cy="219456"/>
          </a:xfrm>
          <a:prstGeom prst="rect">
            <a:avLst/>
          </a:prstGeom>
          <a:noFill/>
          <a:ln/>
        </p:spPr>
        <p:txBody>
          <a:bodyPr wrap="square" lIns="0" tIns="0" rIns="0" bIns="0" rtlCol="0" anchor="ctr"/>
          <a:lstStyle/>
          <a:p>
            <a:pPr algn="l" indent="0" marL="0">
              <a:buNone/>
            </a:pPr>
            <a:r>
              <a:rPr lang="en-US" sz="1100" spc="140" kern="0" dirty="0">
                <a:solidFill>
                  <a:srgbClr val="E29578"/>
                </a:solidFill>
                <a:latin typeface="Calibri" pitchFamily="34" charset="0"/>
                <a:ea typeface="Calibri" pitchFamily="34" charset="-122"/>
                <a:cs typeface="Calibri" pitchFamily="34" charset="-120"/>
              </a:rPr>
              <a:t>WHAT GOES INTO THE STORE</a:t>
            </a:r>
            <a:endParaRPr lang="en-US" sz="1100" dirty="0"/>
          </a:p>
        </p:txBody>
      </p:sp>
      <p:sp>
        <p:nvSpPr>
          <p:cNvPr id="3" name="Text 1"/>
          <p:cNvSpPr/>
          <p:nvPr/>
        </p:nvSpPr>
        <p:spPr>
          <a:xfrm>
            <a:off x="457200" y="548640"/>
            <a:ext cx="8229600" cy="566928"/>
          </a:xfrm>
          <a:prstGeom prst="rect">
            <a:avLst/>
          </a:prstGeom>
          <a:noFill/>
          <a:ln/>
        </p:spPr>
        <p:txBody>
          <a:bodyPr wrap="square" lIns="0" tIns="0" rIns="0" bIns="0" rtlCol="0" anchor="ctr">
            <a:normAutofit/>
          </a:bodyPr>
          <a:lstStyle/>
          <a:p>
            <a:pPr algn="l" indent="0" marL="0">
              <a:buNone/>
            </a:pPr>
            <a:r>
              <a:rPr lang="en-US" sz="2700" b="1" dirty="0">
                <a:solidFill>
                  <a:srgbClr val="006D77"/>
                </a:solidFill>
                <a:latin typeface="Georgia" pitchFamily="34" charset="0"/>
                <a:ea typeface="Georgia" pitchFamily="34" charset="-122"/>
                <a:cs typeface="Georgia" pitchFamily="34" charset="-120"/>
              </a:rPr>
              <a:t>The write decision: recall against noise</a:t>
            </a:r>
            <a:endParaRPr lang="en-US" sz="2700" dirty="0"/>
          </a:p>
        </p:txBody>
      </p:sp>
      <p:sp>
        <p:nvSpPr>
          <p:cNvPr id="4" name="Shape 2"/>
          <p:cNvSpPr/>
          <p:nvPr/>
        </p:nvSpPr>
        <p:spPr>
          <a:xfrm>
            <a:off x="457200" y="1225296"/>
            <a:ext cx="3977640" cy="265176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5" name="Shape 3"/>
          <p:cNvSpPr/>
          <p:nvPr/>
        </p:nvSpPr>
        <p:spPr>
          <a:xfrm>
            <a:off x="457200" y="1225296"/>
            <a:ext cx="50292" cy="2651760"/>
          </a:xfrm>
          <a:prstGeom prst="rect">
            <a:avLst/>
          </a:prstGeom>
          <a:solidFill>
            <a:srgbClr val="E29578"/>
          </a:solidFill>
          <a:ln w="12700">
            <a:solidFill>
              <a:srgbClr val="E29578"/>
            </a:solidFill>
            <a:prstDash val="solid"/>
          </a:ln>
        </p:spPr>
      </p:sp>
      <p:sp>
        <p:nvSpPr>
          <p:cNvPr id="6" name="Text 4"/>
          <p:cNvSpPr/>
          <p:nvPr/>
        </p:nvSpPr>
        <p:spPr>
          <a:xfrm>
            <a:off x="640080" y="1371600"/>
            <a:ext cx="3648456" cy="274320"/>
          </a:xfrm>
          <a:prstGeom prst="rect">
            <a:avLst/>
          </a:prstGeom>
          <a:noFill/>
          <a:ln/>
        </p:spPr>
        <p:txBody>
          <a:bodyPr wrap="square" lIns="0" tIns="0" rIns="0" bIns="0" rtlCol="0" anchor="ctr"/>
          <a:lstStyle/>
          <a:p>
            <a:pPr algn="l" indent="0" marL="0">
              <a:buNone/>
            </a:pPr>
            <a:r>
              <a:rPr lang="en-US" sz="1500" b="1" dirty="0">
                <a:solidFill>
                  <a:srgbClr val="006D77"/>
                </a:solidFill>
                <a:latin typeface="Georgia" pitchFamily="34" charset="0"/>
                <a:ea typeface="Georgia" pitchFamily="34" charset="-122"/>
                <a:cs typeface="Georgia" pitchFamily="34" charset="-120"/>
              </a:rPr>
              <a:t>Write every interaction</a:t>
            </a:r>
            <a:endParaRPr lang="en-US" sz="1500" dirty="0"/>
          </a:p>
        </p:txBody>
      </p:sp>
      <p:sp>
        <p:nvSpPr>
          <p:cNvPr id="7" name="Text 5"/>
          <p:cNvSpPr/>
          <p:nvPr/>
        </p:nvSpPr>
        <p:spPr>
          <a:xfrm>
            <a:off x="640080" y="1682496"/>
            <a:ext cx="3648456" cy="237744"/>
          </a:xfrm>
          <a:prstGeom prst="rect">
            <a:avLst/>
          </a:prstGeom>
          <a:noFill/>
          <a:ln/>
        </p:spPr>
        <p:txBody>
          <a:bodyPr wrap="square" lIns="0" tIns="0" rIns="0" bIns="0" rtlCol="0" anchor="ctr"/>
          <a:lstStyle/>
          <a:p>
            <a:pPr algn="l" indent="0" marL="0">
              <a:buNone/>
            </a:pPr>
            <a:r>
              <a:rPr lang="en-US" sz="1150" dirty="0">
                <a:solidFill>
                  <a:srgbClr val="E29578"/>
                </a:solidFill>
                <a:latin typeface="Calibri" pitchFamily="34" charset="0"/>
                <a:ea typeface="Calibri" pitchFamily="34" charset="-122"/>
                <a:cs typeface="Calibri" pitchFamily="34" charset="-120"/>
              </a:rPr>
              <a:t>High recall, and a noisy store.</a:t>
            </a:r>
            <a:endParaRPr lang="en-US" sz="1150" dirty="0"/>
          </a:p>
        </p:txBody>
      </p:sp>
      <p:sp>
        <p:nvSpPr>
          <p:cNvPr id="8" name="Shape 6"/>
          <p:cNvSpPr/>
          <p:nvPr/>
        </p:nvSpPr>
        <p:spPr>
          <a:xfrm>
            <a:off x="640080" y="2029968"/>
            <a:ext cx="310896" cy="310896"/>
          </a:xfrm>
          <a:prstGeom prst="rect">
            <a:avLst/>
          </a:prstGeom>
          <a:solidFill>
            <a:srgbClr val="83C5BE"/>
          </a:solidFill>
          <a:ln w="6350">
            <a:solidFill>
              <a:srgbClr val="006D77"/>
            </a:solidFill>
            <a:prstDash val="solid"/>
          </a:ln>
        </p:spPr>
      </p:sp>
      <p:sp>
        <p:nvSpPr>
          <p:cNvPr id="9" name="Shape 7"/>
          <p:cNvSpPr/>
          <p:nvPr/>
        </p:nvSpPr>
        <p:spPr>
          <a:xfrm>
            <a:off x="1060704" y="2029968"/>
            <a:ext cx="310896" cy="310896"/>
          </a:xfrm>
          <a:prstGeom prst="rect">
            <a:avLst/>
          </a:prstGeom>
          <a:solidFill>
            <a:srgbClr val="83C5BE"/>
          </a:solidFill>
          <a:ln w="6350">
            <a:solidFill>
              <a:srgbClr val="006D77"/>
            </a:solidFill>
            <a:prstDash val="solid"/>
          </a:ln>
        </p:spPr>
      </p:sp>
      <p:sp>
        <p:nvSpPr>
          <p:cNvPr id="10" name="Shape 8"/>
          <p:cNvSpPr/>
          <p:nvPr/>
        </p:nvSpPr>
        <p:spPr>
          <a:xfrm>
            <a:off x="1481328" y="2029968"/>
            <a:ext cx="310896" cy="310896"/>
          </a:xfrm>
          <a:prstGeom prst="rect">
            <a:avLst/>
          </a:prstGeom>
          <a:solidFill>
            <a:srgbClr val="83C5BE"/>
          </a:solidFill>
          <a:ln w="6350">
            <a:solidFill>
              <a:srgbClr val="006D77"/>
            </a:solidFill>
            <a:prstDash val="solid"/>
          </a:ln>
        </p:spPr>
      </p:sp>
      <p:sp>
        <p:nvSpPr>
          <p:cNvPr id="11" name="Shape 9"/>
          <p:cNvSpPr/>
          <p:nvPr/>
        </p:nvSpPr>
        <p:spPr>
          <a:xfrm>
            <a:off x="1901952" y="2029968"/>
            <a:ext cx="310896" cy="310896"/>
          </a:xfrm>
          <a:prstGeom prst="rect">
            <a:avLst/>
          </a:prstGeom>
          <a:solidFill>
            <a:srgbClr val="83C5BE"/>
          </a:solidFill>
          <a:ln w="6350">
            <a:solidFill>
              <a:srgbClr val="006D77"/>
            </a:solidFill>
            <a:prstDash val="solid"/>
          </a:ln>
        </p:spPr>
      </p:sp>
      <p:sp>
        <p:nvSpPr>
          <p:cNvPr id="12" name="Shape 10"/>
          <p:cNvSpPr/>
          <p:nvPr/>
        </p:nvSpPr>
        <p:spPr>
          <a:xfrm>
            <a:off x="640080" y="2432304"/>
            <a:ext cx="310896" cy="310896"/>
          </a:xfrm>
          <a:prstGeom prst="rect">
            <a:avLst/>
          </a:prstGeom>
          <a:solidFill>
            <a:srgbClr val="83C5BE"/>
          </a:solidFill>
          <a:ln w="6350">
            <a:solidFill>
              <a:srgbClr val="006D77"/>
            </a:solidFill>
            <a:prstDash val="solid"/>
          </a:ln>
        </p:spPr>
      </p:sp>
      <p:sp>
        <p:nvSpPr>
          <p:cNvPr id="13" name="Shape 11"/>
          <p:cNvSpPr/>
          <p:nvPr/>
        </p:nvSpPr>
        <p:spPr>
          <a:xfrm>
            <a:off x="1060704" y="2432304"/>
            <a:ext cx="310896" cy="310896"/>
          </a:xfrm>
          <a:prstGeom prst="rect">
            <a:avLst/>
          </a:prstGeom>
          <a:solidFill>
            <a:srgbClr val="83C5BE"/>
          </a:solidFill>
          <a:ln w="6350">
            <a:solidFill>
              <a:srgbClr val="006D77"/>
            </a:solidFill>
            <a:prstDash val="solid"/>
          </a:ln>
        </p:spPr>
      </p:sp>
      <p:sp>
        <p:nvSpPr>
          <p:cNvPr id="14" name="Shape 12"/>
          <p:cNvSpPr/>
          <p:nvPr/>
        </p:nvSpPr>
        <p:spPr>
          <a:xfrm>
            <a:off x="1481328" y="2432304"/>
            <a:ext cx="310896" cy="310896"/>
          </a:xfrm>
          <a:prstGeom prst="rect">
            <a:avLst/>
          </a:prstGeom>
          <a:solidFill>
            <a:srgbClr val="83C5BE"/>
          </a:solidFill>
          <a:ln w="6350">
            <a:solidFill>
              <a:srgbClr val="006D77"/>
            </a:solidFill>
            <a:prstDash val="solid"/>
          </a:ln>
        </p:spPr>
      </p:sp>
      <p:sp>
        <p:nvSpPr>
          <p:cNvPr id="15" name="Shape 13"/>
          <p:cNvSpPr/>
          <p:nvPr/>
        </p:nvSpPr>
        <p:spPr>
          <a:xfrm>
            <a:off x="1901952" y="2432304"/>
            <a:ext cx="310896" cy="310896"/>
          </a:xfrm>
          <a:prstGeom prst="rect">
            <a:avLst/>
          </a:prstGeom>
          <a:solidFill>
            <a:srgbClr val="83C5BE"/>
          </a:solidFill>
          <a:ln w="6350">
            <a:solidFill>
              <a:srgbClr val="006D77"/>
            </a:solidFill>
            <a:prstDash val="solid"/>
          </a:ln>
        </p:spPr>
      </p:sp>
      <p:sp>
        <p:nvSpPr>
          <p:cNvPr id="16" name="Text 14"/>
          <p:cNvSpPr/>
          <p:nvPr/>
        </p:nvSpPr>
        <p:spPr>
          <a:xfrm>
            <a:off x="640080" y="2944368"/>
            <a:ext cx="3648456" cy="548640"/>
          </a:xfrm>
          <a:prstGeom prst="rect">
            <a:avLst/>
          </a:prstGeom>
          <a:noFill/>
          <a:ln/>
        </p:spPr>
        <p:txBody>
          <a:bodyPr wrap="square" lIns="0" tIns="0" rIns="0" bIns="0" rtlCol="0" anchor="t"/>
          <a:lstStyle/>
          <a:p>
            <a:pPr algn="l" indent="0" marL="0">
              <a:buNone/>
            </a:pPr>
            <a:r>
              <a:rPr lang="en-US" sz="1050" dirty="0">
                <a:solidFill>
                  <a:srgbClr val="006D77"/>
                </a:solidFill>
                <a:latin typeface="Calibri" pitchFamily="34" charset="0"/>
                <a:ea typeface="Calibri" pitchFamily="34" charset="-122"/>
                <a:cs typeface="Calibri" pitchFamily="34" charset="-120"/>
              </a:rPr>
              <a:t>Every turn is stored: nothing is missed, and much of what is stored did not matter.</a:t>
            </a:r>
            <a:endParaRPr lang="en-US" sz="1050" dirty="0"/>
          </a:p>
        </p:txBody>
      </p:sp>
      <p:sp>
        <p:nvSpPr>
          <p:cNvPr id="17" name="Shape 15"/>
          <p:cNvSpPr/>
          <p:nvPr/>
        </p:nvSpPr>
        <p:spPr>
          <a:xfrm>
            <a:off x="4709160" y="1225296"/>
            <a:ext cx="3977640" cy="265176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18" name="Shape 16"/>
          <p:cNvSpPr/>
          <p:nvPr/>
        </p:nvSpPr>
        <p:spPr>
          <a:xfrm>
            <a:off x="4709160" y="1225296"/>
            <a:ext cx="50292" cy="2651760"/>
          </a:xfrm>
          <a:prstGeom prst="rect">
            <a:avLst/>
          </a:prstGeom>
          <a:solidFill>
            <a:srgbClr val="E29578"/>
          </a:solidFill>
          <a:ln w="12700">
            <a:solidFill>
              <a:srgbClr val="E29578"/>
            </a:solidFill>
            <a:prstDash val="solid"/>
          </a:ln>
        </p:spPr>
      </p:sp>
      <p:sp>
        <p:nvSpPr>
          <p:cNvPr id="19" name="Text 17"/>
          <p:cNvSpPr/>
          <p:nvPr/>
        </p:nvSpPr>
        <p:spPr>
          <a:xfrm>
            <a:off x="4892040" y="1371600"/>
            <a:ext cx="3648456" cy="274320"/>
          </a:xfrm>
          <a:prstGeom prst="rect">
            <a:avLst/>
          </a:prstGeom>
          <a:noFill/>
          <a:ln/>
        </p:spPr>
        <p:txBody>
          <a:bodyPr wrap="square" lIns="0" tIns="0" rIns="0" bIns="0" rtlCol="0" anchor="ctr"/>
          <a:lstStyle/>
          <a:p>
            <a:pPr algn="l" indent="0" marL="0">
              <a:buNone/>
            </a:pPr>
            <a:r>
              <a:rPr lang="en-US" sz="1500" b="1" dirty="0">
                <a:solidFill>
                  <a:srgbClr val="006D77"/>
                </a:solidFill>
                <a:latin typeface="Georgia" pitchFamily="34" charset="0"/>
                <a:ea typeface="Georgia" pitchFamily="34" charset="-122"/>
                <a:cs typeface="Georgia" pitchFamily="34" charset="-120"/>
              </a:rPr>
              <a:t>Selective writing</a:t>
            </a:r>
            <a:endParaRPr lang="en-US" sz="1500" dirty="0"/>
          </a:p>
        </p:txBody>
      </p:sp>
      <p:sp>
        <p:nvSpPr>
          <p:cNvPr id="20" name="Text 18"/>
          <p:cNvSpPr/>
          <p:nvPr/>
        </p:nvSpPr>
        <p:spPr>
          <a:xfrm>
            <a:off x="4892040" y="1682496"/>
            <a:ext cx="3648456" cy="237744"/>
          </a:xfrm>
          <a:prstGeom prst="rect">
            <a:avLst/>
          </a:prstGeom>
          <a:noFill/>
          <a:ln/>
        </p:spPr>
        <p:txBody>
          <a:bodyPr wrap="square" lIns="0" tIns="0" rIns="0" bIns="0" rtlCol="0" anchor="ctr"/>
          <a:lstStyle/>
          <a:p>
            <a:pPr algn="l" indent="0" marL="0">
              <a:buNone/>
            </a:pPr>
            <a:r>
              <a:rPr lang="en-US" sz="1150" dirty="0">
                <a:solidFill>
                  <a:srgbClr val="E29578"/>
                </a:solidFill>
                <a:latin typeface="Calibri" pitchFamily="34" charset="0"/>
                <a:ea typeface="Calibri" pitchFamily="34" charset="-122"/>
                <a:cs typeface="Calibri" pitchFamily="34" charset="-120"/>
              </a:rPr>
              <a:t>High precision, at the cost of recall.</a:t>
            </a:r>
            <a:endParaRPr lang="en-US" sz="1150" dirty="0"/>
          </a:p>
        </p:txBody>
      </p:sp>
      <p:sp>
        <p:nvSpPr>
          <p:cNvPr id="21" name="Shape 19"/>
          <p:cNvSpPr/>
          <p:nvPr/>
        </p:nvSpPr>
        <p:spPr>
          <a:xfrm>
            <a:off x="4892040" y="2011680"/>
            <a:ext cx="182880" cy="182880"/>
          </a:xfrm>
          <a:prstGeom prst="rect">
            <a:avLst/>
          </a:prstGeom>
          <a:solidFill>
            <a:srgbClr val="E29578"/>
          </a:solidFill>
          <a:ln w="12700">
            <a:solidFill>
              <a:srgbClr val="E29578"/>
            </a:solidFill>
            <a:prstDash val="solid"/>
          </a:ln>
        </p:spPr>
      </p:sp>
      <p:sp>
        <p:nvSpPr>
          <p:cNvPr id="22" name="Text 20"/>
          <p:cNvSpPr/>
          <p:nvPr/>
        </p:nvSpPr>
        <p:spPr>
          <a:xfrm>
            <a:off x="5202936" y="1956816"/>
            <a:ext cx="3337560" cy="292608"/>
          </a:xfrm>
          <a:prstGeom prst="rect">
            <a:avLst/>
          </a:prstGeom>
          <a:noFill/>
          <a:ln/>
        </p:spPr>
        <p:txBody>
          <a:bodyPr wrap="square" lIns="0" tIns="0" rIns="0" bIns="0" rtlCol="0" anchor="ctr"/>
          <a:lstStyle/>
          <a:p>
            <a:pPr algn="l" indent="0" marL="0">
              <a:buNone/>
            </a:pPr>
            <a:r>
              <a:rPr lang="en-US" sz="1100" dirty="0">
                <a:solidFill>
                  <a:srgbClr val="006D77"/>
                </a:solidFill>
                <a:latin typeface="Calibri" pitchFamily="34" charset="0"/>
                <a:ea typeface="Calibri" pitchFamily="34" charset="-122"/>
                <a:cs typeface="Calibri" pitchFamily="34" charset="-120"/>
              </a:rPr>
              <a:t>Explicit user request</a:t>
            </a:r>
            <a:endParaRPr lang="en-US" sz="1100" dirty="0"/>
          </a:p>
        </p:txBody>
      </p:sp>
      <p:sp>
        <p:nvSpPr>
          <p:cNvPr id="23" name="Shape 21"/>
          <p:cNvSpPr/>
          <p:nvPr/>
        </p:nvSpPr>
        <p:spPr>
          <a:xfrm>
            <a:off x="4892040" y="2395728"/>
            <a:ext cx="182880" cy="182880"/>
          </a:xfrm>
          <a:prstGeom prst="rect">
            <a:avLst/>
          </a:prstGeom>
          <a:solidFill>
            <a:srgbClr val="E29578"/>
          </a:solidFill>
          <a:ln w="12700">
            <a:solidFill>
              <a:srgbClr val="E29578"/>
            </a:solidFill>
            <a:prstDash val="solid"/>
          </a:ln>
        </p:spPr>
      </p:sp>
      <p:sp>
        <p:nvSpPr>
          <p:cNvPr id="24" name="Text 22"/>
          <p:cNvSpPr/>
          <p:nvPr/>
        </p:nvSpPr>
        <p:spPr>
          <a:xfrm>
            <a:off x="5202936" y="2340864"/>
            <a:ext cx="3337560" cy="292608"/>
          </a:xfrm>
          <a:prstGeom prst="rect">
            <a:avLst/>
          </a:prstGeom>
          <a:noFill/>
          <a:ln/>
        </p:spPr>
        <p:txBody>
          <a:bodyPr wrap="square" lIns="0" tIns="0" rIns="0" bIns="0" rtlCol="0" anchor="ctr"/>
          <a:lstStyle/>
          <a:p>
            <a:pPr algn="l" indent="0" marL="0">
              <a:buNone/>
            </a:pPr>
            <a:r>
              <a:rPr lang="en-US" sz="1100" dirty="0">
                <a:solidFill>
                  <a:srgbClr val="006D77"/>
                </a:solidFill>
                <a:latin typeface="Calibri" pitchFamily="34" charset="0"/>
                <a:ea typeface="Calibri" pitchFamily="34" charset="-122"/>
                <a:cs typeface="Calibri" pitchFamily="34" charset="-120"/>
              </a:rPr>
              <a:t>Deterministic rules (heuristics)</a:t>
            </a:r>
            <a:endParaRPr lang="en-US" sz="1100" dirty="0"/>
          </a:p>
        </p:txBody>
      </p:sp>
      <p:sp>
        <p:nvSpPr>
          <p:cNvPr id="25" name="Shape 23"/>
          <p:cNvSpPr/>
          <p:nvPr/>
        </p:nvSpPr>
        <p:spPr>
          <a:xfrm>
            <a:off x="4892040" y="2779776"/>
            <a:ext cx="182880" cy="182880"/>
          </a:xfrm>
          <a:prstGeom prst="rect">
            <a:avLst/>
          </a:prstGeom>
          <a:solidFill>
            <a:srgbClr val="E29578"/>
          </a:solidFill>
          <a:ln w="12700">
            <a:solidFill>
              <a:srgbClr val="E29578"/>
            </a:solidFill>
            <a:prstDash val="solid"/>
          </a:ln>
        </p:spPr>
      </p:sp>
      <p:sp>
        <p:nvSpPr>
          <p:cNvPr id="26" name="Text 24"/>
          <p:cNvSpPr/>
          <p:nvPr/>
        </p:nvSpPr>
        <p:spPr>
          <a:xfrm>
            <a:off x="5202936" y="2724912"/>
            <a:ext cx="3337560" cy="292608"/>
          </a:xfrm>
          <a:prstGeom prst="rect">
            <a:avLst/>
          </a:prstGeom>
          <a:noFill/>
          <a:ln/>
        </p:spPr>
        <p:txBody>
          <a:bodyPr wrap="square" lIns="0" tIns="0" rIns="0" bIns="0" rtlCol="0" anchor="ctr"/>
          <a:lstStyle/>
          <a:p>
            <a:pPr algn="l" indent="0" marL="0">
              <a:buNone/>
            </a:pPr>
            <a:r>
              <a:rPr lang="en-US" sz="1100" dirty="0">
                <a:solidFill>
                  <a:srgbClr val="006D77"/>
                </a:solidFill>
                <a:latin typeface="Calibri" pitchFamily="34" charset="0"/>
                <a:ea typeface="Calibri" pitchFamily="34" charset="-122"/>
                <a:cs typeface="Calibri" pitchFamily="34" charset="-120"/>
              </a:rPr>
              <a:t>A small classifier</a:t>
            </a:r>
            <a:endParaRPr lang="en-US" sz="1100" dirty="0"/>
          </a:p>
        </p:txBody>
      </p:sp>
      <p:sp>
        <p:nvSpPr>
          <p:cNvPr id="27" name="Shape 25"/>
          <p:cNvSpPr/>
          <p:nvPr/>
        </p:nvSpPr>
        <p:spPr>
          <a:xfrm>
            <a:off x="4892040" y="3163824"/>
            <a:ext cx="182880" cy="182880"/>
          </a:xfrm>
          <a:prstGeom prst="rect">
            <a:avLst/>
          </a:prstGeom>
          <a:solidFill>
            <a:srgbClr val="E29578"/>
          </a:solidFill>
          <a:ln w="12700">
            <a:solidFill>
              <a:srgbClr val="E29578"/>
            </a:solidFill>
            <a:prstDash val="solid"/>
          </a:ln>
        </p:spPr>
      </p:sp>
      <p:sp>
        <p:nvSpPr>
          <p:cNvPr id="28" name="Text 26"/>
          <p:cNvSpPr/>
          <p:nvPr/>
        </p:nvSpPr>
        <p:spPr>
          <a:xfrm>
            <a:off x="5202936" y="3108960"/>
            <a:ext cx="3337560" cy="292608"/>
          </a:xfrm>
          <a:prstGeom prst="rect">
            <a:avLst/>
          </a:prstGeom>
          <a:noFill/>
          <a:ln/>
        </p:spPr>
        <p:txBody>
          <a:bodyPr wrap="square" lIns="0" tIns="0" rIns="0" bIns="0" rtlCol="0" anchor="ctr"/>
          <a:lstStyle/>
          <a:p>
            <a:pPr algn="l" indent="0" marL="0">
              <a:buNone/>
            </a:pPr>
            <a:r>
              <a:rPr lang="en-US" sz="1100" dirty="0">
                <a:solidFill>
                  <a:srgbClr val="006D77"/>
                </a:solidFill>
                <a:latin typeface="Calibri" pitchFamily="34" charset="0"/>
                <a:ea typeface="Calibri" pitchFamily="34" charset="-122"/>
                <a:cs typeface="Calibri" pitchFamily="34" charset="-120"/>
              </a:rPr>
              <a:t>Periodic LLM review</a:t>
            </a:r>
            <a:endParaRPr lang="en-US" sz="1100" dirty="0"/>
          </a:p>
        </p:txBody>
      </p:sp>
      <p:sp>
        <p:nvSpPr>
          <p:cNvPr id="29" name="Text 27"/>
          <p:cNvSpPr/>
          <p:nvPr/>
        </p:nvSpPr>
        <p:spPr>
          <a:xfrm>
            <a:off x="4892040" y="3456432"/>
            <a:ext cx="3648456" cy="237744"/>
          </a:xfrm>
          <a:prstGeom prst="rect">
            <a:avLst/>
          </a:prstGeom>
          <a:noFill/>
          <a:ln/>
        </p:spPr>
        <p:txBody>
          <a:bodyPr wrap="square" lIns="0" tIns="0" rIns="0" bIns="0" rtlCol="0" anchor="ctr"/>
          <a:lstStyle/>
          <a:p>
            <a:pPr algn="l" indent="0" marL="0">
              <a:buNone/>
            </a:pPr>
            <a:r>
              <a:rPr lang="en-US" sz="1000" dirty="0">
                <a:solidFill>
                  <a:srgbClr val="006D77"/>
                </a:solidFill>
                <a:latin typeface="Calibri" pitchFamily="34" charset="0"/>
                <a:ea typeface="Calibri" pitchFamily="34" charset="-122"/>
                <a:cs typeface="Calibri" pitchFamily="34" charset="-120"/>
              </a:rPr>
              <a:t>Four ways to decide what is worth keeping.</a:t>
            </a:r>
            <a:endParaRPr lang="en-US" sz="1000" dirty="0"/>
          </a:p>
        </p:txBody>
      </p:sp>
      <p:sp>
        <p:nvSpPr>
          <p:cNvPr id="30" name="Text 28"/>
          <p:cNvSpPr/>
          <p:nvPr/>
        </p:nvSpPr>
        <p:spPr>
          <a:xfrm>
            <a:off x="457200" y="4041648"/>
            <a:ext cx="8229600" cy="384048"/>
          </a:xfrm>
          <a:prstGeom prst="rect">
            <a:avLst/>
          </a:prstGeom>
          <a:noFill/>
          <a:ln/>
        </p:spPr>
        <p:txBody>
          <a:bodyPr wrap="square" lIns="0" tIns="0" rIns="0" bIns="0" rtlCol="0" anchor="ctr"/>
          <a:lstStyle/>
          <a:p>
            <a:pPr algn="l" indent="0" marL="0">
              <a:buNone/>
            </a:pPr>
            <a:r>
              <a:rPr lang="en-US" sz="1100" dirty="0">
                <a:solidFill>
                  <a:srgbClr val="006D77"/>
                </a:solidFill>
                <a:latin typeface="Calibri" pitchFamily="34" charset="0"/>
                <a:ea typeface="Calibri" pitchFamily="34" charset="-122"/>
                <a:cs typeface="Calibri" pitchFamily="34" charset="-120"/>
              </a:rPr>
              <a:t>The write decision trades recall against noise: writing everything gives high recall and a noisy store; writing selectively gives high precision.</a:t>
            </a:r>
            <a:endParaRPr lang="en-US" sz="1100" dirty="0"/>
          </a:p>
        </p:txBody>
      </p:sp>
      <p:sp>
        <p:nvSpPr>
          <p:cNvPr id="31" name="Shape 29"/>
          <p:cNvSpPr/>
          <p:nvPr/>
        </p:nvSpPr>
        <p:spPr>
          <a:xfrm>
            <a:off x="8485632" y="4645152"/>
            <a:ext cx="420624" cy="274320"/>
          </a:xfrm>
          <a:prstGeom prst="roundRect">
            <a:avLst>
              <a:gd name="adj" fmla="val 26667"/>
            </a:avLst>
          </a:prstGeom>
          <a:solidFill>
            <a:srgbClr val="006D77"/>
          </a:solidFill>
          <a:ln w="12700">
            <a:solidFill>
              <a:srgbClr val="006D77"/>
            </a:solidFill>
            <a:prstDash val="solid"/>
          </a:ln>
        </p:spPr>
      </p:sp>
      <p:sp>
        <p:nvSpPr>
          <p:cNvPr id="32" name="Text 30"/>
          <p:cNvSpPr/>
          <p:nvPr/>
        </p:nvSpPr>
        <p:spPr>
          <a:xfrm>
            <a:off x="8485632" y="4645152"/>
            <a:ext cx="420624" cy="274320"/>
          </a:xfrm>
          <a:prstGeom prst="rect">
            <a:avLst/>
          </a:prstGeom>
          <a:noFill/>
          <a:ln/>
        </p:spPr>
        <p:txBody>
          <a:bodyPr wrap="square" lIns="0" tIns="0" rIns="0" bIns="0" rtlCol="0" anchor="ctr"/>
          <a:lstStyle/>
          <a:p>
            <a:pPr algn="ctr" indent="0" marL="0">
              <a:buNone/>
            </a:pPr>
            <a:r>
              <a:rPr lang="en-US" sz="1100" dirty="0">
                <a:solidFill>
                  <a:srgbClr val="EDF6F9"/>
                </a:solidFill>
                <a:latin typeface="Calibri" pitchFamily="34" charset="0"/>
                <a:ea typeface="Calibri" pitchFamily="34" charset="-122"/>
                <a:cs typeface="Calibri" pitchFamily="34" charset="-120"/>
              </a:rPr>
              <a:t>4</a:t>
            </a:r>
            <a:endParaRPr lang="en-US" sz="1100" dirty="0"/>
          </a:p>
        </p:txBody>
      </p:sp>
      <p:sp>
        <p:nvSpPr>
          <p:cNvPr id="33" name="Shape 31"/>
          <p:cNvSpPr/>
          <p:nvPr/>
        </p:nvSpPr>
        <p:spPr>
          <a:xfrm>
            <a:off x="457200" y="4754880"/>
            <a:ext cx="7772400" cy="10973"/>
          </a:xfrm>
          <a:prstGeom prst="rect">
            <a:avLst/>
          </a:prstGeom>
          <a:solidFill>
            <a:srgbClr val="83C5BE"/>
          </a:solidFill>
          <a:ln w="12700">
            <a:solidFill>
              <a:srgbClr val="83C5BE"/>
            </a:solidFill>
            <a:prstDash val="solid"/>
          </a:ln>
        </p:spPr>
      </p:sp>
      <p:sp>
        <p:nvSpPr>
          <p:cNvPr id="34" name="Text 32"/>
          <p:cNvSpPr/>
          <p:nvPr/>
        </p:nvSpPr>
        <p:spPr>
          <a:xfrm>
            <a:off x="457200" y="4773168"/>
            <a:ext cx="7772400" cy="219456"/>
          </a:xfrm>
          <a:prstGeom prst="rect">
            <a:avLst/>
          </a:prstGeom>
          <a:noFill/>
          <a:ln/>
        </p:spPr>
        <p:txBody>
          <a:bodyPr wrap="square" lIns="0" tIns="0" rIns="0" bIns="0" rtlCol="0" anchor="ctr"/>
          <a:lstStyle/>
          <a:p>
            <a:pPr algn="l" indent="0" marL="0">
              <a:buNone/>
            </a:pPr>
            <a:r>
              <a:rPr lang="en-US" sz="900" dirty="0">
                <a:solidFill>
                  <a:srgbClr val="006D77">
                    <a:alpha val="55000"/>
                  </a:srgbClr>
                </a:solidFill>
                <a:latin typeface="Calibri" pitchFamily="34" charset="0"/>
                <a:ea typeface="Calibri" pitchFamily="34" charset="-122"/>
                <a:cs typeface="Calibri" pitchFamily="34" charset="-120"/>
              </a:rPr>
              <a:t>Source: https://cs2680.seas.harvard.edu/slides/6_agent_design_3.pdf</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F6F9"/>
        </a:solidFill>
      </p:bgPr>
    </p:bg>
    <p:spTree>
      <p:nvGrpSpPr>
        <p:cNvPr id="1" name=""/>
        <p:cNvGrpSpPr/>
        <p:nvPr/>
      </p:nvGrpSpPr>
      <p:grpSpPr>
        <a:xfrm>
          <a:off x="0" y="0"/>
          <a:ext cx="0" cy="0"/>
          <a:chOff x="0" y="0"/>
          <a:chExt cx="0" cy="0"/>
        </a:xfrm>
      </p:grpSpPr>
      <p:sp>
        <p:nvSpPr>
          <p:cNvPr id="2" name="Text 0"/>
          <p:cNvSpPr/>
          <p:nvPr/>
        </p:nvSpPr>
        <p:spPr>
          <a:xfrm>
            <a:off x="457200" y="310896"/>
            <a:ext cx="8229600" cy="219456"/>
          </a:xfrm>
          <a:prstGeom prst="rect">
            <a:avLst/>
          </a:prstGeom>
          <a:noFill/>
          <a:ln/>
        </p:spPr>
        <p:txBody>
          <a:bodyPr wrap="square" lIns="0" tIns="0" rIns="0" bIns="0" rtlCol="0" anchor="ctr"/>
          <a:lstStyle/>
          <a:p>
            <a:pPr algn="l" indent="0" marL="0">
              <a:buNone/>
            </a:pPr>
            <a:r>
              <a:rPr lang="en-US" sz="1100" spc="140" kern="0" dirty="0">
                <a:solidFill>
                  <a:srgbClr val="E29578"/>
                </a:solidFill>
                <a:latin typeface="Calibri" pitchFamily="34" charset="0"/>
                <a:ea typeface="Calibri" pitchFamily="34" charset="-122"/>
                <a:cs typeface="Calibri" pitchFamily="34" charset="-120"/>
              </a:rPr>
              <a:t>FORMAT AND BACKEND ARE SEPARATE DECISIONS</a:t>
            </a:r>
            <a:endParaRPr lang="en-US" sz="1100" dirty="0"/>
          </a:p>
        </p:txBody>
      </p:sp>
      <p:sp>
        <p:nvSpPr>
          <p:cNvPr id="3" name="Text 1"/>
          <p:cNvSpPr/>
          <p:nvPr/>
        </p:nvSpPr>
        <p:spPr>
          <a:xfrm>
            <a:off x="457200" y="548640"/>
            <a:ext cx="8229600" cy="566928"/>
          </a:xfrm>
          <a:prstGeom prst="rect">
            <a:avLst/>
          </a:prstGeom>
          <a:noFill/>
          <a:ln/>
        </p:spPr>
        <p:txBody>
          <a:bodyPr wrap="square" lIns="0" tIns="0" rIns="0" bIns="0" rtlCol="0" anchor="ctr">
            <a:normAutofit/>
          </a:bodyPr>
          <a:lstStyle/>
          <a:p>
            <a:pPr algn="l" indent="0" marL="0">
              <a:buNone/>
            </a:pPr>
            <a:r>
              <a:rPr lang="en-US" sz="2700" b="1" dirty="0">
                <a:solidFill>
                  <a:srgbClr val="006D77"/>
                </a:solidFill>
                <a:latin typeface="Georgia" pitchFamily="34" charset="0"/>
                <a:ea typeface="Georgia" pitchFamily="34" charset="-122"/>
                <a:cs typeface="Georgia" pitchFamily="34" charset="-120"/>
              </a:rPr>
              <a:t>Four representations, four storage classes</a:t>
            </a:r>
            <a:endParaRPr lang="en-US" sz="2700" dirty="0"/>
          </a:p>
        </p:txBody>
      </p:sp>
      <p:sp>
        <p:nvSpPr>
          <p:cNvPr id="4" name="Shape 2"/>
          <p:cNvSpPr/>
          <p:nvPr/>
        </p:nvSpPr>
        <p:spPr>
          <a:xfrm>
            <a:off x="457200" y="1188720"/>
            <a:ext cx="3977640" cy="301752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5" name="Shape 3"/>
          <p:cNvSpPr/>
          <p:nvPr/>
        </p:nvSpPr>
        <p:spPr>
          <a:xfrm>
            <a:off x="457200" y="1188720"/>
            <a:ext cx="50292" cy="3017520"/>
          </a:xfrm>
          <a:prstGeom prst="rect">
            <a:avLst/>
          </a:prstGeom>
          <a:solidFill>
            <a:srgbClr val="E29578"/>
          </a:solidFill>
          <a:ln w="12700">
            <a:solidFill>
              <a:srgbClr val="E29578"/>
            </a:solidFill>
            <a:prstDash val="solid"/>
          </a:ln>
        </p:spPr>
      </p:sp>
      <p:sp>
        <p:nvSpPr>
          <p:cNvPr id="6" name="Text 4"/>
          <p:cNvSpPr/>
          <p:nvPr/>
        </p:nvSpPr>
        <p:spPr>
          <a:xfrm>
            <a:off x="640080" y="1335024"/>
            <a:ext cx="3648456" cy="274320"/>
          </a:xfrm>
          <a:prstGeom prst="rect">
            <a:avLst/>
          </a:prstGeom>
          <a:noFill/>
          <a:ln/>
        </p:spPr>
        <p:txBody>
          <a:bodyPr wrap="square" lIns="0" tIns="0" rIns="0" bIns="0" rtlCol="0" anchor="ctr"/>
          <a:lstStyle/>
          <a:p>
            <a:pPr algn="l" indent="0" marL="0">
              <a:buNone/>
            </a:pPr>
            <a:r>
              <a:rPr lang="en-US" sz="1500" b="1" dirty="0">
                <a:solidFill>
                  <a:srgbClr val="006D77"/>
                </a:solidFill>
                <a:latin typeface="Georgia" pitchFamily="34" charset="0"/>
                <a:ea typeface="Georgia" pitchFamily="34" charset="-122"/>
                <a:cs typeface="Georgia" pitchFamily="34" charset="-120"/>
              </a:rPr>
              <a:t>Four representations</a:t>
            </a:r>
            <a:endParaRPr lang="en-US" sz="1500" dirty="0"/>
          </a:p>
        </p:txBody>
      </p:sp>
      <p:sp>
        <p:nvSpPr>
          <p:cNvPr id="7" name="Text 5"/>
          <p:cNvSpPr/>
          <p:nvPr/>
        </p:nvSpPr>
        <p:spPr>
          <a:xfrm>
            <a:off x="640080" y="1664208"/>
            <a:ext cx="3648456" cy="201168"/>
          </a:xfrm>
          <a:prstGeom prst="rect">
            <a:avLst/>
          </a:prstGeom>
          <a:noFill/>
          <a:ln/>
        </p:spPr>
        <p:txBody>
          <a:bodyPr wrap="square" lIns="0" tIns="0" rIns="0" bIns="0" rtlCol="0" anchor="ctr"/>
          <a:lstStyle/>
          <a:p>
            <a:pPr algn="l" indent="0" marL="0">
              <a:buNone/>
            </a:pPr>
            <a:r>
              <a:rPr lang="en-US" sz="1100" b="1" dirty="0">
                <a:solidFill>
                  <a:srgbClr val="006D77"/>
                </a:solidFill>
                <a:latin typeface="Georgia" pitchFamily="34" charset="0"/>
                <a:ea typeface="Georgia" pitchFamily="34" charset="-122"/>
                <a:cs typeface="Georgia" pitchFamily="34" charset="-120"/>
              </a:rPr>
              <a:t>Raw events / episodes</a:t>
            </a:r>
            <a:endParaRPr lang="en-US" sz="1100" dirty="0"/>
          </a:p>
        </p:txBody>
      </p:sp>
      <p:sp>
        <p:nvSpPr>
          <p:cNvPr id="8" name="Text 6"/>
          <p:cNvSpPr/>
          <p:nvPr/>
        </p:nvSpPr>
        <p:spPr>
          <a:xfrm>
            <a:off x="640080" y="1865376"/>
            <a:ext cx="3648456" cy="292608"/>
          </a:xfrm>
          <a:prstGeom prst="rect">
            <a:avLst/>
          </a:prstGeom>
          <a:noFill/>
          <a:ln/>
        </p:spPr>
        <p:txBody>
          <a:bodyPr wrap="square" lIns="0" tIns="0" rIns="0" bIns="0" rtlCol="0" anchor="t"/>
          <a:lstStyle/>
          <a:p>
            <a:pPr algn="l" indent="0" marL="0">
              <a:buNone/>
            </a:pPr>
            <a:r>
              <a:rPr lang="en-US" sz="900" dirty="0">
                <a:solidFill>
                  <a:srgbClr val="006D77"/>
                </a:solidFill>
                <a:latin typeface="Calibri" pitchFamily="34" charset="0"/>
                <a:ea typeface="Calibri" pitchFamily="34" charset="-122"/>
                <a:cs typeface="Calibri" pitchFamily="34" charset="-120"/>
              </a:rPr>
              <a:t>High fidelity, large and redundant.</a:t>
            </a:r>
            <a:endParaRPr lang="en-US" sz="900" dirty="0"/>
          </a:p>
        </p:txBody>
      </p:sp>
      <p:sp>
        <p:nvSpPr>
          <p:cNvPr id="9" name="Text 7"/>
          <p:cNvSpPr/>
          <p:nvPr/>
        </p:nvSpPr>
        <p:spPr>
          <a:xfrm>
            <a:off x="640080" y="2157984"/>
            <a:ext cx="3648456" cy="201168"/>
          </a:xfrm>
          <a:prstGeom prst="rect">
            <a:avLst/>
          </a:prstGeom>
          <a:noFill/>
          <a:ln/>
        </p:spPr>
        <p:txBody>
          <a:bodyPr wrap="square" lIns="0" tIns="0" rIns="0" bIns="0" rtlCol="0" anchor="ctr"/>
          <a:lstStyle/>
          <a:p>
            <a:pPr algn="l" indent="0" marL="0">
              <a:buNone/>
            </a:pPr>
            <a:r>
              <a:rPr lang="en-US" sz="1100" b="1" dirty="0">
                <a:solidFill>
                  <a:srgbClr val="006D77"/>
                </a:solidFill>
                <a:latin typeface="Georgia" pitchFamily="34" charset="0"/>
                <a:ea typeface="Georgia" pitchFamily="34" charset="-122"/>
                <a:cs typeface="Georgia" pitchFamily="34" charset="-120"/>
              </a:rPr>
              <a:t>Unstructured summaries</a:t>
            </a:r>
            <a:endParaRPr lang="en-US" sz="1100" dirty="0"/>
          </a:p>
        </p:txBody>
      </p:sp>
      <p:sp>
        <p:nvSpPr>
          <p:cNvPr id="10" name="Text 8"/>
          <p:cNvSpPr/>
          <p:nvPr/>
        </p:nvSpPr>
        <p:spPr>
          <a:xfrm>
            <a:off x="640080" y="2359152"/>
            <a:ext cx="3648456" cy="292608"/>
          </a:xfrm>
          <a:prstGeom prst="rect">
            <a:avLst/>
          </a:prstGeom>
          <a:noFill/>
          <a:ln/>
        </p:spPr>
        <p:txBody>
          <a:bodyPr wrap="square" lIns="0" tIns="0" rIns="0" bIns="0" rtlCol="0" anchor="t"/>
          <a:lstStyle/>
          <a:p>
            <a:pPr algn="l" indent="0" marL="0">
              <a:buNone/>
            </a:pPr>
            <a:r>
              <a:rPr lang="en-US" sz="900" dirty="0">
                <a:solidFill>
                  <a:srgbClr val="006D77"/>
                </a:solidFill>
                <a:latin typeface="Calibri" pitchFamily="34" charset="0"/>
                <a:ea typeface="Calibri" pitchFamily="34" charset="-122"/>
                <a:cs typeface="Calibri" pitchFamily="34" charset="-120"/>
              </a:rPr>
              <a:t>Compact, may lose context.</a:t>
            </a:r>
            <a:endParaRPr lang="en-US" sz="900" dirty="0"/>
          </a:p>
        </p:txBody>
      </p:sp>
      <p:sp>
        <p:nvSpPr>
          <p:cNvPr id="11" name="Text 9"/>
          <p:cNvSpPr/>
          <p:nvPr/>
        </p:nvSpPr>
        <p:spPr>
          <a:xfrm>
            <a:off x="640080" y="2651760"/>
            <a:ext cx="3648456" cy="201168"/>
          </a:xfrm>
          <a:prstGeom prst="rect">
            <a:avLst/>
          </a:prstGeom>
          <a:noFill/>
          <a:ln/>
        </p:spPr>
        <p:txBody>
          <a:bodyPr wrap="square" lIns="0" tIns="0" rIns="0" bIns="0" rtlCol="0" anchor="ctr"/>
          <a:lstStyle/>
          <a:p>
            <a:pPr algn="l" indent="0" marL="0">
              <a:buNone/>
            </a:pPr>
            <a:r>
              <a:rPr lang="en-US" sz="1100" b="1" dirty="0">
                <a:solidFill>
                  <a:srgbClr val="006D77"/>
                </a:solidFill>
                <a:latin typeface="Georgia" pitchFamily="34" charset="0"/>
                <a:ea typeface="Georgia" pitchFamily="34" charset="-122"/>
                <a:cs typeface="Georgia" pitchFamily="34" charset="-120"/>
              </a:rPr>
              <a:t>Structured state</a:t>
            </a:r>
            <a:endParaRPr lang="en-US" sz="1100" dirty="0"/>
          </a:p>
        </p:txBody>
      </p:sp>
      <p:sp>
        <p:nvSpPr>
          <p:cNvPr id="12" name="Text 10"/>
          <p:cNvSpPr/>
          <p:nvPr/>
        </p:nvSpPr>
        <p:spPr>
          <a:xfrm>
            <a:off x="640080" y="2852928"/>
            <a:ext cx="3648456" cy="292608"/>
          </a:xfrm>
          <a:prstGeom prst="rect">
            <a:avLst/>
          </a:prstGeom>
          <a:noFill/>
          <a:ln/>
        </p:spPr>
        <p:txBody>
          <a:bodyPr wrap="square" lIns="0" tIns="0" rIns="0" bIns="0" rtlCol="0" anchor="t"/>
          <a:lstStyle/>
          <a:p>
            <a:pPr algn="l" indent="0" marL="0">
              <a:buNone/>
            </a:pPr>
            <a:r>
              <a:rPr lang="en-US" sz="900" dirty="0">
                <a:solidFill>
                  <a:srgbClr val="006D77"/>
                </a:solidFill>
                <a:latin typeface="Calibri" pitchFamily="34" charset="0"/>
                <a:ea typeface="Calibri" pitchFamily="34" charset="-122"/>
                <a:cs typeface="Calibri" pitchFamily="34" charset="-120"/>
              </a:rPr>
              <a:t>Queryable, and the schema constrains.</a:t>
            </a:r>
            <a:endParaRPr lang="en-US" sz="900" dirty="0"/>
          </a:p>
        </p:txBody>
      </p:sp>
      <p:sp>
        <p:nvSpPr>
          <p:cNvPr id="13" name="Text 11"/>
          <p:cNvSpPr/>
          <p:nvPr/>
        </p:nvSpPr>
        <p:spPr>
          <a:xfrm>
            <a:off x="640080" y="3145536"/>
            <a:ext cx="3648456" cy="201168"/>
          </a:xfrm>
          <a:prstGeom prst="rect">
            <a:avLst/>
          </a:prstGeom>
          <a:noFill/>
          <a:ln/>
        </p:spPr>
        <p:txBody>
          <a:bodyPr wrap="square" lIns="0" tIns="0" rIns="0" bIns="0" rtlCol="0" anchor="ctr"/>
          <a:lstStyle/>
          <a:p>
            <a:pPr algn="l" indent="0" marL="0">
              <a:buNone/>
            </a:pPr>
            <a:r>
              <a:rPr lang="en-US" sz="1100" b="1" dirty="0">
                <a:solidFill>
                  <a:srgbClr val="006D77"/>
                </a:solidFill>
                <a:latin typeface="Georgia" pitchFamily="34" charset="0"/>
                <a:ea typeface="Georgia" pitchFamily="34" charset="-122"/>
                <a:cs typeface="Georgia" pitchFamily="34" charset="-120"/>
              </a:rPr>
              <a:t>Knowledge graph</a:t>
            </a:r>
            <a:endParaRPr lang="en-US" sz="1100" dirty="0"/>
          </a:p>
        </p:txBody>
      </p:sp>
      <p:sp>
        <p:nvSpPr>
          <p:cNvPr id="14" name="Text 12"/>
          <p:cNvSpPr/>
          <p:nvPr/>
        </p:nvSpPr>
        <p:spPr>
          <a:xfrm>
            <a:off x="640080" y="3346704"/>
            <a:ext cx="3648456" cy="292608"/>
          </a:xfrm>
          <a:prstGeom prst="rect">
            <a:avLst/>
          </a:prstGeom>
          <a:noFill/>
          <a:ln/>
        </p:spPr>
        <p:txBody>
          <a:bodyPr wrap="square" lIns="0" tIns="0" rIns="0" bIns="0" rtlCol="0" anchor="t"/>
          <a:lstStyle/>
          <a:p>
            <a:pPr algn="l" indent="0" marL="0">
              <a:buNone/>
            </a:pPr>
            <a:r>
              <a:rPr lang="en-US" sz="900" dirty="0">
                <a:solidFill>
                  <a:srgbClr val="006D77"/>
                </a:solidFill>
                <a:latin typeface="Calibri" pitchFamily="34" charset="0"/>
                <a:ea typeface="Calibri" pitchFamily="34" charset="-122"/>
                <a:cs typeface="Calibri" pitchFamily="34" charset="-120"/>
              </a:rPr>
              <a:t>Linked entities, and change over time.</a:t>
            </a:r>
            <a:endParaRPr lang="en-US" sz="900" dirty="0"/>
          </a:p>
        </p:txBody>
      </p:sp>
      <p:sp>
        <p:nvSpPr>
          <p:cNvPr id="15" name="Shape 13"/>
          <p:cNvSpPr/>
          <p:nvPr/>
        </p:nvSpPr>
        <p:spPr>
          <a:xfrm>
            <a:off x="640080" y="3566160"/>
            <a:ext cx="3648456" cy="475488"/>
          </a:xfrm>
          <a:prstGeom prst="rect">
            <a:avLst/>
          </a:prstGeom>
          <a:solidFill>
            <a:srgbClr val="FFDDD2"/>
          </a:solidFill>
          <a:ln w="9525">
            <a:solidFill>
              <a:srgbClr val="E29578"/>
            </a:solidFill>
            <a:prstDash val="solid"/>
          </a:ln>
        </p:spPr>
      </p:sp>
      <p:sp>
        <p:nvSpPr>
          <p:cNvPr id="16" name="Text 14"/>
          <p:cNvSpPr/>
          <p:nvPr/>
        </p:nvSpPr>
        <p:spPr>
          <a:xfrm>
            <a:off x="731520" y="3602736"/>
            <a:ext cx="3465576" cy="402336"/>
          </a:xfrm>
          <a:prstGeom prst="rect">
            <a:avLst/>
          </a:prstGeom>
          <a:noFill/>
          <a:ln/>
        </p:spPr>
        <p:txBody>
          <a:bodyPr wrap="square" lIns="0" tIns="0" rIns="0" bIns="0" rtlCol="0" anchor="t"/>
          <a:lstStyle/>
          <a:p>
            <a:pPr algn="l" indent="0" marL="0">
              <a:buNone/>
            </a:pPr>
            <a:r>
              <a:rPr lang="en-US" sz="850" dirty="0">
                <a:solidFill>
                  <a:srgbClr val="006D77"/>
                </a:solidFill>
                <a:latin typeface="Calibri" pitchFamily="34" charset="0"/>
                <a:ea typeface="Calibri" pitchFamily="34" charset="-122"/>
                <a:cs typeface="Calibri" pitchFamily="34" charset="-120"/>
              </a:rPr>
              <a:t>"We moved serving from vLLM to SGLang."  /  "Uses SGLang for model serving."  /  {"serving_engine":"SGLang"}  /  Project -&gt; USES -&gt; SGLang</a:t>
            </a:r>
            <a:endParaRPr lang="en-US" sz="850" dirty="0"/>
          </a:p>
        </p:txBody>
      </p:sp>
      <p:sp>
        <p:nvSpPr>
          <p:cNvPr id="17" name="Shape 15"/>
          <p:cNvSpPr/>
          <p:nvPr/>
        </p:nvSpPr>
        <p:spPr>
          <a:xfrm>
            <a:off x="4709160" y="1188720"/>
            <a:ext cx="3977640" cy="301752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18" name="Shape 16"/>
          <p:cNvSpPr/>
          <p:nvPr/>
        </p:nvSpPr>
        <p:spPr>
          <a:xfrm>
            <a:off x="4709160" y="1188720"/>
            <a:ext cx="50292" cy="3017520"/>
          </a:xfrm>
          <a:prstGeom prst="rect">
            <a:avLst/>
          </a:prstGeom>
          <a:solidFill>
            <a:srgbClr val="E29578"/>
          </a:solidFill>
          <a:ln w="12700">
            <a:solidFill>
              <a:srgbClr val="E29578"/>
            </a:solidFill>
            <a:prstDash val="solid"/>
          </a:ln>
        </p:spPr>
      </p:sp>
      <p:sp>
        <p:nvSpPr>
          <p:cNvPr id="19" name="Text 17"/>
          <p:cNvSpPr/>
          <p:nvPr/>
        </p:nvSpPr>
        <p:spPr>
          <a:xfrm>
            <a:off x="4892040" y="1335024"/>
            <a:ext cx="3648456" cy="274320"/>
          </a:xfrm>
          <a:prstGeom prst="rect">
            <a:avLst/>
          </a:prstGeom>
          <a:noFill/>
          <a:ln/>
        </p:spPr>
        <p:txBody>
          <a:bodyPr wrap="square" lIns="0" tIns="0" rIns="0" bIns="0" rtlCol="0" anchor="ctr"/>
          <a:lstStyle/>
          <a:p>
            <a:pPr algn="l" indent="0" marL="0">
              <a:buNone/>
            </a:pPr>
            <a:r>
              <a:rPr lang="en-US" sz="1500" b="1" dirty="0">
                <a:solidFill>
                  <a:srgbClr val="006D77"/>
                </a:solidFill>
                <a:latin typeface="Georgia" pitchFamily="34" charset="0"/>
                <a:ea typeface="Georgia" pitchFamily="34" charset="-122"/>
                <a:cs typeface="Georgia" pitchFamily="34" charset="-120"/>
              </a:rPr>
              <a:t>Four storage classes</a:t>
            </a:r>
            <a:endParaRPr lang="en-US" sz="1500" dirty="0"/>
          </a:p>
        </p:txBody>
      </p:sp>
      <p:sp>
        <p:nvSpPr>
          <p:cNvPr id="20" name="Text 18"/>
          <p:cNvSpPr/>
          <p:nvPr/>
        </p:nvSpPr>
        <p:spPr>
          <a:xfrm>
            <a:off x="4892040" y="1664208"/>
            <a:ext cx="3648456" cy="201168"/>
          </a:xfrm>
          <a:prstGeom prst="rect">
            <a:avLst/>
          </a:prstGeom>
          <a:noFill/>
          <a:ln/>
        </p:spPr>
        <p:txBody>
          <a:bodyPr wrap="square" lIns="0" tIns="0" rIns="0" bIns="0" rtlCol="0" anchor="ctr"/>
          <a:lstStyle/>
          <a:p>
            <a:pPr algn="l" indent="0" marL="0">
              <a:buNone/>
            </a:pPr>
            <a:r>
              <a:rPr lang="en-US" sz="1100" b="1" dirty="0">
                <a:solidFill>
                  <a:srgbClr val="006D77"/>
                </a:solidFill>
                <a:latin typeface="Georgia" pitchFamily="34" charset="0"/>
                <a:ea typeface="Georgia" pitchFamily="34" charset="-122"/>
                <a:cs typeface="Georgia" pitchFamily="34" charset="-120"/>
              </a:rPr>
              <a:t>Plain files</a:t>
            </a:r>
            <a:endParaRPr lang="en-US" sz="1100" dirty="0"/>
          </a:p>
        </p:txBody>
      </p:sp>
      <p:sp>
        <p:nvSpPr>
          <p:cNvPr id="21" name="Text 19"/>
          <p:cNvSpPr/>
          <p:nvPr/>
        </p:nvSpPr>
        <p:spPr>
          <a:xfrm>
            <a:off x="4892040" y="1865376"/>
            <a:ext cx="3648456" cy="292608"/>
          </a:xfrm>
          <a:prstGeom prst="rect">
            <a:avLst/>
          </a:prstGeom>
          <a:noFill/>
          <a:ln/>
        </p:spPr>
        <p:txBody>
          <a:bodyPr wrap="square" lIns="0" tIns="0" rIns="0" bIns="0" rtlCol="0" anchor="t"/>
          <a:lstStyle/>
          <a:p>
            <a:pPr algn="l" indent="0" marL="0">
              <a:buNone/>
            </a:pPr>
            <a:r>
              <a:rPr lang="en-US" sz="900" dirty="0">
                <a:solidFill>
                  <a:srgbClr val="006D77"/>
                </a:solidFill>
                <a:latin typeface="Calibri" pitchFamily="34" charset="0"/>
                <a:ea typeface="Calibri" pitchFamily="34" charset="-122"/>
                <a:cs typeface="Calibri" pitchFamily="34" charset="-120"/>
              </a:rPr>
              <a:t>CLAUDE.md, scratchpad - easy to inspect, diff, search.</a:t>
            </a:r>
            <a:endParaRPr lang="en-US" sz="900" dirty="0"/>
          </a:p>
        </p:txBody>
      </p:sp>
      <p:sp>
        <p:nvSpPr>
          <p:cNvPr id="22" name="Text 20"/>
          <p:cNvSpPr/>
          <p:nvPr/>
        </p:nvSpPr>
        <p:spPr>
          <a:xfrm>
            <a:off x="4892040" y="2157984"/>
            <a:ext cx="3648456" cy="201168"/>
          </a:xfrm>
          <a:prstGeom prst="rect">
            <a:avLst/>
          </a:prstGeom>
          <a:noFill/>
          <a:ln/>
        </p:spPr>
        <p:txBody>
          <a:bodyPr wrap="square" lIns="0" tIns="0" rIns="0" bIns="0" rtlCol="0" anchor="ctr"/>
          <a:lstStyle/>
          <a:p>
            <a:pPr algn="l" indent="0" marL="0">
              <a:buNone/>
            </a:pPr>
            <a:r>
              <a:rPr lang="en-US" sz="1100" b="1" dirty="0">
                <a:solidFill>
                  <a:srgbClr val="006D77"/>
                </a:solidFill>
                <a:latin typeface="Georgia" pitchFamily="34" charset="0"/>
                <a:ea typeface="Georgia" pitchFamily="34" charset="-122"/>
                <a:cs typeface="Georgia" pitchFamily="34" charset="-120"/>
              </a:rPr>
              <a:t>Key-value or relational database</a:t>
            </a:r>
            <a:endParaRPr lang="en-US" sz="1100" dirty="0"/>
          </a:p>
        </p:txBody>
      </p:sp>
      <p:sp>
        <p:nvSpPr>
          <p:cNvPr id="23" name="Text 21"/>
          <p:cNvSpPr/>
          <p:nvPr/>
        </p:nvSpPr>
        <p:spPr>
          <a:xfrm>
            <a:off x="4892040" y="2359152"/>
            <a:ext cx="3648456" cy="292608"/>
          </a:xfrm>
          <a:prstGeom prst="rect">
            <a:avLst/>
          </a:prstGeom>
          <a:noFill/>
          <a:ln/>
        </p:spPr>
        <p:txBody>
          <a:bodyPr wrap="square" lIns="0" tIns="0" rIns="0" bIns="0" rtlCol="0" anchor="t"/>
          <a:lstStyle/>
          <a:p>
            <a:pPr algn="l" indent="0" marL="0">
              <a:buNone/>
            </a:pPr>
            <a:r>
              <a:rPr lang="en-US" sz="900" dirty="0">
                <a:solidFill>
                  <a:srgbClr val="006D77"/>
                </a:solidFill>
                <a:latin typeface="Calibri" pitchFamily="34" charset="0"/>
                <a:ea typeface="Calibri" pitchFamily="34" charset="-122"/>
                <a:cs typeface="Calibri" pitchFamily="34" charset="-120"/>
              </a:rPr>
              <a:t>Redis, SQLite, Postgres JSONB - exact lookup, filtering, transactions.</a:t>
            </a:r>
            <a:endParaRPr lang="en-US" sz="900" dirty="0"/>
          </a:p>
        </p:txBody>
      </p:sp>
      <p:sp>
        <p:nvSpPr>
          <p:cNvPr id="24" name="Text 22"/>
          <p:cNvSpPr/>
          <p:nvPr/>
        </p:nvSpPr>
        <p:spPr>
          <a:xfrm>
            <a:off x="4892040" y="2651760"/>
            <a:ext cx="3648456" cy="201168"/>
          </a:xfrm>
          <a:prstGeom prst="rect">
            <a:avLst/>
          </a:prstGeom>
          <a:noFill/>
          <a:ln/>
        </p:spPr>
        <p:txBody>
          <a:bodyPr wrap="square" lIns="0" tIns="0" rIns="0" bIns="0" rtlCol="0" anchor="ctr"/>
          <a:lstStyle/>
          <a:p>
            <a:pPr algn="l" indent="0" marL="0">
              <a:buNone/>
            </a:pPr>
            <a:r>
              <a:rPr lang="en-US" sz="1100" b="1" dirty="0">
                <a:solidFill>
                  <a:srgbClr val="006D77"/>
                </a:solidFill>
                <a:latin typeface="Georgia" pitchFamily="34" charset="0"/>
                <a:ea typeface="Georgia" pitchFamily="34" charset="-122"/>
                <a:cs typeface="Georgia" pitchFamily="34" charset="-120"/>
              </a:rPr>
              <a:t>Vector store</a:t>
            </a:r>
            <a:endParaRPr lang="en-US" sz="1100" dirty="0"/>
          </a:p>
        </p:txBody>
      </p:sp>
      <p:sp>
        <p:nvSpPr>
          <p:cNvPr id="25" name="Text 23"/>
          <p:cNvSpPr/>
          <p:nvPr/>
        </p:nvSpPr>
        <p:spPr>
          <a:xfrm>
            <a:off x="4892040" y="2852928"/>
            <a:ext cx="3648456" cy="292608"/>
          </a:xfrm>
          <a:prstGeom prst="rect">
            <a:avLst/>
          </a:prstGeom>
          <a:noFill/>
          <a:ln/>
        </p:spPr>
        <p:txBody>
          <a:bodyPr wrap="square" lIns="0" tIns="0" rIns="0" bIns="0" rtlCol="0" anchor="t"/>
          <a:lstStyle/>
          <a:p>
            <a:pPr algn="l" indent="0" marL="0">
              <a:buNone/>
            </a:pPr>
            <a:r>
              <a:rPr lang="en-US" sz="900" dirty="0">
                <a:solidFill>
                  <a:srgbClr val="006D77"/>
                </a:solidFill>
                <a:latin typeface="Calibri" pitchFamily="34" charset="0"/>
                <a:ea typeface="Calibri" pitchFamily="34" charset="-122"/>
                <a:cs typeface="Calibri" pitchFamily="34" charset="-120"/>
              </a:rPr>
              <a:t>pgvector, Chroma, Pinecone - exact or approximate similarity search.</a:t>
            </a:r>
            <a:endParaRPr lang="en-US" sz="900" dirty="0"/>
          </a:p>
        </p:txBody>
      </p:sp>
      <p:sp>
        <p:nvSpPr>
          <p:cNvPr id="26" name="Text 24"/>
          <p:cNvSpPr/>
          <p:nvPr/>
        </p:nvSpPr>
        <p:spPr>
          <a:xfrm>
            <a:off x="4892040" y="3145536"/>
            <a:ext cx="3648456" cy="201168"/>
          </a:xfrm>
          <a:prstGeom prst="rect">
            <a:avLst/>
          </a:prstGeom>
          <a:noFill/>
          <a:ln/>
        </p:spPr>
        <p:txBody>
          <a:bodyPr wrap="square" lIns="0" tIns="0" rIns="0" bIns="0" rtlCol="0" anchor="ctr"/>
          <a:lstStyle/>
          <a:p>
            <a:pPr algn="l" indent="0" marL="0">
              <a:buNone/>
            </a:pPr>
            <a:r>
              <a:rPr lang="en-US" sz="1100" b="1" dirty="0">
                <a:solidFill>
                  <a:srgbClr val="006D77"/>
                </a:solidFill>
                <a:latin typeface="Georgia" pitchFamily="34" charset="0"/>
                <a:ea typeface="Georgia" pitchFamily="34" charset="-122"/>
                <a:cs typeface="Georgia" pitchFamily="34" charset="-120"/>
              </a:rPr>
              <a:t>Graph database</a:t>
            </a:r>
            <a:endParaRPr lang="en-US" sz="1100" dirty="0"/>
          </a:p>
        </p:txBody>
      </p:sp>
      <p:sp>
        <p:nvSpPr>
          <p:cNvPr id="27" name="Text 25"/>
          <p:cNvSpPr/>
          <p:nvPr/>
        </p:nvSpPr>
        <p:spPr>
          <a:xfrm>
            <a:off x="4892040" y="3346704"/>
            <a:ext cx="3648456" cy="292608"/>
          </a:xfrm>
          <a:prstGeom prst="rect">
            <a:avLst/>
          </a:prstGeom>
          <a:noFill/>
          <a:ln/>
        </p:spPr>
        <p:txBody>
          <a:bodyPr wrap="square" lIns="0" tIns="0" rIns="0" bIns="0" rtlCol="0" anchor="t"/>
          <a:lstStyle/>
          <a:p>
            <a:pPr algn="l" indent="0" marL="0">
              <a:buNone/>
            </a:pPr>
            <a:r>
              <a:rPr lang="en-US" sz="900" dirty="0">
                <a:solidFill>
                  <a:srgbClr val="006D77"/>
                </a:solidFill>
                <a:latin typeface="Calibri" pitchFamily="34" charset="0"/>
                <a:ea typeface="Calibri" pitchFamily="34" charset="-122"/>
                <a:cs typeface="Calibri" pitchFamily="34" charset="-120"/>
              </a:rPr>
              <a:t>Neo4j, FalkorDB (Graphiti) - relationship queries, multi-hop traversal.</a:t>
            </a:r>
            <a:endParaRPr lang="en-US" sz="900" dirty="0"/>
          </a:p>
        </p:txBody>
      </p:sp>
      <p:sp>
        <p:nvSpPr>
          <p:cNvPr id="28" name="Text 26"/>
          <p:cNvSpPr/>
          <p:nvPr/>
        </p:nvSpPr>
        <p:spPr>
          <a:xfrm>
            <a:off x="457200" y="4279392"/>
            <a:ext cx="8229600" cy="274320"/>
          </a:xfrm>
          <a:prstGeom prst="rect">
            <a:avLst/>
          </a:prstGeom>
          <a:noFill/>
          <a:ln/>
        </p:spPr>
        <p:txBody>
          <a:bodyPr wrap="square" lIns="0" tIns="0" rIns="0" bIns="0" rtlCol="0" anchor="ctr"/>
          <a:lstStyle/>
          <a:p>
            <a:pPr algn="l" indent="0" marL="0">
              <a:buNone/>
            </a:pPr>
            <a:r>
              <a:rPr lang="en-US" sz="1100" dirty="0">
                <a:solidFill>
                  <a:srgbClr val="006D77"/>
                </a:solidFill>
                <a:latin typeface="Calibri" pitchFamily="34" charset="0"/>
                <a:ea typeface="Calibri" pitchFamily="34" charset="-122"/>
                <a:cs typeface="Calibri" pitchFamily="34" charset="-120"/>
              </a:rPr>
              <a:t>The choice of representation and the choice of backend are two different decisions, made independently.</a:t>
            </a:r>
            <a:endParaRPr lang="en-US" sz="1100" dirty="0"/>
          </a:p>
        </p:txBody>
      </p:sp>
      <p:sp>
        <p:nvSpPr>
          <p:cNvPr id="29" name="Shape 27"/>
          <p:cNvSpPr/>
          <p:nvPr/>
        </p:nvSpPr>
        <p:spPr>
          <a:xfrm>
            <a:off x="8485632" y="4645152"/>
            <a:ext cx="420624" cy="274320"/>
          </a:xfrm>
          <a:prstGeom prst="roundRect">
            <a:avLst>
              <a:gd name="adj" fmla="val 26667"/>
            </a:avLst>
          </a:prstGeom>
          <a:solidFill>
            <a:srgbClr val="006D77"/>
          </a:solidFill>
          <a:ln w="12700">
            <a:solidFill>
              <a:srgbClr val="006D77"/>
            </a:solidFill>
            <a:prstDash val="solid"/>
          </a:ln>
        </p:spPr>
      </p:sp>
      <p:sp>
        <p:nvSpPr>
          <p:cNvPr id="30" name="Text 28"/>
          <p:cNvSpPr/>
          <p:nvPr/>
        </p:nvSpPr>
        <p:spPr>
          <a:xfrm>
            <a:off x="8485632" y="4645152"/>
            <a:ext cx="420624" cy="274320"/>
          </a:xfrm>
          <a:prstGeom prst="rect">
            <a:avLst/>
          </a:prstGeom>
          <a:noFill/>
          <a:ln/>
        </p:spPr>
        <p:txBody>
          <a:bodyPr wrap="square" lIns="0" tIns="0" rIns="0" bIns="0" rtlCol="0" anchor="ctr"/>
          <a:lstStyle/>
          <a:p>
            <a:pPr algn="ctr" indent="0" marL="0">
              <a:buNone/>
            </a:pPr>
            <a:r>
              <a:rPr lang="en-US" sz="1100" dirty="0">
                <a:solidFill>
                  <a:srgbClr val="EDF6F9"/>
                </a:solidFill>
                <a:latin typeface="Calibri" pitchFamily="34" charset="0"/>
                <a:ea typeface="Calibri" pitchFamily="34" charset="-122"/>
                <a:cs typeface="Calibri" pitchFamily="34" charset="-120"/>
              </a:rPr>
              <a:t>5</a:t>
            </a:r>
            <a:endParaRPr lang="en-US" sz="1100" dirty="0"/>
          </a:p>
        </p:txBody>
      </p:sp>
      <p:sp>
        <p:nvSpPr>
          <p:cNvPr id="31" name="Shape 29"/>
          <p:cNvSpPr/>
          <p:nvPr/>
        </p:nvSpPr>
        <p:spPr>
          <a:xfrm>
            <a:off x="457200" y="4754880"/>
            <a:ext cx="7772400" cy="10973"/>
          </a:xfrm>
          <a:prstGeom prst="rect">
            <a:avLst/>
          </a:prstGeom>
          <a:solidFill>
            <a:srgbClr val="83C5BE"/>
          </a:solidFill>
          <a:ln w="12700">
            <a:solidFill>
              <a:srgbClr val="83C5BE"/>
            </a:solidFill>
            <a:prstDash val="solid"/>
          </a:ln>
        </p:spPr>
      </p:sp>
      <p:sp>
        <p:nvSpPr>
          <p:cNvPr id="32" name="Text 30"/>
          <p:cNvSpPr/>
          <p:nvPr/>
        </p:nvSpPr>
        <p:spPr>
          <a:xfrm>
            <a:off x="457200" y="4773168"/>
            <a:ext cx="7772400" cy="219456"/>
          </a:xfrm>
          <a:prstGeom prst="rect">
            <a:avLst/>
          </a:prstGeom>
          <a:noFill/>
          <a:ln/>
        </p:spPr>
        <p:txBody>
          <a:bodyPr wrap="square" lIns="0" tIns="0" rIns="0" bIns="0" rtlCol="0" anchor="ctr"/>
          <a:lstStyle/>
          <a:p>
            <a:pPr algn="l" indent="0" marL="0">
              <a:buNone/>
            </a:pPr>
            <a:r>
              <a:rPr lang="en-US" sz="900" dirty="0">
                <a:solidFill>
                  <a:srgbClr val="006D77">
                    <a:alpha val="55000"/>
                  </a:srgbClr>
                </a:solidFill>
                <a:latin typeface="Calibri" pitchFamily="34" charset="0"/>
                <a:ea typeface="Calibri" pitchFamily="34" charset="-122"/>
                <a:cs typeface="Calibri" pitchFamily="34" charset="-120"/>
              </a:rPr>
              <a:t>Source: https://cs2680.seas.harvard.edu/slides/6_agent_design_3.pdf</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F6F9"/>
        </a:solidFill>
      </p:bgPr>
    </p:bg>
    <p:spTree>
      <p:nvGrpSpPr>
        <p:cNvPr id="1" name=""/>
        <p:cNvGrpSpPr/>
        <p:nvPr/>
      </p:nvGrpSpPr>
      <p:grpSpPr>
        <a:xfrm>
          <a:off x="0" y="0"/>
          <a:ext cx="0" cy="0"/>
          <a:chOff x="0" y="0"/>
          <a:chExt cx="0" cy="0"/>
        </a:xfrm>
      </p:grpSpPr>
      <p:sp>
        <p:nvSpPr>
          <p:cNvPr id="2" name="Text 0"/>
          <p:cNvSpPr/>
          <p:nvPr/>
        </p:nvSpPr>
        <p:spPr>
          <a:xfrm>
            <a:off x="457200" y="310896"/>
            <a:ext cx="8229600" cy="219456"/>
          </a:xfrm>
          <a:prstGeom prst="rect">
            <a:avLst/>
          </a:prstGeom>
          <a:noFill/>
          <a:ln/>
        </p:spPr>
        <p:txBody>
          <a:bodyPr wrap="square" lIns="0" tIns="0" rIns="0" bIns="0" rtlCol="0" anchor="ctr"/>
          <a:lstStyle/>
          <a:p>
            <a:pPr algn="l" indent="0" marL="0">
              <a:buNone/>
            </a:pPr>
            <a:r>
              <a:rPr lang="en-US" sz="1100" spc="140" kern="0" dirty="0">
                <a:solidFill>
                  <a:srgbClr val="E29578"/>
                </a:solidFill>
                <a:latin typeface="Calibri" pitchFamily="34" charset="0"/>
                <a:ea typeface="Calibri" pitchFamily="34" charset="-122"/>
                <a:cs typeface="Calibri" pitchFamily="34" charset="-120"/>
              </a:rPr>
              <a:t>AUTOMATIC, RUNTIME-CONTROLLED, MODEL-CONTROLLED</a:t>
            </a:r>
            <a:endParaRPr lang="en-US" sz="1100" dirty="0"/>
          </a:p>
        </p:txBody>
      </p:sp>
      <p:sp>
        <p:nvSpPr>
          <p:cNvPr id="3" name="Text 1"/>
          <p:cNvSpPr/>
          <p:nvPr/>
        </p:nvSpPr>
        <p:spPr>
          <a:xfrm>
            <a:off x="457200" y="548640"/>
            <a:ext cx="8229600" cy="566928"/>
          </a:xfrm>
          <a:prstGeom prst="rect">
            <a:avLst/>
          </a:prstGeom>
          <a:noFill/>
          <a:ln/>
        </p:spPr>
        <p:txBody>
          <a:bodyPr wrap="square" lIns="0" tIns="0" rIns="0" bIns="0" rtlCol="0" anchor="ctr">
            <a:normAutofit/>
          </a:bodyPr>
          <a:lstStyle/>
          <a:p>
            <a:pPr algn="l" indent="0" marL="0">
              <a:buNone/>
            </a:pPr>
            <a:r>
              <a:rPr lang="en-US" sz="2700" b="1" dirty="0">
                <a:solidFill>
                  <a:srgbClr val="006D77"/>
                </a:solidFill>
                <a:latin typeface="Georgia" pitchFamily="34" charset="0"/>
                <a:ea typeface="Georgia" pitchFamily="34" charset="-122"/>
                <a:cs typeface="Georgia" pitchFamily="34" charset="-120"/>
              </a:rPr>
              <a:t>Three usage policies: who decides to use memory</a:t>
            </a:r>
            <a:endParaRPr lang="en-US" sz="2700" dirty="0"/>
          </a:p>
        </p:txBody>
      </p:sp>
      <p:sp>
        <p:nvSpPr>
          <p:cNvPr id="4" name="Shape 2"/>
          <p:cNvSpPr/>
          <p:nvPr/>
        </p:nvSpPr>
        <p:spPr>
          <a:xfrm>
            <a:off x="457200" y="1225296"/>
            <a:ext cx="2651760" cy="265176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5" name="Shape 3"/>
          <p:cNvSpPr/>
          <p:nvPr/>
        </p:nvSpPr>
        <p:spPr>
          <a:xfrm>
            <a:off x="457200" y="1225296"/>
            <a:ext cx="50292" cy="2651760"/>
          </a:xfrm>
          <a:prstGeom prst="rect">
            <a:avLst/>
          </a:prstGeom>
          <a:solidFill>
            <a:srgbClr val="E29578"/>
          </a:solidFill>
          <a:ln w="12700">
            <a:solidFill>
              <a:srgbClr val="E29578"/>
            </a:solidFill>
            <a:prstDash val="solid"/>
          </a:ln>
        </p:spPr>
      </p:sp>
      <p:sp>
        <p:nvSpPr>
          <p:cNvPr id="6" name="Text 4"/>
          <p:cNvSpPr/>
          <p:nvPr/>
        </p:nvSpPr>
        <p:spPr>
          <a:xfrm>
            <a:off x="640080" y="1371600"/>
            <a:ext cx="2322576" cy="274320"/>
          </a:xfrm>
          <a:prstGeom prst="rect">
            <a:avLst/>
          </a:prstGeom>
          <a:noFill/>
          <a:ln/>
        </p:spPr>
        <p:txBody>
          <a:bodyPr wrap="square" lIns="0" tIns="0" rIns="0" bIns="0" rtlCol="0" anchor="ctr"/>
          <a:lstStyle/>
          <a:p>
            <a:pPr algn="l" indent="0" marL="0">
              <a:buNone/>
            </a:pPr>
            <a:r>
              <a:rPr lang="en-US" sz="1400" b="1" dirty="0">
                <a:solidFill>
                  <a:srgbClr val="006D77"/>
                </a:solidFill>
                <a:latin typeface="Georgia" pitchFamily="34" charset="0"/>
                <a:ea typeface="Georgia" pitchFamily="34" charset="-122"/>
                <a:cs typeface="Georgia" pitchFamily="34" charset="-120"/>
              </a:rPr>
              <a:t>Automatic</a:t>
            </a:r>
            <a:endParaRPr lang="en-US" sz="1400" dirty="0"/>
          </a:p>
        </p:txBody>
      </p:sp>
      <p:sp>
        <p:nvSpPr>
          <p:cNvPr id="7" name="Text 5"/>
          <p:cNvSpPr/>
          <p:nvPr/>
        </p:nvSpPr>
        <p:spPr>
          <a:xfrm>
            <a:off x="640080" y="1664208"/>
            <a:ext cx="2322576" cy="237744"/>
          </a:xfrm>
          <a:prstGeom prst="rect">
            <a:avLst/>
          </a:prstGeom>
          <a:noFill/>
          <a:ln/>
        </p:spPr>
        <p:txBody>
          <a:bodyPr wrap="square" lIns="0" tIns="0" rIns="0" bIns="0" rtlCol="0" anchor="ctr"/>
          <a:lstStyle/>
          <a:p>
            <a:pPr algn="l" indent="0" marL="0">
              <a:buNone/>
            </a:pPr>
            <a:r>
              <a:rPr lang="en-US" sz="1100" dirty="0">
                <a:solidFill>
                  <a:srgbClr val="E29578"/>
                </a:solidFill>
                <a:latin typeface="Calibri" pitchFamily="34" charset="0"/>
                <a:ea typeface="Calibri" pitchFamily="34" charset="-122"/>
                <a:cs typeface="Calibri" pitchFamily="34" charset="-120"/>
              </a:rPr>
              <a:t>Every turn.</a:t>
            </a:r>
            <a:endParaRPr lang="en-US" sz="1100" dirty="0"/>
          </a:p>
        </p:txBody>
      </p:sp>
      <p:sp>
        <p:nvSpPr>
          <p:cNvPr id="8" name="Shape 6"/>
          <p:cNvSpPr/>
          <p:nvPr/>
        </p:nvSpPr>
        <p:spPr>
          <a:xfrm>
            <a:off x="640080" y="1920240"/>
            <a:ext cx="685800" cy="310896"/>
          </a:xfrm>
          <a:prstGeom prst="rect">
            <a:avLst/>
          </a:prstGeom>
          <a:solidFill>
            <a:srgbClr val="83C5BE"/>
          </a:solidFill>
          <a:ln w="6350">
            <a:solidFill>
              <a:srgbClr val="006D77"/>
            </a:solidFill>
            <a:prstDash val="solid"/>
          </a:ln>
        </p:spPr>
      </p:sp>
      <p:sp>
        <p:nvSpPr>
          <p:cNvPr id="9" name="Text 7"/>
          <p:cNvSpPr/>
          <p:nvPr/>
        </p:nvSpPr>
        <p:spPr>
          <a:xfrm>
            <a:off x="640080" y="1920240"/>
            <a:ext cx="685800" cy="310896"/>
          </a:xfrm>
          <a:prstGeom prst="rect">
            <a:avLst/>
          </a:prstGeom>
          <a:noFill/>
          <a:ln/>
        </p:spPr>
        <p:txBody>
          <a:bodyPr wrap="square" lIns="0" tIns="0" rIns="0" bIns="0" rtlCol="0" anchor="ctr"/>
          <a:lstStyle/>
          <a:p>
            <a:pPr algn="ctr" indent="0" marL="0">
              <a:buNone/>
            </a:pPr>
            <a:r>
              <a:rPr lang="en-US" sz="850" dirty="0">
                <a:solidFill>
                  <a:srgbClr val="006D77"/>
                </a:solidFill>
                <a:latin typeface="Calibri" pitchFamily="34" charset="0"/>
                <a:ea typeface="Calibri" pitchFamily="34" charset="-122"/>
                <a:cs typeface="Calibri" pitchFamily="34" charset="-120"/>
              </a:rPr>
              <a:t>search</a:t>
            </a:r>
            <a:endParaRPr lang="en-US" sz="850" dirty="0"/>
          </a:p>
        </p:txBody>
      </p:sp>
      <p:sp>
        <p:nvSpPr>
          <p:cNvPr id="10" name="Shape 8"/>
          <p:cNvSpPr/>
          <p:nvPr/>
        </p:nvSpPr>
        <p:spPr>
          <a:xfrm>
            <a:off x="1353312" y="1984248"/>
            <a:ext cx="109728" cy="182880"/>
          </a:xfrm>
          <a:prstGeom prst="rightArrow">
            <a:avLst/>
          </a:prstGeom>
          <a:solidFill>
            <a:srgbClr val="E29578"/>
          </a:solidFill>
          <a:ln w="12700">
            <a:solidFill>
              <a:srgbClr val="E29578"/>
            </a:solidFill>
            <a:prstDash val="solid"/>
          </a:ln>
        </p:spPr>
      </p:sp>
      <p:sp>
        <p:nvSpPr>
          <p:cNvPr id="11" name="Shape 9"/>
          <p:cNvSpPr/>
          <p:nvPr/>
        </p:nvSpPr>
        <p:spPr>
          <a:xfrm>
            <a:off x="1490472" y="1920240"/>
            <a:ext cx="685800" cy="310896"/>
          </a:xfrm>
          <a:prstGeom prst="rect">
            <a:avLst/>
          </a:prstGeom>
          <a:solidFill>
            <a:srgbClr val="83C5BE"/>
          </a:solidFill>
          <a:ln w="6350">
            <a:solidFill>
              <a:srgbClr val="006D77"/>
            </a:solidFill>
            <a:prstDash val="solid"/>
          </a:ln>
        </p:spPr>
      </p:sp>
      <p:sp>
        <p:nvSpPr>
          <p:cNvPr id="12" name="Text 10"/>
          <p:cNvSpPr/>
          <p:nvPr/>
        </p:nvSpPr>
        <p:spPr>
          <a:xfrm>
            <a:off x="1490472" y="1920240"/>
            <a:ext cx="685800" cy="310896"/>
          </a:xfrm>
          <a:prstGeom prst="rect">
            <a:avLst/>
          </a:prstGeom>
          <a:noFill/>
          <a:ln/>
        </p:spPr>
        <p:txBody>
          <a:bodyPr wrap="square" lIns="0" tIns="0" rIns="0" bIns="0" rtlCol="0" anchor="ctr"/>
          <a:lstStyle/>
          <a:p>
            <a:pPr algn="ctr" indent="0" marL="0">
              <a:buNone/>
            </a:pPr>
            <a:r>
              <a:rPr lang="en-US" sz="850" dirty="0">
                <a:solidFill>
                  <a:srgbClr val="006D77"/>
                </a:solidFill>
                <a:latin typeface="Calibri" pitchFamily="34" charset="0"/>
                <a:ea typeface="Calibri" pitchFamily="34" charset="-122"/>
                <a:cs typeface="Calibri" pitchFamily="34" charset="-120"/>
              </a:rPr>
              <a:t>LLM</a:t>
            </a:r>
            <a:endParaRPr lang="en-US" sz="850" dirty="0"/>
          </a:p>
        </p:txBody>
      </p:sp>
      <p:sp>
        <p:nvSpPr>
          <p:cNvPr id="13" name="Shape 11"/>
          <p:cNvSpPr/>
          <p:nvPr/>
        </p:nvSpPr>
        <p:spPr>
          <a:xfrm>
            <a:off x="2203704" y="1984248"/>
            <a:ext cx="109728" cy="182880"/>
          </a:xfrm>
          <a:prstGeom prst="rightArrow">
            <a:avLst/>
          </a:prstGeom>
          <a:solidFill>
            <a:srgbClr val="E29578"/>
          </a:solidFill>
          <a:ln w="12700">
            <a:solidFill>
              <a:srgbClr val="E29578"/>
            </a:solidFill>
            <a:prstDash val="solid"/>
          </a:ln>
        </p:spPr>
      </p:sp>
      <p:sp>
        <p:nvSpPr>
          <p:cNvPr id="14" name="Shape 12"/>
          <p:cNvSpPr/>
          <p:nvPr/>
        </p:nvSpPr>
        <p:spPr>
          <a:xfrm>
            <a:off x="2340864" y="1920240"/>
            <a:ext cx="685800" cy="310896"/>
          </a:xfrm>
          <a:prstGeom prst="rect">
            <a:avLst/>
          </a:prstGeom>
          <a:solidFill>
            <a:srgbClr val="83C5BE"/>
          </a:solidFill>
          <a:ln w="6350">
            <a:solidFill>
              <a:srgbClr val="006D77"/>
            </a:solidFill>
            <a:prstDash val="solid"/>
          </a:ln>
        </p:spPr>
      </p:sp>
      <p:sp>
        <p:nvSpPr>
          <p:cNvPr id="15" name="Text 13"/>
          <p:cNvSpPr/>
          <p:nvPr/>
        </p:nvSpPr>
        <p:spPr>
          <a:xfrm>
            <a:off x="2340864" y="1920240"/>
            <a:ext cx="685800" cy="310896"/>
          </a:xfrm>
          <a:prstGeom prst="rect">
            <a:avLst/>
          </a:prstGeom>
          <a:noFill/>
          <a:ln/>
        </p:spPr>
        <p:txBody>
          <a:bodyPr wrap="square" lIns="0" tIns="0" rIns="0" bIns="0" rtlCol="0" anchor="ctr"/>
          <a:lstStyle/>
          <a:p>
            <a:pPr algn="ctr" indent="0" marL="0">
              <a:buNone/>
            </a:pPr>
            <a:r>
              <a:rPr lang="en-US" sz="850" dirty="0">
                <a:solidFill>
                  <a:srgbClr val="006D77"/>
                </a:solidFill>
                <a:latin typeface="Calibri" pitchFamily="34" charset="0"/>
                <a:ea typeface="Calibri" pitchFamily="34" charset="-122"/>
                <a:cs typeface="Calibri" pitchFamily="34" charset="-120"/>
              </a:rPr>
              <a:t>add</a:t>
            </a:r>
            <a:endParaRPr lang="en-US" sz="850" dirty="0"/>
          </a:p>
        </p:txBody>
      </p:sp>
      <p:sp>
        <p:nvSpPr>
          <p:cNvPr id="16" name="Text 14"/>
          <p:cNvSpPr/>
          <p:nvPr/>
        </p:nvSpPr>
        <p:spPr>
          <a:xfrm>
            <a:off x="640080" y="2395728"/>
            <a:ext cx="2322576" cy="548640"/>
          </a:xfrm>
          <a:prstGeom prst="rect">
            <a:avLst/>
          </a:prstGeom>
          <a:noFill/>
          <a:ln/>
        </p:spPr>
        <p:txBody>
          <a:bodyPr wrap="square" lIns="0" tIns="0" rIns="0" bIns="0" rtlCol="0" anchor="t"/>
          <a:lstStyle/>
          <a:p>
            <a:pPr algn="l" indent="0" marL="0">
              <a:buNone/>
            </a:pPr>
            <a:r>
              <a:rPr lang="en-US" sz="1050" dirty="0">
                <a:solidFill>
                  <a:srgbClr val="006D77"/>
                </a:solidFill>
                <a:latin typeface="Calibri" pitchFamily="34" charset="0"/>
                <a:ea typeface="Calibri" pitchFamily="34" charset="-122"/>
                <a:cs typeface="Calibri" pitchFamily="34" charset="-120"/>
              </a:rPr>
              <a:t>Predictable, but it adds latency and irrelevant context.</a:t>
            </a:r>
            <a:endParaRPr lang="en-US" sz="1050" dirty="0"/>
          </a:p>
        </p:txBody>
      </p:sp>
      <p:sp>
        <p:nvSpPr>
          <p:cNvPr id="17" name="Shape 15"/>
          <p:cNvSpPr/>
          <p:nvPr/>
        </p:nvSpPr>
        <p:spPr>
          <a:xfrm>
            <a:off x="3246120" y="1225296"/>
            <a:ext cx="2651760" cy="265176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18" name="Shape 16"/>
          <p:cNvSpPr/>
          <p:nvPr/>
        </p:nvSpPr>
        <p:spPr>
          <a:xfrm>
            <a:off x="3246120" y="1225296"/>
            <a:ext cx="50292" cy="2651760"/>
          </a:xfrm>
          <a:prstGeom prst="rect">
            <a:avLst/>
          </a:prstGeom>
          <a:solidFill>
            <a:srgbClr val="E29578"/>
          </a:solidFill>
          <a:ln w="12700">
            <a:solidFill>
              <a:srgbClr val="E29578"/>
            </a:solidFill>
            <a:prstDash val="solid"/>
          </a:ln>
        </p:spPr>
      </p:sp>
      <p:sp>
        <p:nvSpPr>
          <p:cNvPr id="19" name="Text 17"/>
          <p:cNvSpPr/>
          <p:nvPr/>
        </p:nvSpPr>
        <p:spPr>
          <a:xfrm>
            <a:off x="3429000" y="1371600"/>
            <a:ext cx="2322576" cy="274320"/>
          </a:xfrm>
          <a:prstGeom prst="rect">
            <a:avLst/>
          </a:prstGeom>
          <a:noFill/>
          <a:ln/>
        </p:spPr>
        <p:txBody>
          <a:bodyPr wrap="square" lIns="0" tIns="0" rIns="0" bIns="0" rtlCol="0" anchor="ctr"/>
          <a:lstStyle/>
          <a:p>
            <a:pPr algn="l" indent="0" marL="0">
              <a:buNone/>
            </a:pPr>
            <a:r>
              <a:rPr lang="en-US" sz="1400" b="1" dirty="0">
                <a:solidFill>
                  <a:srgbClr val="006D77"/>
                </a:solidFill>
                <a:latin typeface="Georgia" pitchFamily="34" charset="0"/>
                <a:ea typeface="Georgia" pitchFamily="34" charset="-122"/>
                <a:cs typeface="Georgia" pitchFamily="34" charset="-120"/>
              </a:rPr>
              <a:t>Runtime-controlled</a:t>
            </a:r>
            <a:endParaRPr lang="en-US" sz="1400" dirty="0"/>
          </a:p>
        </p:txBody>
      </p:sp>
      <p:sp>
        <p:nvSpPr>
          <p:cNvPr id="20" name="Text 18"/>
          <p:cNvSpPr/>
          <p:nvPr/>
        </p:nvSpPr>
        <p:spPr>
          <a:xfrm>
            <a:off x="3429000" y="1664208"/>
            <a:ext cx="2322576" cy="237744"/>
          </a:xfrm>
          <a:prstGeom prst="rect">
            <a:avLst/>
          </a:prstGeom>
          <a:noFill/>
          <a:ln/>
        </p:spPr>
        <p:txBody>
          <a:bodyPr wrap="square" lIns="0" tIns="0" rIns="0" bIns="0" rtlCol="0" anchor="ctr"/>
          <a:lstStyle/>
          <a:p>
            <a:pPr algn="l" indent="0" marL="0">
              <a:buNone/>
            </a:pPr>
            <a:r>
              <a:rPr lang="en-US" sz="1100" dirty="0">
                <a:solidFill>
                  <a:srgbClr val="E29578"/>
                </a:solidFill>
                <a:latin typeface="Calibri" pitchFamily="34" charset="0"/>
                <a:ea typeface="Calibri" pitchFamily="34" charset="-122"/>
                <a:cs typeface="Calibri" pitchFamily="34" charset="-120"/>
              </a:rPr>
              <a:t>The harness decides.</a:t>
            </a:r>
            <a:endParaRPr lang="en-US" sz="1100" dirty="0"/>
          </a:p>
        </p:txBody>
      </p:sp>
      <p:sp>
        <p:nvSpPr>
          <p:cNvPr id="21" name="Shape 19"/>
          <p:cNvSpPr/>
          <p:nvPr/>
        </p:nvSpPr>
        <p:spPr>
          <a:xfrm>
            <a:off x="3429000" y="1883664"/>
            <a:ext cx="2322576" cy="292608"/>
          </a:xfrm>
          <a:prstGeom prst="rect">
            <a:avLst/>
          </a:prstGeom>
          <a:solidFill>
            <a:srgbClr val="83C5BE"/>
          </a:solidFill>
          <a:ln w="6350">
            <a:solidFill>
              <a:srgbClr val="006D77"/>
            </a:solidFill>
            <a:prstDash val="solid"/>
          </a:ln>
        </p:spPr>
      </p:sp>
      <p:sp>
        <p:nvSpPr>
          <p:cNvPr id="22" name="Text 20"/>
          <p:cNvSpPr/>
          <p:nvPr/>
        </p:nvSpPr>
        <p:spPr>
          <a:xfrm>
            <a:off x="3429000" y="1883664"/>
            <a:ext cx="2322576" cy="292608"/>
          </a:xfrm>
          <a:prstGeom prst="rect">
            <a:avLst/>
          </a:prstGeom>
          <a:noFill/>
          <a:ln/>
        </p:spPr>
        <p:txBody>
          <a:bodyPr wrap="square" lIns="0" tIns="0" rIns="0" bIns="0" rtlCol="0" anchor="ctr"/>
          <a:lstStyle/>
          <a:p>
            <a:pPr algn="ctr" indent="0" marL="0">
              <a:buNone/>
            </a:pPr>
            <a:r>
              <a:rPr lang="en-US" sz="850" dirty="0">
                <a:solidFill>
                  <a:srgbClr val="006D77"/>
                </a:solidFill>
                <a:latin typeface="Calibri" pitchFamily="34" charset="0"/>
                <a:ea typeface="Calibri" pitchFamily="34" charset="-122"/>
                <a:cs typeface="Calibri" pitchFamily="34" charset="-120"/>
              </a:rPr>
              <a:t>if memory_needed: search()</a:t>
            </a:r>
            <a:endParaRPr lang="en-US" sz="850" dirty="0"/>
          </a:p>
        </p:txBody>
      </p:sp>
      <p:sp>
        <p:nvSpPr>
          <p:cNvPr id="23" name="Shape 21"/>
          <p:cNvSpPr/>
          <p:nvPr/>
        </p:nvSpPr>
        <p:spPr>
          <a:xfrm>
            <a:off x="3429000" y="2231136"/>
            <a:ext cx="2322576" cy="292608"/>
          </a:xfrm>
          <a:prstGeom prst="rect">
            <a:avLst/>
          </a:prstGeom>
          <a:solidFill>
            <a:srgbClr val="83C5BE"/>
          </a:solidFill>
          <a:ln w="6350">
            <a:solidFill>
              <a:srgbClr val="006D77"/>
            </a:solidFill>
            <a:prstDash val="solid"/>
          </a:ln>
        </p:spPr>
      </p:sp>
      <p:sp>
        <p:nvSpPr>
          <p:cNvPr id="24" name="Text 22"/>
          <p:cNvSpPr/>
          <p:nvPr/>
        </p:nvSpPr>
        <p:spPr>
          <a:xfrm>
            <a:off x="3429000" y="2231136"/>
            <a:ext cx="2322576" cy="292608"/>
          </a:xfrm>
          <a:prstGeom prst="rect">
            <a:avLst/>
          </a:prstGeom>
          <a:noFill/>
          <a:ln/>
        </p:spPr>
        <p:txBody>
          <a:bodyPr wrap="square" lIns="0" tIns="0" rIns="0" bIns="0" rtlCol="0" anchor="ctr"/>
          <a:lstStyle/>
          <a:p>
            <a:pPr algn="ctr" indent="0" marL="0">
              <a:buNone/>
            </a:pPr>
            <a:r>
              <a:rPr lang="en-US" sz="850" dirty="0">
                <a:solidFill>
                  <a:srgbClr val="006D77"/>
                </a:solidFill>
                <a:latin typeface="Calibri" pitchFamily="34" charset="0"/>
                <a:ea typeface="Calibri" pitchFamily="34" charset="-122"/>
                <a:cs typeface="Calibri" pitchFamily="34" charset="-120"/>
              </a:rPr>
              <a:t>if memorable: add()</a:t>
            </a:r>
            <a:endParaRPr lang="en-US" sz="850" dirty="0"/>
          </a:p>
        </p:txBody>
      </p:sp>
      <p:sp>
        <p:nvSpPr>
          <p:cNvPr id="25" name="Text 23"/>
          <p:cNvSpPr/>
          <p:nvPr/>
        </p:nvSpPr>
        <p:spPr>
          <a:xfrm>
            <a:off x="3429000" y="2651760"/>
            <a:ext cx="2322576" cy="548640"/>
          </a:xfrm>
          <a:prstGeom prst="rect">
            <a:avLst/>
          </a:prstGeom>
          <a:noFill/>
          <a:ln/>
        </p:spPr>
        <p:txBody>
          <a:bodyPr wrap="square" lIns="0" tIns="0" rIns="0" bIns="0" rtlCol="0" anchor="t"/>
          <a:lstStyle/>
          <a:p>
            <a:pPr algn="l" indent="0" marL="0">
              <a:buNone/>
            </a:pPr>
            <a:r>
              <a:rPr lang="en-US" sz="1050" dirty="0">
                <a:solidFill>
                  <a:srgbClr val="006D77"/>
                </a:solidFill>
                <a:latin typeface="Calibri" pitchFamily="34" charset="0"/>
                <a:ea typeface="Calibri" pitchFamily="34" charset="-122"/>
                <a:cs typeface="Calibri" pitchFamily="34" charset="-120"/>
              </a:rPr>
              <a:t>Selective, but it needs rules or a classifier.</a:t>
            </a:r>
            <a:endParaRPr lang="en-US" sz="1050" dirty="0"/>
          </a:p>
        </p:txBody>
      </p:sp>
      <p:sp>
        <p:nvSpPr>
          <p:cNvPr id="26" name="Shape 24"/>
          <p:cNvSpPr/>
          <p:nvPr/>
        </p:nvSpPr>
        <p:spPr>
          <a:xfrm>
            <a:off x="6035040" y="1225296"/>
            <a:ext cx="2651760" cy="265176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27" name="Shape 25"/>
          <p:cNvSpPr/>
          <p:nvPr/>
        </p:nvSpPr>
        <p:spPr>
          <a:xfrm>
            <a:off x="6035040" y="1225296"/>
            <a:ext cx="50292" cy="2651760"/>
          </a:xfrm>
          <a:prstGeom prst="rect">
            <a:avLst/>
          </a:prstGeom>
          <a:solidFill>
            <a:srgbClr val="E29578"/>
          </a:solidFill>
          <a:ln w="12700">
            <a:solidFill>
              <a:srgbClr val="E29578"/>
            </a:solidFill>
            <a:prstDash val="solid"/>
          </a:ln>
        </p:spPr>
      </p:sp>
      <p:sp>
        <p:nvSpPr>
          <p:cNvPr id="28" name="Text 26"/>
          <p:cNvSpPr/>
          <p:nvPr/>
        </p:nvSpPr>
        <p:spPr>
          <a:xfrm>
            <a:off x="6217920" y="1371600"/>
            <a:ext cx="2322576" cy="274320"/>
          </a:xfrm>
          <a:prstGeom prst="rect">
            <a:avLst/>
          </a:prstGeom>
          <a:noFill/>
          <a:ln/>
        </p:spPr>
        <p:txBody>
          <a:bodyPr wrap="square" lIns="0" tIns="0" rIns="0" bIns="0" rtlCol="0" anchor="ctr"/>
          <a:lstStyle/>
          <a:p>
            <a:pPr algn="l" indent="0" marL="0">
              <a:buNone/>
            </a:pPr>
            <a:r>
              <a:rPr lang="en-US" sz="1400" b="1" dirty="0">
                <a:solidFill>
                  <a:srgbClr val="006D77"/>
                </a:solidFill>
                <a:latin typeface="Georgia" pitchFamily="34" charset="0"/>
                <a:ea typeface="Georgia" pitchFamily="34" charset="-122"/>
                <a:cs typeface="Georgia" pitchFamily="34" charset="-120"/>
              </a:rPr>
              <a:t>Model-controlled</a:t>
            </a:r>
            <a:endParaRPr lang="en-US" sz="1400" dirty="0"/>
          </a:p>
        </p:txBody>
      </p:sp>
      <p:sp>
        <p:nvSpPr>
          <p:cNvPr id="29" name="Text 27"/>
          <p:cNvSpPr/>
          <p:nvPr/>
        </p:nvSpPr>
        <p:spPr>
          <a:xfrm>
            <a:off x="6217920" y="1664208"/>
            <a:ext cx="2322576" cy="237744"/>
          </a:xfrm>
          <a:prstGeom prst="rect">
            <a:avLst/>
          </a:prstGeom>
          <a:noFill/>
          <a:ln/>
        </p:spPr>
        <p:txBody>
          <a:bodyPr wrap="square" lIns="0" tIns="0" rIns="0" bIns="0" rtlCol="0" anchor="ctr"/>
          <a:lstStyle/>
          <a:p>
            <a:pPr algn="l" indent="0" marL="0">
              <a:buNone/>
            </a:pPr>
            <a:r>
              <a:rPr lang="en-US" sz="1100" dirty="0">
                <a:solidFill>
                  <a:srgbClr val="E29578"/>
                </a:solidFill>
                <a:latin typeface="Calibri" pitchFamily="34" charset="0"/>
                <a:ea typeface="Calibri" pitchFamily="34" charset="-122"/>
                <a:cs typeface="Calibri" pitchFamily="34" charset="-120"/>
              </a:rPr>
              <a:t>The agent decides.</a:t>
            </a:r>
            <a:endParaRPr lang="en-US" sz="1100" dirty="0"/>
          </a:p>
        </p:txBody>
      </p:sp>
      <p:sp>
        <p:nvSpPr>
          <p:cNvPr id="30" name="Shape 28"/>
          <p:cNvSpPr/>
          <p:nvPr/>
        </p:nvSpPr>
        <p:spPr>
          <a:xfrm>
            <a:off x="6217920" y="1883664"/>
            <a:ext cx="2322576" cy="274320"/>
          </a:xfrm>
          <a:prstGeom prst="rect">
            <a:avLst/>
          </a:prstGeom>
          <a:solidFill>
            <a:srgbClr val="83C5BE"/>
          </a:solidFill>
          <a:ln w="6350">
            <a:solidFill>
              <a:srgbClr val="006D77"/>
            </a:solidFill>
            <a:prstDash val="solid"/>
          </a:ln>
        </p:spPr>
      </p:sp>
      <p:sp>
        <p:nvSpPr>
          <p:cNvPr id="31" name="Text 29"/>
          <p:cNvSpPr/>
          <p:nvPr/>
        </p:nvSpPr>
        <p:spPr>
          <a:xfrm>
            <a:off x="6217920" y="1883664"/>
            <a:ext cx="2322576" cy="274320"/>
          </a:xfrm>
          <a:prstGeom prst="rect">
            <a:avLst/>
          </a:prstGeom>
          <a:noFill/>
          <a:ln/>
        </p:spPr>
        <p:txBody>
          <a:bodyPr wrap="square" lIns="0" tIns="0" rIns="0" bIns="0" rtlCol="0" anchor="ctr"/>
          <a:lstStyle/>
          <a:p>
            <a:pPr algn="ctr" indent="0" marL="0">
              <a:buNone/>
            </a:pPr>
            <a:r>
              <a:rPr lang="en-US" sz="850" dirty="0">
                <a:solidFill>
                  <a:srgbClr val="006D77"/>
                </a:solidFill>
                <a:latin typeface="Calibri" pitchFamily="34" charset="0"/>
                <a:ea typeface="Calibri" pitchFamily="34" charset="-122"/>
                <a:cs typeface="Calibri" pitchFamily="34" charset="-120"/>
              </a:rPr>
              <a:t>search_memory()</a:t>
            </a:r>
            <a:endParaRPr lang="en-US" sz="850" dirty="0"/>
          </a:p>
        </p:txBody>
      </p:sp>
      <p:sp>
        <p:nvSpPr>
          <p:cNvPr id="32" name="Shape 30"/>
          <p:cNvSpPr/>
          <p:nvPr/>
        </p:nvSpPr>
        <p:spPr>
          <a:xfrm>
            <a:off x="6217920" y="2212848"/>
            <a:ext cx="2322576" cy="274320"/>
          </a:xfrm>
          <a:prstGeom prst="rect">
            <a:avLst/>
          </a:prstGeom>
          <a:solidFill>
            <a:srgbClr val="83C5BE"/>
          </a:solidFill>
          <a:ln w="6350">
            <a:solidFill>
              <a:srgbClr val="006D77"/>
            </a:solidFill>
            <a:prstDash val="solid"/>
          </a:ln>
        </p:spPr>
      </p:sp>
      <p:sp>
        <p:nvSpPr>
          <p:cNvPr id="33" name="Text 31"/>
          <p:cNvSpPr/>
          <p:nvPr/>
        </p:nvSpPr>
        <p:spPr>
          <a:xfrm>
            <a:off x="6217920" y="2212848"/>
            <a:ext cx="2322576" cy="274320"/>
          </a:xfrm>
          <a:prstGeom prst="rect">
            <a:avLst/>
          </a:prstGeom>
          <a:noFill/>
          <a:ln/>
        </p:spPr>
        <p:txBody>
          <a:bodyPr wrap="square" lIns="0" tIns="0" rIns="0" bIns="0" rtlCol="0" anchor="ctr"/>
          <a:lstStyle/>
          <a:p>
            <a:pPr algn="ctr" indent="0" marL="0">
              <a:buNone/>
            </a:pPr>
            <a:r>
              <a:rPr lang="en-US" sz="850" dirty="0">
                <a:solidFill>
                  <a:srgbClr val="006D77"/>
                </a:solidFill>
                <a:latin typeface="Calibri" pitchFamily="34" charset="0"/>
                <a:ea typeface="Calibri" pitchFamily="34" charset="-122"/>
                <a:cs typeface="Calibri" pitchFamily="34" charset="-120"/>
              </a:rPr>
              <a:t>add_memory()</a:t>
            </a:r>
            <a:endParaRPr lang="en-US" sz="850" dirty="0"/>
          </a:p>
        </p:txBody>
      </p:sp>
      <p:sp>
        <p:nvSpPr>
          <p:cNvPr id="34" name="Shape 32"/>
          <p:cNvSpPr/>
          <p:nvPr/>
        </p:nvSpPr>
        <p:spPr>
          <a:xfrm>
            <a:off x="6217920" y="2542032"/>
            <a:ext cx="2322576" cy="274320"/>
          </a:xfrm>
          <a:prstGeom prst="rect">
            <a:avLst/>
          </a:prstGeom>
          <a:solidFill>
            <a:srgbClr val="83C5BE"/>
          </a:solidFill>
          <a:ln w="6350">
            <a:solidFill>
              <a:srgbClr val="006D77"/>
            </a:solidFill>
            <a:prstDash val="solid"/>
          </a:ln>
        </p:spPr>
      </p:sp>
      <p:sp>
        <p:nvSpPr>
          <p:cNvPr id="35" name="Text 33"/>
          <p:cNvSpPr/>
          <p:nvPr/>
        </p:nvSpPr>
        <p:spPr>
          <a:xfrm>
            <a:off x="6217920" y="2542032"/>
            <a:ext cx="2322576" cy="274320"/>
          </a:xfrm>
          <a:prstGeom prst="rect">
            <a:avLst/>
          </a:prstGeom>
          <a:noFill/>
          <a:ln/>
        </p:spPr>
        <p:txBody>
          <a:bodyPr wrap="square" lIns="0" tIns="0" rIns="0" bIns="0" rtlCol="0" anchor="ctr"/>
          <a:lstStyle/>
          <a:p>
            <a:pPr algn="ctr" indent="0" marL="0">
              <a:buNone/>
            </a:pPr>
            <a:r>
              <a:rPr lang="en-US" sz="850" dirty="0">
                <a:solidFill>
                  <a:srgbClr val="006D77"/>
                </a:solidFill>
                <a:latin typeface="Calibri" pitchFamily="34" charset="0"/>
                <a:ea typeface="Calibri" pitchFamily="34" charset="-122"/>
                <a:cs typeface="Calibri" pitchFamily="34" charset="-120"/>
              </a:rPr>
              <a:t>update_memory()</a:t>
            </a:r>
            <a:endParaRPr lang="en-US" sz="850" dirty="0"/>
          </a:p>
        </p:txBody>
      </p:sp>
      <p:sp>
        <p:nvSpPr>
          <p:cNvPr id="36" name="Shape 34"/>
          <p:cNvSpPr/>
          <p:nvPr/>
        </p:nvSpPr>
        <p:spPr>
          <a:xfrm>
            <a:off x="6217920" y="2871216"/>
            <a:ext cx="2322576" cy="274320"/>
          </a:xfrm>
          <a:prstGeom prst="rect">
            <a:avLst/>
          </a:prstGeom>
          <a:solidFill>
            <a:srgbClr val="83C5BE"/>
          </a:solidFill>
          <a:ln w="6350">
            <a:solidFill>
              <a:srgbClr val="006D77"/>
            </a:solidFill>
            <a:prstDash val="solid"/>
          </a:ln>
        </p:spPr>
      </p:sp>
      <p:sp>
        <p:nvSpPr>
          <p:cNvPr id="37" name="Text 35"/>
          <p:cNvSpPr/>
          <p:nvPr/>
        </p:nvSpPr>
        <p:spPr>
          <a:xfrm>
            <a:off x="6217920" y="2871216"/>
            <a:ext cx="2322576" cy="274320"/>
          </a:xfrm>
          <a:prstGeom prst="rect">
            <a:avLst/>
          </a:prstGeom>
          <a:noFill/>
          <a:ln/>
        </p:spPr>
        <p:txBody>
          <a:bodyPr wrap="square" lIns="0" tIns="0" rIns="0" bIns="0" rtlCol="0" anchor="ctr"/>
          <a:lstStyle/>
          <a:p>
            <a:pPr algn="ctr" indent="0" marL="0">
              <a:buNone/>
            </a:pPr>
            <a:r>
              <a:rPr lang="en-US" sz="850" dirty="0">
                <a:solidFill>
                  <a:srgbClr val="006D77"/>
                </a:solidFill>
                <a:latin typeface="Calibri" pitchFamily="34" charset="0"/>
                <a:ea typeface="Calibri" pitchFamily="34" charset="-122"/>
                <a:cs typeface="Calibri" pitchFamily="34" charset="-120"/>
              </a:rPr>
              <a:t>forget_memory()</a:t>
            </a:r>
            <a:endParaRPr lang="en-US" sz="850" dirty="0"/>
          </a:p>
        </p:txBody>
      </p:sp>
      <p:sp>
        <p:nvSpPr>
          <p:cNvPr id="38" name="Text 36"/>
          <p:cNvSpPr/>
          <p:nvPr/>
        </p:nvSpPr>
        <p:spPr>
          <a:xfrm>
            <a:off x="6217920" y="3273552"/>
            <a:ext cx="2322576" cy="457200"/>
          </a:xfrm>
          <a:prstGeom prst="rect">
            <a:avLst/>
          </a:prstGeom>
          <a:noFill/>
          <a:ln/>
        </p:spPr>
        <p:txBody>
          <a:bodyPr wrap="square" lIns="0" tIns="0" rIns="0" bIns="0" rtlCol="0" anchor="t"/>
          <a:lstStyle/>
          <a:p>
            <a:pPr algn="l" indent="0" marL="0">
              <a:buNone/>
            </a:pPr>
            <a:r>
              <a:rPr lang="en-US" sz="1050" dirty="0">
                <a:solidFill>
                  <a:srgbClr val="006D77"/>
                </a:solidFill>
                <a:latin typeface="Calibri" pitchFamily="34" charset="0"/>
                <a:ea typeface="Calibri" pitchFamily="34" charset="-122"/>
                <a:cs typeface="Calibri" pitchFamily="34" charset="-120"/>
              </a:rPr>
              <a:t>Demand-driven, but it may miss useful reads or writes.</a:t>
            </a:r>
            <a:endParaRPr lang="en-US" sz="1050" dirty="0"/>
          </a:p>
        </p:txBody>
      </p:sp>
      <p:sp>
        <p:nvSpPr>
          <p:cNvPr id="39" name="Text 37"/>
          <p:cNvSpPr/>
          <p:nvPr/>
        </p:nvSpPr>
        <p:spPr>
          <a:xfrm>
            <a:off x="457200" y="4059936"/>
            <a:ext cx="8229600" cy="274320"/>
          </a:xfrm>
          <a:prstGeom prst="rect">
            <a:avLst/>
          </a:prstGeom>
          <a:noFill/>
          <a:ln/>
        </p:spPr>
        <p:txBody>
          <a:bodyPr wrap="square" lIns="0" tIns="0" rIns="0" bIns="0" rtlCol="0" anchor="ctr"/>
          <a:lstStyle/>
          <a:p>
            <a:pPr algn="l" indent="0" marL="0">
              <a:buNone/>
            </a:pPr>
            <a:r>
              <a:rPr lang="en-US" sz="1100" dirty="0">
                <a:solidFill>
                  <a:srgbClr val="006D77"/>
                </a:solidFill>
                <a:latin typeface="Calibri" pitchFamily="34" charset="0"/>
                <a:ea typeface="Calibri" pitchFamily="34" charset="-122"/>
                <a:cs typeface="Calibri" pitchFamily="34" charset="-120"/>
              </a:rPr>
              <a:t>Many systems use a hybrid, and the read policy and the write policy may differ.</a:t>
            </a:r>
            <a:endParaRPr lang="en-US" sz="1100" dirty="0"/>
          </a:p>
        </p:txBody>
      </p:sp>
      <p:sp>
        <p:nvSpPr>
          <p:cNvPr id="40" name="Shape 38"/>
          <p:cNvSpPr/>
          <p:nvPr/>
        </p:nvSpPr>
        <p:spPr>
          <a:xfrm>
            <a:off x="8485632" y="4645152"/>
            <a:ext cx="420624" cy="274320"/>
          </a:xfrm>
          <a:prstGeom prst="roundRect">
            <a:avLst>
              <a:gd name="adj" fmla="val 26667"/>
            </a:avLst>
          </a:prstGeom>
          <a:solidFill>
            <a:srgbClr val="006D77"/>
          </a:solidFill>
          <a:ln w="12700">
            <a:solidFill>
              <a:srgbClr val="006D77"/>
            </a:solidFill>
            <a:prstDash val="solid"/>
          </a:ln>
        </p:spPr>
      </p:sp>
      <p:sp>
        <p:nvSpPr>
          <p:cNvPr id="41" name="Text 39"/>
          <p:cNvSpPr/>
          <p:nvPr/>
        </p:nvSpPr>
        <p:spPr>
          <a:xfrm>
            <a:off x="8485632" y="4645152"/>
            <a:ext cx="420624" cy="274320"/>
          </a:xfrm>
          <a:prstGeom prst="rect">
            <a:avLst/>
          </a:prstGeom>
          <a:noFill/>
          <a:ln/>
        </p:spPr>
        <p:txBody>
          <a:bodyPr wrap="square" lIns="0" tIns="0" rIns="0" bIns="0" rtlCol="0" anchor="ctr"/>
          <a:lstStyle/>
          <a:p>
            <a:pPr algn="ctr" indent="0" marL="0">
              <a:buNone/>
            </a:pPr>
            <a:r>
              <a:rPr lang="en-US" sz="1100" dirty="0">
                <a:solidFill>
                  <a:srgbClr val="EDF6F9"/>
                </a:solidFill>
                <a:latin typeface="Calibri" pitchFamily="34" charset="0"/>
                <a:ea typeface="Calibri" pitchFamily="34" charset="-122"/>
                <a:cs typeface="Calibri" pitchFamily="34" charset="-120"/>
              </a:rPr>
              <a:t>6</a:t>
            </a:r>
            <a:endParaRPr lang="en-US" sz="1100" dirty="0"/>
          </a:p>
        </p:txBody>
      </p:sp>
      <p:sp>
        <p:nvSpPr>
          <p:cNvPr id="42" name="Shape 40"/>
          <p:cNvSpPr/>
          <p:nvPr/>
        </p:nvSpPr>
        <p:spPr>
          <a:xfrm>
            <a:off x="457200" y="4754880"/>
            <a:ext cx="7772400" cy="10973"/>
          </a:xfrm>
          <a:prstGeom prst="rect">
            <a:avLst/>
          </a:prstGeom>
          <a:solidFill>
            <a:srgbClr val="83C5BE"/>
          </a:solidFill>
          <a:ln w="12700">
            <a:solidFill>
              <a:srgbClr val="83C5BE"/>
            </a:solidFill>
            <a:prstDash val="solid"/>
          </a:ln>
        </p:spPr>
      </p:sp>
      <p:sp>
        <p:nvSpPr>
          <p:cNvPr id="43" name="Text 41"/>
          <p:cNvSpPr/>
          <p:nvPr/>
        </p:nvSpPr>
        <p:spPr>
          <a:xfrm>
            <a:off x="457200" y="4773168"/>
            <a:ext cx="7772400" cy="219456"/>
          </a:xfrm>
          <a:prstGeom prst="rect">
            <a:avLst/>
          </a:prstGeom>
          <a:noFill/>
          <a:ln/>
        </p:spPr>
        <p:txBody>
          <a:bodyPr wrap="square" lIns="0" tIns="0" rIns="0" bIns="0" rtlCol="0" anchor="ctr"/>
          <a:lstStyle/>
          <a:p>
            <a:pPr algn="l" indent="0" marL="0">
              <a:buNone/>
            </a:pPr>
            <a:r>
              <a:rPr lang="en-US" sz="900" dirty="0">
                <a:solidFill>
                  <a:srgbClr val="006D77">
                    <a:alpha val="55000"/>
                  </a:srgbClr>
                </a:solidFill>
                <a:latin typeface="Calibri" pitchFamily="34" charset="0"/>
                <a:ea typeface="Calibri" pitchFamily="34" charset="-122"/>
                <a:cs typeface="Calibri" pitchFamily="34" charset="-120"/>
              </a:rPr>
              <a:t>Source: https://cs2680.seas.harvard.edu/slides/6_agent_design_3.pdf</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F6F9"/>
        </a:solidFill>
      </p:bgPr>
    </p:bg>
    <p:spTree>
      <p:nvGrpSpPr>
        <p:cNvPr id="1" name=""/>
        <p:cNvGrpSpPr/>
        <p:nvPr/>
      </p:nvGrpSpPr>
      <p:grpSpPr>
        <a:xfrm>
          <a:off x="0" y="0"/>
          <a:ext cx="0" cy="0"/>
          <a:chOff x="0" y="0"/>
          <a:chExt cx="0" cy="0"/>
        </a:xfrm>
      </p:grpSpPr>
      <p:sp>
        <p:nvSpPr>
          <p:cNvPr id="2" name="Text 0"/>
          <p:cNvSpPr/>
          <p:nvPr/>
        </p:nvSpPr>
        <p:spPr>
          <a:xfrm>
            <a:off x="457200" y="310896"/>
            <a:ext cx="8229600" cy="219456"/>
          </a:xfrm>
          <a:prstGeom prst="rect">
            <a:avLst/>
          </a:prstGeom>
          <a:noFill/>
          <a:ln/>
        </p:spPr>
        <p:txBody>
          <a:bodyPr wrap="square" lIns="0" tIns="0" rIns="0" bIns="0" rtlCol="0" anchor="ctr"/>
          <a:lstStyle/>
          <a:p>
            <a:pPr algn="l" indent="0" marL="0">
              <a:buNone/>
            </a:pPr>
            <a:r>
              <a:rPr lang="en-US" sz="1100" spc="140" kern="0" dirty="0">
                <a:solidFill>
                  <a:srgbClr val="E29578"/>
                </a:solidFill>
                <a:latin typeface="Calibri" pitchFamily="34" charset="0"/>
                <a:ea typeface="Calibri" pitchFamily="34" charset="-122"/>
                <a:cs typeface="Calibri" pitchFamily="34" charset="-120"/>
              </a:rPr>
              <a:t>FIVE SIGNALS, ONE HIGHER-LEVEL FACT</a:t>
            </a:r>
            <a:endParaRPr lang="en-US" sz="1100" dirty="0"/>
          </a:p>
        </p:txBody>
      </p:sp>
      <p:sp>
        <p:nvSpPr>
          <p:cNvPr id="3" name="Text 1"/>
          <p:cNvSpPr/>
          <p:nvPr/>
        </p:nvSpPr>
        <p:spPr>
          <a:xfrm>
            <a:off x="457200" y="548640"/>
            <a:ext cx="8229600" cy="566928"/>
          </a:xfrm>
          <a:prstGeom prst="rect">
            <a:avLst/>
          </a:prstGeom>
          <a:noFill/>
          <a:ln/>
        </p:spPr>
        <p:txBody>
          <a:bodyPr wrap="square" lIns="0" tIns="0" rIns="0" bIns="0" rtlCol="0" anchor="ctr">
            <a:normAutofit/>
          </a:bodyPr>
          <a:lstStyle/>
          <a:p>
            <a:pPr algn="l" indent="0" marL="0">
              <a:buNone/>
            </a:pPr>
            <a:r>
              <a:rPr lang="en-US" sz="2700" b="1" dirty="0">
                <a:solidFill>
                  <a:srgbClr val="006D77"/>
                </a:solidFill>
                <a:latin typeface="Georgia" pitchFamily="34" charset="0"/>
                <a:ea typeface="Georgia" pitchFamily="34" charset="-122"/>
                <a:cs typeface="Georgia" pitchFamily="34" charset="-120"/>
              </a:rPr>
              <a:t>Retrieval, and the consolidation of episodes</a:t>
            </a:r>
            <a:endParaRPr lang="en-US" sz="2700" dirty="0"/>
          </a:p>
        </p:txBody>
      </p:sp>
      <p:sp>
        <p:nvSpPr>
          <p:cNvPr id="4" name="Shape 2"/>
          <p:cNvSpPr/>
          <p:nvPr/>
        </p:nvSpPr>
        <p:spPr>
          <a:xfrm>
            <a:off x="457200" y="1225296"/>
            <a:ext cx="3977640" cy="292608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5" name="Shape 3"/>
          <p:cNvSpPr/>
          <p:nvPr/>
        </p:nvSpPr>
        <p:spPr>
          <a:xfrm>
            <a:off x="457200" y="1225296"/>
            <a:ext cx="50292" cy="2926080"/>
          </a:xfrm>
          <a:prstGeom prst="rect">
            <a:avLst/>
          </a:prstGeom>
          <a:solidFill>
            <a:srgbClr val="E29578"/>
          </a:solidFill>
          <a:ln w="12700">
            <a:solidFill>
              <a:srgbClr val="E29578"/>
            </a:solidFill>
            <a:prstDash val="solid"/>
          </a:ln>
        </p:spPr>
      </p:sp>
      <p:sp>
        <p:nvSpPr>
          <p:cNvPr id="6" name="Text 4"/>
          <p:cNvSpPr/>
          <p:nvPr/>
        </p:nvSpPr>
        <p:spPr>
          <a:xfrm>
            <a:off x="640080" y="1371600"/>
            <a:ext cx="3648456" cy="274320"/>
          </a:xfrm>
          <a:prstGeom prst="rect">
            <a:avLst/>
          </a:prstGeom>
          <a:noFill/>
          <a:ln/>
        </p:spPr>
        <p:txBody>
          <a:bodyPr wrap="square" lIns="0" tIns="0" rIns="0" bIns="0" rtlCol="0" anchor="ctr"/>
          <a:lstStyle/>
          <a:p>
            <a:pPr algn="l" indent="0" marL="0">
              <a:buNone/>
            </a:pPr>
            <a:r>
              <a:rPr lang="en-US" sz="1250" b="1" dirty="0">
                <a:solidFill>
                  <a:srgbClr val="006D77"/>
                </a:solidFill>
                <a:latin typeface="Georgia" pitchFamily="34" charset="0"/>
                <a:ea typeface="Georgia" pitchFamily="34" charset="-122"/>
                <a:cs typeface="Georgia" pitchFamily="34" charset="-120"/>
              </a:rPr>
              <a:t>Retrieval needs more than semantic relevance</a:t>
            </a:r>
            <a:endParaRPr lang="en-US" sz="1250" dirty="0"/>
          </a:p>
        </p:txBody>
      </p:sp>
      <p:sp>
        <p:nvSpPr>
          <p:cNvPr id="7" name="Shape 5"/>
          <p:cNvSpPr/>
          <p:nvPr/>
        </p:nvSpPr>
        <p:spPr>
          <a:xfrm>
            <a:off x="640080" y="1810512"/>
            <a:ext cx="182880" cy="182880"/>
          </a:xfrm>
          <a:prstGeom prst="rect">
            <a:avLst/>
          </a:prstGeom>
          <a:solidFill>
            <a:srgbClr val="E29578"/>
          </a:solidFill>
          <a:ln w="12700">
            <a:solidFill>
              <a:srgbClr val="E29578"/>
            </a:solidFill>
            <a:prstDash val="solid"/>
          </a:ln>
        </p:spPr>
      </p:sp>
      <p:sp>
        <p:nvSpPr>
          <p:cNvPr id="8" name="Text 6"/>
          <p:cNvSpPr/>
          <p:nvPr/>
        </p:nvSpPr>
        <p:spPr>
          <a:xfrm>
            <a:off x="950976" y="1773936"/>
            <a:ext cx="3337560" cy="237744"/>
          </a:xfrm>
          <a:prstGeom prst="rect">
            <a:avLst/>
          </a:prstGeom>
          <a:noFill/>
          <a:ln/>
        </p:spPr>
        <p:txBody>
          <a:bodyPr wrap="square" lIns="0" tIns="0" rIns="0" bIns="0" rtlCol="0" anchor="ctr"/>
          <a:lstStyle/>
          <a:p>
            <a:pPr algn="l" indent="0" marL="0">
              <a:buNone/>
            </a:pPr>
            <a:r>
              <a:rPr lang="en-US" sz="1150" b="1" dirty="0">
                <a:solidFill>
                  <a:srgbClr val="006D77"/>
                </a:solidFill>
                <a:latin typeface="Georgia" pitchFamily="34" charset="0"/>
                <a:ea typeface="Georgia" pitchFamily="34" charset="-122"/>
                <a:cs typeface="Georgia" pitchFamily="34" charset="-120"/>
              </a:rPr>
              <a:t>Semantic match</a:t>
            </a:r>
            <a:endParaRPr lang="en-US" sz="1150" dirty="0"/>
          </a:p>
        </p:txBody>
      </p:sp>
      <p:sp>
        <p:nvSpPr>
          <p:cNvPr id="9" name="Text 7"/>
          <p:cNvSpPr/>
          <p:nvPr/>
        </p:nvSpPr>
        <p:spPr>
          <a:xfrm>
            <a:off x="950976" y="2002536"/>
            <a:ext cx="3337560" cy="219456"/>
          </a:xfrm>
          <a:prstGeom prst="rect">
            <a:avLst/>
          </a:prstGeom>
          <a:noFill/>
          <a:ln/>
        </p:spPr>
        <p:txBody>
          <a:bodyPr wrap="square" lIns="0" tIns="0" rIns="0" bIns="0" rtlCol="0" anchor="ctr"/>
          <a:lstStyle/>
          <a:p>
            <a:pPr algn="l" indent="0" marL="0">
              <a:buNone/>
            </a:pPr>
            <a:r>
              <a:rPr lang="en-US" sz="1000" dirty="0">
                <a:solidFill>
                  <a:srgbClr val="006D77"/>
                </a:solidFill>
                <a:latin typeface="Calibri" pitchFamily="34" charset="0"/>
                <a:ea typeface="Calibri" pitchFamily="34" charset="-122"/>
                <a:cs typeface="Calibri" pitchFamily="34" charset="-120"/>
              </a:rPr>
              <a:t>the fact is about the same thing</a:t>
            </a:r>
            <a:endParaRPr lang="en-US" sz="1000" dirty="0"/>
          </a:p>
        </p:txBody>
      </p:sp>
      <p:sp>
        <p:nvSpPr>
          <p:cNvPr id="10" name="Shape 8"/>
          <p:cNvSpPr/>
          <p:nvPr/>
        </p:nvSpPr>
        <p:spPr>
          <a:xfrm>
            <a:off x="640080" y="2304288"/>
            <a:ext cx="182880" cy="182880"/>
          </a:xfrm>
          <a:prstGeom prst="rect">
            <a:avLst/>
          </a:prstGeom>
          <a:solidFill>
            <a:srgbClr val="E29578"/>
          </a:solidFill>
          <a:ln w="12700">
            <a:solidFill>
              <a:srgbClr val="E29578"/>
            </a:solidFill>
            <a:prstDash val="solid"/>
          </a:ln>
        </p:spPr>
      </p:sp>
      <p:sp>
        <p:nvSpPr>
          <p:cNvPr id="11" name="Text 9"/>
          <p:cNvSpPr/>
          <p:nvPr/>
        </p:nvSpPr>
        <p:spPr>
          <a:xfrm>
            <a:off x="950976" y="2267712"/>
            <a:ext cx="3337560" cy="237744"/>
          </a:xfrm>
          <a:prstGeom prst="rect">
            <a:avLst/>
          </a:prstGeom>
          <a:noFill/>
          <a:ln/>
        </p:spPr>
        <p:txBody>
          <a:bodyPr wrap="square" lIns="0" tIns="0" rIns="0" bIns="0" rtlCol="0" anchor="ctr"/>
          <a:lstStyle/>
          <a:p>
            <a:pPr algn="l" indent="0" marL="0">
              <a:buNone/>
            </a:pPr>
            <a:r>
              <a:rPr lang="en-US" sz="1150" b="1" dirty="0">
                <a:solidFill>
                  <a:srgbClr val="006D77"/>
                </a:solidFill>
                <a:latin typeface="Georgia" pitchFamily="34" charset="0"/>
                <a:ea typeface="Georgia" pitchFamily="34" charset="-122"/>
                <a:cs typeface="Georgia" pitchFamily="34" charset="-120"/>
              </a:rPr>
              <a:t>Scope</a:t>
            </a:r>
            <a:endParaRPr lang="en-US" sz="1150" dirty="0"/>
          </a:p>
        </p:txBody>
      </p:sp>
      <p:sp>
        <p:nvSpPr>
          <p:cNvPr id="12" name="Text 10"/>
          <p:cNvSpPr/>
          <p:nvPr/>
        </p:nvSpPr>
        <p:spPr>
          <a:xfrm>
            <a:off x="950976" y="2496312"/>
            <a:ext cx="3337560" cy="219456"/>
          </a:xfrm>
          <a:prstGeom prst="rect">
            <a:avLst/>
          </a:prstGeom>
          <a:noFill/>
          <a:ln/>
        </p:spPr>
        <p:txBody>
          <a:bodyPr wrap="square" lIns="0" tIns="0" rIns="0" bIns="0" rtlCol="0" anchor="ctr"/>
          <a:lstStyle/>
          <a:p>
            <a:pPr algn="l" indent="0" marL="0">
              <a:buNone/>
            </a:pPr>
            <a:r>
              <a:rPr lang="en-US" sz="1000" dirty="0">
                <a:solidFill>
                  <a:srgbClr val="006D77"/>
                </a:solidFill>
                <a:latin typeface="Calibri" pitchFamily="34" charset="0"/>
                <a:ea typeface="Calibri" pitchFamily="34" charset="-122"/>
                <a:cs typeface="Calibri" pitchFamily="34" charset="-120"/>
              </a:rPr>
              <a:t>same user, project, entity or task</a:t>
            </a:r>
            <a:endParaRPr lang="en-US" sz="1000" dirty="0"/>
          </a:p>
        </p:txBody>
      </p:sp>
      <p:sp>
        <p:nvSpPr>
          <p:cNvPr id="13" name="Shape 11"/>
          <p:cNvSpPr/>
          <p:nvPr/>
        </p:nvSpPr>
        <p:spPr>
          <a:xfrm>
            <a:off x="640080" y="2798064"/>
            <a:ext cx="182880" cy="182880"/>
          </a:xfrm>
          <a:prstGeom prst="rect">
            <a:avLst/>
          </a:prstGeom>
          <a:solidFill>
            <a:srgbClr val="E29578"/>
          </a:solidFill>
          <a:ln w="12700">
            <a:solidFill>
              <a:srgbClr val="E29578"/>
            </a:solidFill>
            <a:prstDash val="solid"/>
          </a:ln>
        </p:spPr>
      </p:sp>
      <p:sp>
        <p:nvSpPr>
          <p:cNvPr id="14" name="Text 12"/>
          <p:cNvSpPr/>
          <p:nvPr/>
        </p:nvSpPr>
        <p:spPr>
          <a:xfrm>
            <a:off x="950976" y="2761488"/>
            <a:ext cx="3337560" cy="237744"/>
          </a:xfrm>
          <a:prstGeom prst="rect">
            <a:avLst/>
          </a:prstGeom>
          <a:noFill/>
          <a:ln/>
        </p:spPr>
        <p:txBody>
          <a:bodyPr wrap="square" lIns="0" tIns="0" rIns="0" bIns="0" rtlCol="0" anchor="ctr"/>
          <a:lstStyle/>
          <a:p>
            <a:pPr algn="l" indent="0" marL="0">
              <a:buNone/>
            </a:pPr>
            <a:r>
              <a:rPr lang="en-US" sz="1150" b="1" dirty="0">
                <a:solidFill>
                  <a:srgbClr val="006D77"/>
                </a:solidFill>
                <a:latin typeface="Georgia" pitchFamily="34" charset="0"/>
                <a:ea typeface="Georgia" pitchFamily="34" charset="-122"/>
                <a:cs typeface="Georgia" pitchFamily="34" charset="-120"/>
              </a:rPr>
              <a:t>Importance</a:t>
            </a:r>
            <a:endParaRPr lang="en-US" sz="1150" dirty="0"/>
          </a:p>
        </p:txBody>
      </p:sp>
      <p:sp>
        <p:nvSpPr>
          <p:cNvPr id="15" name="Text 13"/>
          <p:cNvSpPr/>
          <p:nvPr/>
        </p:nvSpPr>
        <p:spPr>
          <a:xfrm>
            <a:off x="950976" y="2990088"/>
            <a:ext cx="3337560" cy="219456"/>
          </a:xfrm>
          <a:prstGeom prst="rect">
            <a:avLst/>
          </a:prstGeom>
          <a:noFill/>
          <a:ln/>
        </p:spPr>
        <p:txBody>
          <a:bodyPr wrap="square" lIns="0" tIns="0" rIns="0" bIns="0" rtlCol="0" anchor="ctr"/>
          <a:lstStyle/>
          <a:p>
            <a:pPr algn="l" indent="0" marL="0">
              <a:buNone/>
            </a:pPr>
            <a:r>
              <a:rPr lang="en-US" sz="1000" dirty="0">
                <a:solidFill>
                  <a:srgbClr val="006D77"/>
                </a:solidFill>
                <a:latin typeface="Calibri" pitchFamily="34" charset="0"/>
                <a:ea typeface="Calibri" pitchFamily="34" charset="-122"/>
                <a:cs typeface="Calibri" pitchFamily="34" charset="-120"/>
              </a:rPr>
              <a:t>the cost of missing it, or of including it</a:t>
            </a:r>
            <a:endParaRPr lang="en-US" sz="1000" dirty="0"/>
          </a:p>
        </p:txBody>
      </p:sp>
      <p:sp>
        <p:nvSpPr>
          <p:cNvPr id="16" name="Shape 14"/>
          <p:cNvSpPr/>
          <p:nvPr/>
        </p:nvSpPr>
        <p:spPr>
          <a:xfrm>
            <a:off x="640080" y="3291840"/>
            <a:ext cx="182880" cy="182880"/>
          </a:xfrm>
          <a:prstGeom prst="rect">
            <a:avLst/>
          </a:prstGeom>
          <a:solidFill>
            <a:srgbClr val="E29578"/>
          </a:solidFill>
          <a:ln w="12700">
            <a:solidFill>
              <a:srgbClr val="E29578"/>
            </a:solidFill>
            <a:prstDash val="solid"/>
          </a:ln>
        </p:spPr>
      </p:sp>
      <p:sp>
        <p:nvSpPr>
          <p:cNvPr id="17" name="Text 15"/>
          <p:cNvSpPr/>
          <p:nvPr/>
        </p:nvSpPr>
        <p:spPr>
          <a:xfrm>
            <a:off x="950976" y="3255264"/>
            <a:ext cx="3337560" cy="237744"/>
          </a:xfrm>
          <a:prstGeom prst="rect">
            <a:avLst/>
          </a:prstGeom>
          <a:noFill/>
          <a:ln/>
        </p:spPr>
        <p:txBody>
          <a:bodyPr wrap="square" lIns="0" tIns="0" rIns="0" bIns="0" rtlCol="0" anchor="ctr"/>
          <a:lstStyle/>
          <a:p>
            <a:pPr algn="l" indent="0" marL="0">
              <a:buNone/>
            </a:pPr>
            <a:r>
              <a:rPr lang="en-US" sz="1150" b="1" dirty="0">
                <a:solidFill>
                  <a:srgbClr val="006D77"/>
                </a:solidFill>
                <a:latin typeface="Georgia" pitchFamily="34" charset="0"/>
                <a:ea typeface="Georgia" pitchFamily="34" charset="-122"/>
                <a:cs typeface="Georgia" pitchFamily="34" charset="-120"/>
              </a:rPr>
              <a:t>Validity</a:t>
            </a:r>
            <a:endParaRPr lang="en-US" sz="1150" dirty="0"/>
          </a:p>
        </p:txBody>
      </p:sp>
      <p:sp>
        <p:nvSpPr>
          <p:cNvPr id="18" name="Text 16"/>
          <p:cNvSpPr/>
          <p:nvPr/>
        </p:nvSpPr>
        <p:spPr>
          <a:xfrm>
            <a:off x="950976" y="3483864"/>
            <a:ext cx="3337560" cy="219456"/>
          </a:xfrm>
          <a:prstGeom prst="rect">
            <a:avLst/>
          </a:prstGeom>
          <a:noFill/>
          <a:ln/>
        </p:spPr>
        <p:txBody>
          <a:bodyPr wrap="square" lIns="0" tIns="0" rIns="0" bIns="0" rtlCol="0" anchor="ctr"/>
          <a:lstStyle/>
          <a:p>
            <a:pPr algn="l" indent="0" marL="0">
              <a:buNone/>
            </a:pPr>
            <a:r>
              <a:rPr lang="en-US" sz="1000" dirty="0">
                <a:solidFill>
                  <a:srgbClr val="006D77"/>
                </a:solidFill>
                <a:latin typeface="Calibri" pitchFamily="34" charset="0"/>
                <a:ea typeface="Calibri" pitchFamily="34" charset="-122"/>
                <a:cs typeface="Calibri" pitchFamily="34" charset="-120"/>
              </a:rPr>
              <a:t>true for this task at this time</a:t>
            </a:r>
            <a:endParaRPr lang="en-US" sz="1000" dirty="0"/>
          </a:p>
        </p:txBody>
      </p:sp>
      <p:sp>
        <p:nvSpPr>
          <p:cNvPr id="19" name="Shape 17"/>
          <p:cNvSpPr/>
          <p:nvPr/>
        </p:nvSpPr>
        <p:spPr>
          <a:xfrm>
            <a:off x="640080" y="3785616"/>
            <a:ext cx="182880" cy="182880"/>
          </a:xfrm>
          <a:prstGeom prst="rect">
            <a:avLst/>
          </a:prstGeom>
          <a:solidFill>
            <a:srgbClr val="E29578"/>
          </a:solidFill>
          <a:ln w="12700">
            <a:solidFill>
              <a:srgbClr val="E29578"/>
            </a:solidFill>
            <a:prstDash val="solid"/>
          </a:ln>
        </p:spPr>
      </p:sp>
      <p:sp>
        <p:nvSpPr>
          <p:cNvPr id="20" name="Text 18"/>
          <p:cNvSpPr/>
          <p:nvPr/>
        </p:nvSpPr>
        <p:spPr>
          <a:xfrm>
            <a:off x="950976" y="3749040"/>
            <a:ext cx="3337560" cy="237744"/>
          </a:xfrm>
          <a:prstGeom prst="rect">
            <a:avLst/>
          </a:prstGeom>
          <a:noFill/>
          <a:ln/>
        </p:spPr>
        <p:txBody>
          <a:bodyPr wrap="square" lIns="0" tIns="0" rIns="0" bIns="0" rtlCol="0" anchor="ctr"/>
          <a:lstStyle/>
          <a:p>
            <a:pPr algn="l" indent="0" marL="0">
              <a:buNone/>
            </a:pPr>
            <a:r>
              <a:rPr lang="en-US" sz="1150" b="1" dirty="0">
                <a:solidFill>
                  <a:srgbClr val="006D77"/>
                </a:solidFill>
                <a:latin typeface="Georgia" pitchFamily="34" charset="0"/>
                <a:ea typeface="Georgia" pitchFamily="34" charset="-122"/>
                <a:cs typeface="Georgia" pitchFamily="34" charset="-120"/>
              </a:rPr>
              <a:t>Provenance</a:t>
            </a:r>
            <a:endParaRPr lang="en-US" sz="1150" dirty="0"/>
          </a:p>
        </p:txBody>
      </p:sp>
      <p:sp>
        <p:nvSpPr>
          <p:cNvPr id="21" name="Text 19"/>
          <p:cNvSpPr/>
          <p:nvPr/>
        </p:nvSpPr>
        <p:spPr>
          <a:xfrm>
            <a:off x="950976" y="3977640"/>
            <a:ext cx="3337560" cy="219456"/>
          </a:xfrm>
          <a:prstGeom prst="rect">
            <a:avLst/>
          </a:prstGeom>
          <a:noFill/>
          <a:ln/>
        </p:spPr>
        <p:txBody>
          <a:bodyPr wrap="square" lIns="0" tIns="0" rIns="0" bIns="0" rtlCol="0" anchor="ctr"/>
          <a:lstStyle/>
          <a:p>
            <a:pPr algn="l" indent="0" marL="0">
              <a:buNone/>
            </a:pPr>
            <a:r>
              <a:rPr lang="en-US" sz="1000" dirty="0">
                <a:solidFill>
                  <a:srgbClr val="006D77"/>
                </a:solidFill>
                <a:latin typeface="Calibri" pitchFamily="34" charset="0"/>
                <a:ea typeface="Calibri" pitchFamily="34" charset="-122"/>
                <a:cs typeface="Calibri" pitchFamily="34" charset="-120"/>
              </a:rPr>
              <a:t>source, confidence, evidence</a:t>
            </a:r>
            <a:endParaRPr lang="en-US" sz="1000" dirty="0"/>
          </a:p>
        </p:txBody>
      </p:sp>
      <p:sp>
        <p:nvSpPr>
          <p:cNvPr id="22" name="Shape 20"/>
          <p:cNvSpPr/>
          <p:nvPr/>
        </p:nvSpPr>
        <p:spPr>
          <a:xfrm>
            <a:off x="4709160" y="1225296"/>
            <a:ext cx="3977640" cy="292608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23" name="Shape 21"/>
          <p:cNvSpPr/>
          <p:nvPr/>
        </p:nvSpPr>
        <p:spPr>
          <a:xfrm>
            <a:off x="4709160" y="1225296"/>
            <a:ext cx="50292" cy="2926080"/>
          </a:xfrm>
          <a:prstGeom prst="rect">
            <a:avLst/>
          </a:prstGeom>
          <a:solidFill>
            <a:srgbClr val="E29578"/>
          </a:solidFill>
          <a:ln w="12700">
            <a:solidFill>
              <a:srgbClr val="E29578"/>
            </a:solidFill>
            <a:prstDash val="solid"/>
          </a:ln>
        </p:spPr>
      </p:sp>
      <p:sp>
        <p:nvSpPr>
          <p:cNvPr id="24" name="Text 22"/>
          <p:cNvSpPr/>
          <p:nvPr/>
        </p:nvSpPr>
        <p:spPr>
          <a:xfrm>
            <a:off x="4892040" y="1371600"/>
            <a:ext cx="3648456" cy="274320"/>
          </a:xfrm>
          <a:prstGeom prst="rect">
            <a:avLst/>
          </a:prstGeom>
          <a:noFill/>
          <a:ln/>
        </p:spPr>
        <p:txBody>
          <a:bodyPr wrap="square" lIns="0" tIns="0" rIns="0" bIns="0" rtlCol="0" anchor="ctr"/>
          <a:lstStyle/>
          <a:p>
            <a:pPr algn="l" indent="0" marL="0">
              <a:buNone/>
            </a:pPr>
            <a:r>
              <a:rPr lang="en-US" sz="1150" b="1" dirty="0">
                <a:solidFill>
                  <a:srgbClr val="006D77"/>
                </a:solidFill>
                <a:latin typeface="Georgia" pitchFamily="34" charset="0"/>
                <a:ea typeface="Georgia" pitchFamily="34" charset="-122"/>
                <a:cs typeface="Georgia" pitchFamily="34" charset="-120"/>
              </a:rPr>
              <a:t>Generalize: episodes into a higher-level fact</a:t>
            </a:r>
            <a:endParaRPr lang="en-US" sz="1150" dirty="0"/>
          </a:p>
        </p:txBody>
      </p:sp>
      <p:sp>
        <p:nvSpPr>
          <p:cNvPr id="25" name="Shape 23"/>
          <p:cNvSpPr/>
          <p:nvPr/>
        </p:nvSpPr>
        <p:spPr>
          <a:xfrm>
            <a:off x="4892040" y="1719072"/>
            <a:ext cx="3648456" cy="960120"/>
          </a:xfrm>
          <a:prstGeom prst="rect">
            <a:avLst/>
          </a:prstGeom>
          <a:solidFill>
            <a:srgbClr val="FFDDD2"/>
          </a:solidFill>
          <a:ln w="9525">
            <a:solidFill>
              <a:srgbClr val="E29578"/>
            </a:solidFill>
            <a:prstDash val="solid"/>
          </a:ln>
        </p:spPr>
      </p:sp>
      <p:sp>
        <p:nvSpPr>
          <p:cNvPr id="26" name="Text 24"/>
          <p:cNvSpPr/>
          <p:nvPr/>
        </p:nvSpPr>
        <p:spPr>
          <a:xfrm>
            <a:off x="4983480" y="1755648"/>
            <a:ext cx="3465576" cy="886968"/>
          </a:xfrm>
          <a:prstGeom prst="rect">
            <a:avLst/>
          </a:prstGeom>
          <a:noFill/>
          <a:ln/>
        </p:spPr>
        <p:txBody>
          <a:bodyPr wrap="square" lIns="0" tIns="0" rIns="0" bIns="0" rtlCol="0" anchor="t"/>
          <a:lstStyle/>
          <a:p>
            <a:pPr algn="l" indent="0" marL="0">
              <a:buNone/>
            </a:pPr>
            <a:r>
              <a:rPr lang="en-US" sz="1050" dirty="0">
                <a:solidFill>
                  <a:srgbClr val="006D77"/>
                </a:solidFill>
                <a:latin typeface="Calibri" pitchFamily="34" charset="0"/>
                <a:ea typeface="Calibri" pitchFamily="34" charset="-122"/>
                <a:cs typeface="Calibri" pitchFamily="34" charset="-120"/>
              </a:rPr>
              <a:t>Repeated questions about vLLM, SGLang, TRT-LLM and LLM scheduling become the hypothesis "frequent interest in LLM inference systems", with confidence medium.</a:t>
            </a:r>
            <a:endParaRPr lang="en-US" sz="1050" dirty="0"/>
          </a:p>
        </p:txBody>
      </p:sp>
      <p:sp>
        <p:nvSpPr>
          <p:cNvPr id="27" name="Text 25"/>
          <p:cNvSpPr/>
          <p:nvPr/>
        </p:nvSpPr>
        <p:spPr>
          <a:xfrm>
            <a:off x="4892040" y="2788920"/>
            <a:ext cx="3648456" cy="237744"/>
          </a:xfrm>
          <a:prstGeom prst="rect">
            <a:avLst/>
          </a:prstGeom>
          <a:noFill/>
          <a:ln/>
        </p:spPr>
        <p:txBody>
          <a:bodyPr wrap="square" lIns="0" tIns="0" rIns="0" bIns="0" rtlCol="0" anchor="ctr"/>
          <a:lstStyle/>
          <a:p>
            <a:pPr algn="l" indent="0" marL="0">
              <a:buNone/>
            </a:pPr>
            <a:r>
              <a:rPr lang="en-US" sz="1200" b="1" dirty="0">
                <a:solidFill>
                  <a:srgbClr val="006D77"/>
                </a:solidFill>
                <a:latin typeface="Georgia" pitchFamily="34" charset="0"/>
                <a:ea typeface="Georgia" pitchFamily="34" charset="-122"/>
                <a:cs typeface="Georgia" pitchFamily="34" charset="-120"/>
              </a:rPr>
              <a:t>Consolidate when</a:t>
            </a:r>
            <a:endParaRPr lang="en-US" sz="1200" dirty="0"/>
          </a:p>
        </p:txBody>
      </p:sp>
      <p:sp>
        <p:nvSpPr>
          <p:cNvPr id="28" name="Shape 26"/>
          <p:cNvSpPr/>
          <p:nvPr/>
        </p:nvSpPr>
        <p:spPr>
          <a:xfrm>
            <a:off x="4892040" y="3127248"/>
            <a:ext cx="182880" cy="182880"/>
          </a:xfrm>
          <a:prstGeom prst="rect">
            <a:avLst/>
          </a:prstGeom>
          <a:solidFill>
            <a:srgbClr val="83C5BE"/>
          </a:solidFill>
          <a:ln w="12700">
            <a:solidFill>
              <a:srgbClr val="83C5BE"/>
            </a:solidFill>
            <a:prstDash val="solid"/>
          </a:ln>
        </p:spPr>
      </p:sp>
      <p:sp>
        <p:nvSpPr>
          <p:cNvPr id="29" name="Text 27"/>
          <p:cNvSpPr/>
          <p:nvPr/>
        </p:nvSpPr>
        <p:spPr>
          <a:xfrm>
            <a:off x="5202936" y="3072384"/>
            <a:ext cx="3337560" cy="292608"/>
          </a:xfrm>
          <a:prstGeom prst="rect">
            <a:avLst/>
          </a:prstGeom>
          <a:noFill/>
          <a:ln/>
        </p:spPr>
        <p:txBody>
          <a:bodyPr wrap="square" lIns="0" tIns="0" rIns="0" bIns="0" rtlCol="0" anchor="ctr"/>
          <a:lstStyle/>
          <a:p>
            <a:pPr algn="l" indent="0" marL="0">
              <a:buNone/>
            </a:pPr>
            <a:r>
              <a:rPr lang="en-US" sz="1050" dirty="0">
                <a:solidFill>
                  <a:srgbClr val="006D77"/>
                </a:solidFill>
                <a:latin typeface="Calibri" pitchFamily="34" charset="0"/>
                <a:ea typeface="Calibri" pitchFamily="34" charset="-122"/>
                <a:cs typeface="Calibri" pitchFamily="34" charset="-120"/>
              </a:rPr>
              <a:t>After enough new evidence (every N events, or a context fill)</a:t>
            </a:r>
            <a:endParaRPr lang="en-US" sz="1050" dirty="0"/>
          </a:p>
        </p:txBody>
      </p:sp>
      <p:sp>
        <p:nvSpPr>
          <p:cNvPr id="30" name="Shape 28"/>
          <p:cNvSpPr/>
          <p:nvPr/>
        </p:nvSpPr>
        <p:spPr>
          <a:xfrm>
            <a:off x="4892040" y="3493008"/>
            <a:ext cx="182880" cy="182880"/>
          </a:xfrm>
          <a:prstGeom prst="rect">
            <a:avLst/>
          </a:prstGeom>
          <a:solidFill>
            <a:srgbClr val="83C5BE"/>
          </a:solidFill>
          <a:ln w="12700">
            <a:solidFill>
              <a:srgbClr val="83C5BE"/>
            </a:solidFill>
            <a:prstDash val="solid"/>
          </a:ln>
        </p:spPr>
      </p:sp>
      <p:sp>
        <p:nvSpPr>
          <p:cNvPr id="31" name="Text 29"/>
          <p:cNvSpPr/>
          <p:nvPr/>
        </p:nvSpPr>
        <p:spPr>
          <a:xfrm>
            <a:off x="5202936" y="3438144"/>
            <a:ext cx="3337560" cy="292608"/>
          </a:xfrm>
          <a:prstGeom prst="rect">
            <a:avLst/>
          </a:prstGeom>
          <a:noFill/>
          <a:ln/>
        </p:spPr>
        <p:txBody>
          <a:bodyPr wrap="square" lIns="0" tIns="0" rIns="0" bIns="0" rtlCol="0" anchor="ctr"/>
          <a:lstStyle/>
          <a:p>
            <a:pPr algn="l" indent="0" marL="0">
              <a:buNone/>
            </a:pPr>
            <a:r>
              <a:rPr lang="en-US" sz="1050" dirty="0">
                <a:solidFill>
                  <a:srgbClr val="006D77"/>
                </a:solidFill>
                <a:latin typeface="Calibri" pitchFamily="34" charset="0"/>
                <a:ea typeface="Calibri" pitchFamily="34" charset="-122"/>
                <a:cs typeface="Calibri" pitchFamily="34" charset="-120"/>
              </a:rPr>
              <a:t>When facts conflict or repeat</a:t>
            </a:r>
            <a:endParaRPr lang="en-US" sz="1050" dirty="0"/>
          </a:p>
        </p:txBody>
      </p:sp>
      <p:sp>
        <p:nvSpPr>
          <p:cNvPr id="32" name="Shape 30"/>
          <p:cNvSpPr/>
          <p:nvPr/>
        </p:nvSpPr>
        <p:spPr>
          <a:xfrm>
            <a:off x="4892040" y="3858768"/>
            <a:ext cx="182880" cy="182880"/>
          </a:xfrm>
          <a:prstGeom prst="rect">
            <a:avLst/>
          </a:prstGeom>
          <a:solidFill>
            <a:srgbClr val="83C5BE"/>
          </a:solidFill>
          <a:ln w="12700">
            <a:solidFill>
              <a:srgbClr val="83C5BE"/>
            </a:solidFill>
            <a:prstDash val="solid"/>
          </a:ln>
        </p:spPr>
      </p:sp>
      <p:sp>
        <p:nvSpPr>
          <p:cNvPr id="33" name="Text 31"/>
          <p:cNvSpPr/>
          <p:nvPr/>
        </p:nvSpPr>
        <p:spPr>
          <a:xfrm>
            <a:off x="5202936" y="3803904"/>
            <a:ext cx="3337560" cy="292608"/>
          </a:xfrm>
          <a:prstGeom prst="rect">
            <a:avLst/>
          </a:prstGeom>
          <a:noFill/>
          <a:ln/>
        </p:spPr>
        <p:txBody>
          <a:bodyPr wrap="square" lIns="0" tIns="0" rIns="0" bIns="0" rtlCol="0" anchor="ctr"/>
          <a:lstStyle/>
          <a:p>
            <a:pPr algn="l" indent="0" marL="0">
              <a:buNone/>
            </a:pPr>
            <a:r>
              <a:rPr lang="en-US" sz="1050" dirty="0">
                <a:solidFill>
                  <a:srgbClr val="006D77"/>
                </a:solidFill>
                <a:latin typeface="Calibri" pitchFamily="34" charset="0"/>
                <a:ea typeface="Calibri" pitchFamily="34" charset="-122"/>
                <a:cs typeface="Calibri" pitchFamily="34" charset="-120"/>
              </a:rPr>
              <a:t>In a background job</a:t>
            </a:r>
            <a:endParaRPr lang="en-US" sz="1050" dirty="0"/>
          </a:p>
        </p:txBody>
      </p:sp>
      <p:sp>
        <p:nvSpPr>
          <p:cNvPr id="34" name="Text 32"/>
          <p:cNvSpPr/>
          <p:nvPr/>
        </p:nvSpPr>
        <p:spPr>
          <a:xfrm>
            <a:off x="457200" y="4261104"/>
            <a:ext cx="8229600" cy="274320"/>
          </a:xfrm>
          <a:prstGeom prst="rect">
            <a:avLst/>
          </a:prstGeom>
          <a:noFill/>
          <a:ln/>
        </p:spPr>
        <p:txBody>
          <a:bodyPr wrap="square" lIns="0" tIns="0" rIns="0" bIns="0" rtlCol="0" anchor="ctr"/>
          <a:lstStyle/>
          <a:p>
            <a:pPr algn="l" indent="0" marL="0">
              <a:buNone/>
            </a:pPr>
            <a:r>
              <a:rPr lang="en-US" sz="1100" dirty="0">
                <a:solidFill>
                  <a:srgbClr val="006D77"/>
                </a:solidFill>
                <a:latin typeface="Calibri" pitchFamily="34" charset="0"/>
                <a:ea typeface="Calibri" pitchFamily="34" charset="-122"/>
                <a:cs typeface="Calibri" pitchFamily="34" charset="-120"/>
              </a:rPr>
              <a:t>A consolidated fact carries a confidence level, because generalization is an inference and not a copy.</a:t>
            </a:r>
            <a:endParaRPr lang="en-US" sz="1100" dirty="0"/>
          </a:p>
        </p:txBody>
      </p:sp>
      <p:sp>
        <p:nvSpPr>
          <p:cNvPr id="35" name="Shape 33"/>
          <p:cNvSpPr/>
          <p:nvPr/>
        </p:nvSpPr>
        <p:spPr>
          <a:xfrm>
            <a:off x="8485632" y="4645152"/>
            <a:ext cx="420624" cy="274320"/>
          </a:xfrm>
          <a:prstGeom prst="roundRect">
            <a:avLst>
              <a:gd name="adj" fmla="val 26667"/>
            </a:avLst>
          </a:prstGeom>
          <a:solidFill>
            <a:srgbClr val="006D77"/>
          </a:solidFill>
          <a:ln w="12700">
            <a:solidFill>
              <a:srgbClr val="006D77"/>
            </a:solidFill>
            <a:prstDash val="solid"/>
          </a:ln>
        </p:spPr>
      </p:sp>
      <p:sp>
        <p:nvSpPr>
          <p:cNvPr id="36" name="Text 34"/>
          <p:cNvSpPr/>
          <p:nvPr/>
        </p:nvSpPr>
        <p:spPr>
          <a:xfrm>
            <a:off x="8485632" y="4645152"/>
            <a:ext cx="420624" cy="274320"/>
          </a:xfrm>
          <a:prstGeom prst="rect">
            <a:avLst/>
          </a:prstGeom>
          <a:noFill/>
          <a:ln/>
        </p:spPr>
        <p:txBody>
          <a:bodyPr wrap="square" lIns="0" tIns="0" rIns="0" bIns="0" rtlCol="0" anchor="ctr"/>
          <a:lstStyle/>
          <a:p>
            <a:pPr algn="ctr" indent="0" marL="0">
              <a:buNone/>
            </a:pPr>
            <a:r>
              <a:rPr lang="en-US" sz="1100" dirty="0">
                <a:solidFill>
                  <a:srgbClr val="EDF6F9"/>
                </a:solidFill>
                <a:latin typeface="Calibri" pitchFamily="34" charset="0"/>
                <a:ea typeface="Calibri" pitchFamily="34" charset="-122"/>
                <a:cs typeface="Calibri" pitchFamily="34" charset="-120"/>
              </a:rPr>
              <a:t>7</a:t>
            </a:r>
            <a:endParaRPr lang="en-US" sz="1100" dirty="0"/>
          </a:p>
        </p:txBody>
      </p:sp>
      <p:sp>
        <p:nvSpPr>
          <p:cNvPr id="37" name="Shape 35"/>
          <p:cNvSpPr/>
          <p:nvPr/>
        </p:nvSpPr>
        <p:spPr>
          <a:xfrm>
            <a:off x="457200" y="4754880"/>
            <a:ext cx="7772400" cy="10973"/>
          </a:xfrm>
          <a:prstGeom prst="rect">
            <a:avLst/>
          </a:prstGeom>
          <a:solidFill>
            <a:srgbClr val="83C5BE"/>
          </a:solidFill>
          <a:ln w="12700">
            <a:solidFill>
              <a:srgbClr val="83C5BE"/>
            </a:solidFill>
            <a:prstDash val="solid"/>
          </a:ln>
        </p:spPr>
      </p:sp>
      <p:sp>
        <p:nvSpPr>
          <p:cNvPr id="38" name="Text 36"/>
          <p:cNvSpPr/>
          <p:nvPr/>
        </p:nvSpPr>
        <p:spPr>
          <a:xfrm>
            <a:off x="457200" y="4773168"/>
            <a:ext cx="7772400" cy="219456"/>
          </a:xfrm>
          <a:prstGeom prst="rect">
            <a:avLst/>
          </a:prstGeom>
          <a:noFill/>
          <a:ln/>
        </p:spPr>
        <p:txBody>
          <a:bodyPr wrap="square" lIns="0" tIns="0" rIns="0" bIns="0" rtlCol="0" anchor="ctr"/>
          <a:lstStyle/>
          <a:p>
            <a:pPr algn="l" indent="0" marL="0">
              <a:buNone/>
            </a:pPr>
            <a:r>
              <a:rPr lang="en-US" sz="900" dirty="0">
                <a:solidFill>
                  <a:srgbClr val="006D77">
                    <a:alpha val="55000"/>
                  </a:srgbClr>
                </a:solidFill>
                <a:latin typeface="Calibri" pitchFamily="34" charset="0"/>
                <a:ea typeface="Calibri" pitchFamily="34" charset="-122"/>
                <a:cs typeface="Calibri" pitchFamily="34" charset="-120"/>
              </a:rPr>
              <a:t>Source: https://cs2680.seas.harvard.edu/slides/6_agent_design_3.pdf</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F6F9"/>
        </a:solidFill>
      </p:bgPr>
    </p:bg>
    <p:spTree>
      <p:nvGrpSpPr>
        <p:cNvPr id="1" name=""/>
        <p:cNvGrpSpPr/>
        <p:nvPr/>
      </p:nvGrpSpPr>
      <p:grpSpPr>
        <a:xfrm>
          <a:off x="0" y="0"/>
          <a:ext cx="0" cy="0"/>
          <a:chOff x="0" y="0"/>
          <a:chExt cx="0" cy="0"/>
        </a:xfrm>
      </p:grpSpPr>
      <p:sp>
        <p:nvSpPr>
          <p:cNvPr id="2" name="Text 0"/>
          <p:cNvSpPr/>
          <p:nvPr/>
        </p:nvSpPr>
        <p:spPr>
          <a:xfrm>
            <a:off x="457200" y="310896"/>
            <a:ext cx="8229600" cy="219456"/>
          </a:xfrm>
          <a:prstGeom prst="rect">
            <a:avLst/>
          </a:prstGeom>
          <a:noFill/>
          <a:ln/>
        </p:spPr>
        <p:txBody>
          <a:bodyPr wrap="square" lIns="0" tIns="0" rIns="0" bIns="0" rtlCol="0" anchor="ctr"/>
          <a:lstStyle/>
          <a:p>
            <a:pPr algn="l" indent="0" marL="0">
              <a:buNone/>
            </a:pPr>
            <a:r>
              <a:rPr lang="en-US" sz="1100" spc="140" kern="0" dirty="0">
                <a:solidFill>
                  <a:srgbClr val="E29578"/>
                </a:solidFill>
                <a:latin typeface="Calibri" pitchFamily="34" charset="0"/>
                <a:ea typeface="Calibri" pitchFamily="34" charset="-122"/>
                <a:cs typeface="Calibri" pitchFamily="34" charset="-120"/>
              </a:rPr>
              <a:t>THE OPERATIONS THE DECK SAYS STUDENTS GET WRONG</a:t>
            </a:r>
            <a:endParaRPr lang="en-US" sz="1100" dirty="0"/>
          </a:p>
        </p:txBody>
      </p:sp>
      <p:sp>
        <p:nvSpPr>
          <p:cNvPr id="3" name="Text 1"/>
          <p:cNvSpPr/>
          <p:nvPr/>
        </p:nvSpPr>
        <p:spPr>
          <a:xfrm>
            <a:off x="457200" y="548640"/>
            <a:ext cx="8229600" cy="566928"/>
          </a:xfrm>
          <a:prstGeom prst="rect">
            <a:avLst/>
          </a:prstGeom>
          <a:noFill/>
          <a:ln/>
        </p:spPr>
        <p:txBody>
          <a:bodyPr wrap="square" lIns="0" tIns="0" rIns="0" bIns="0" rtlCol="0" anchor="ctr">
            <a:normAutofit/>
          </a:bodyPr>
          <a:lstStyle/>
          <a:p>
            <a:pPr algn="l" indent="0" marL="0">
              <a:buNone/>
            </a:pPr>
            <a:r>
              <a:rPr lang="en-US" sz="2700" b="1" dirty="0">
                <a:solidFill>
                  <a:srgbClr val="006D77"/>
                </a:solidFill>
                <a:latin typeface="Georgia" pitchFamily="34" charset="0"/>
                <a:ea typeface="Georgia" pitchFamily="34" charset="-122"/>
                <a:cs typeface="Georgia" pitchFamily="34" charset="-120"/>
              </a:rPr>
              <a:t>Forgetting, valid time, and who owns the memory</a:t>
            </a:r>
            <a:endParaRPr lang="en-US" sz="2700" dirty="0"/>
          </a:p>
        </p:txBody>
      </p:sp>
      <p:sp>
        <p:nvSpPr>
          <p:cNvPr id="4" name="Shape 2"/>
          <p:cNvSpPr/>
          <p:nvPr/>
        </p:nvSpPr>
        <p:spPr>
          <a:xfrm>
            <a:off x="457200" y="1207008"/>
            <a:ext cx="2651760" cy="228600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5" name="Shape 3"/>
          <p:cNvSpPr/>
          <p:nvPr/>
        </p:nvSpPr>
        <p:spPr>
          <a:xfrm>
            <a:off x="457200" y="1207008"/>
            <a:ext cx="50292" cy="2286000"/>
          </a:xfrm>
          <a:prstGeom prst="rect">
            <a:avLst/>
          </a:prstGeom>
          <a:solidFill>
            <a:srgbClr val="E29578"/>
          </a:solidFill>
          <a:ln w="12700">
            <a:solidFill>
              <a:srgbClr val="E29578"/>
            </a:solidFill>
            <a:prstDash val="solid"/>
          </a:ln>
        </p:spPr>
      </p:sp>
      <p:sp>
        <p:nvSpPr>
          <p:cNvPr id="6" name="Text 4"/>
          <p:cNvSpPr/>
          <p:nvPr/>
        </p:nvSpPr>
        <p:spPr>
          <a:xfrm>
            <a:off x="640080" y="1353312"/>
            <a:ext cx="2322576" cy="256032"/>
          </a:xfrm>
          <a:prstGeom prst="rect">
            <a:avLst/>
          </a:prstGeom>
          <a:noFill/>
          <a:ln/>
        </p:spPr>
        <p:txBody>
          <a:bodyPr wrap="square" lIns="0" tIns="0" rIns="0" bIns="0" rtlCol="0" anchor="ctr"/>
          <a:lstStyle/>
          <a:p>
            <a:pPr algn="l" indent="0" marL="0">
              <a:buNone/>
            </a:pPr>
            <a:r>
              <a:rPr lang="en-US" sz="1300" b="1" dirty="0">
                <a:solidFill>
                  <a:srgbClr val="006D77"/>
                </a:solidFill>
                <a:latin typeface="Georgia" pitchFamily="34" charset="0"/>
                <a:ea typeface="Georgia" pitchFamily="34" charset="-122"/>
                <a:cs typeface="Georgia" pitchFamily="34" charset="-120"/>
              </a:rPr>
              <a:t>Forgetting is first-class</a:t>
            </a:r>
            <a:endParaRPr lang="en-US" sz="1300" dirty="0"/>
          </a:p>
        </p:txBody>
      </p:sp>
      <p:sp>
        <p:nvSpPr>
          <p:cNvPr id="7" name="Text 5"/>
          <p:cNvSpPr/>
          <p:nvPr/>
        </p:nvSpPr>
        <p:spPr>
          <a:xfrm>
            <a:off x="640080" y="1645920"/>
            <a:ext cx="2322576" cy="201168"/>
          </a:xfrm>
          <a:prstGeom prst="rect">
            <a:avLst/>
          </a:prstGeom>
          <a:noFill/>
          <a:ln/>
        </p:spPr>
        <p:txBody>
          <a:bodyPr wrap="square" lIns="0" tIns="0" rIns="0" bIns="0" rtlCol="0" anchor="ctr"/>
          <a:lstStyle/>
          <a:p>
            <a:pPr algn="l" indent="0" marL="0">
              <a:buNone/>
            </a:pPr>
            <a:r>
              <a:rPr lang="en-US" sz="1000" b="1" dirty="0">
                <a:solidFill>
                  <a:srgbClr val="E29578"/>
                </a:solidFill>
                <a:latin typeface="Georgia" pitchFamily="34" charset="0"/>
                <a:ea typeface="Georgia" pitchFamily="34" charset="-122"/>
                <a:cs typeface="Georgia" pitchFamily="34" charset="-120"/>
              </a:rPr>
              <a:t>Lifecycle controls</a:t>
            </a:r>
            <a:endParaRPr lang="en-US" sz="1000" dirty="0"/>
          </a:p>
        </p:txBody>
      </p:sp>
      <p:sp>
        <p:nvSpPr>
          <p:cNvPr id="8" name="Text 6"/>
          <p:cNvSpPr/>
          <p:nvPr/>
        </p:nvSpPr>
        <p:spPr>
          <a:xfrm>
            <a:off x="749808" y="1847088"/>
            <a:ext cx="2212848" cy="201168"/>
          </a:xfrm>
          <a:prstGeom prst="rect">
            <a:avLst/>
          </a:prstGeom>
          <a:noFill/>
          <a:ln/>
        </p:spPr>
        <p:txBody>
          <a:bodyPr wrap="square" lIns="0" tIns="0" rIns="0" bIns="0" rtlCol="0" anchor="ctr"/>
          <a:lstStyle/>
          <a:p>
            <a:pPr algn="l" indent="0" marL="0">
              <a:buNone/>
            </a:pPr>
            <a:r>
              <a:rPr lang="en-US" sz="850" dirty="0">
                <a:solidFill>
                  <a:srgbClr val="006D77"/>
                </a:solidFill>
                <a:latin typeface="Calibri" pitchFamily="34" charset="0"/>
                <a:ea typeface="Calibri" pitchFamily="34" charset="-122"/>
                <a:cs typeface="Calibri" pitchFamily="34" charset="-120"/>
              </a:rPr>
              <a:t>mark invalid</a:t>
            </a:r>
            <a:endParaRPr lang="en-US" sz="850" dirty="0"/>
          </a:p>
        </p:txBody>
      </p:sp>
      <p:sp>
        <p:nvSpPr>
          <p:cNvPr id="9" name="Text 7"/>
          <p:cNvSpPr/>
          <p:nvPr/>
        </p:nvSpPr>
        <p:spPr>
          <a:xfrm>
            <a:off x="749808" y="2066544"/>
            <a:ext cx="2212848" cy="201168"/>
          </a:xfrm>
          <a:prstGeom prst="rect">
            <a:avLst/>
          </a:prstGeom>
          <a:noFill/>
          <a:ln/>
        </p:spPr>
        <p:txBody>
          <a:bodyPr wrap="square" lIns="0" tIns="0" rIns="0" bIns="0" rtlCol="0" anchor="ctr"/>
          <a:lstStyle/>
          <a:p>
            <a:pPr algn="l" indent="0" marL="0">
              <a:buNone/>
            </a:pPr>
            <a:r>
              <a:rPr lang="en-US" sz="850" dirty="0">
                <a:solidFill>
                  <a:srgbClr val="006D77"/>
                </a:solidFill>
                <a:latin typeface="Calibri" pitchFamily="34" charset="0"/>
                <a:ea typeface="Calibri" pitchFamily="34" charset="-122"/>
                <a:cs typeface="Calibri" pitchFamily="34" charset="-120"/>
              </a:rPr>
              <a:t>erase permanently</a:t>
            </a:r>
            <a:endParaRPr lang="en-US" sz="850" dirty="0"/>
          </a:p>
        </p:txBody>
      </p:sp>
      <p:sp>
        <p:nvSpPr>
          <p:cNvPr id="10" name="Text 8"/>
          <p:cNvSpPr/>
          <p:nvPr/>
        </p:nvSpPr>
        <p:spPr>
          <a:xfrm>
            <a:off x="749808" y="2286000"/>
            <a:ext cx="2212848" cy="201168"/>
          </a:xfrm>
          <a:prstGeom prst="rect">
            <a:avLst/>
          </a:prstGeom>
          <a:noFill/>
          <a:ln/>
        </p:spPr>
        <p:txBody>
          <a:bodyPr wrap="square" lIns="0" tIns="0" rIns="0" bIns="0" rtlCol="0" anchor="ctr"/>
          <a:lstStyle/>
          <a:p>
            <a:pPr algn="l" indent="0" marL="0">
              <a:buNone/>
            </a:pPr>
            <a:r>
              <a:rPr lang="en-US" sz="850" dirty="0">
                <a:solidFill>
                  <a:srgbClr val="006D77"/>
                </a:solidFill>
                <a:latin typeface="Calibri" pitchFamily="34" charset="0"/>
                <a:ea typeface="Calibri" pitchFamily="34" charset="-122"/>
                <a:cs typeface="Calibri" pitchFamily="34" charset="-120"/>
              </a:rPr>
              <a:t>expire after a TTL</a:t>
            </a:r>
            <a:endParaRPr lang="en-US" sz="850" dirty="0"/>
          </a:p>
        </p:txBody>
      </p:sp>
      <p:sp>
        <p:nvSpPr>
          <p:cNvPr id="11" name="Text 9"/>
          <p:cNvSpPr/>
          <p:nvPr/>
        </p:nvSpPr>
        <p:spPr>
          <a:xfrm>
            <a:off x="749808" y="2505456"/>
            <a:ext cx="2212848" cy="201168"/>
          </a:xfrm>
          <a:prstGeom prst="rect">
            <a:avLst/>
          </a:prstGeom>
          <a:noFill/>
          <a:ln/>
        </p:spPr>
        <p:txBody>
          <a:bodyPr wrap="square" lIns="0" tIns="0" rIns="0" bIns="0" rtlCol="0" anchor="ctr"/>
          <a:lstStyle/>
          <a:p>
            <a:pPr algn="l" indent="0" marL="0">
              <a:buNone/>
            </a:pPr>
            <a:r>
              <a:rPr lang="en-US" sz="850" dirty="0">
                <a:solidFill>
                  <a:srgbClr val="006D77"/>
                </a:solidFill>
                <a:latin typeface="Calibri" pitchFamily="34" charset="0"/>
                <a:ea typeface="Calibri" pitchFamily="34" charset="-122"/>
                <a:cs typeface="Calibri" pitchFamily="34" charset="-120"/>
              </a:rPr>
              <a:t>tier and evict from active memory</a:t>
            </a:r>
            <a:endParaRPr lang="en-US" sz="850" dirty="0"/>
          </a:p>
        </p:txBody>
      </p:sp>
      <p:sp>
        <p:nvSpPr>
          <p:cNvPr id="12" name="Text 10"/>
          <p:cNvSpPr/>
          <p:nvPr/>
        </p:nvSpPr>
        <p:spPr>
          <a:xfrm>
            <a:off x="640080" y="2779776"/>
            <a:ext cx="2322576" cy="201168"/>
          </a:xfrm>
          <a:prstGeom prst="rect">
            <a:avLst/>
          </a:prstGeom>
          <a:noFill/>
          <a:ln/>
        </p:spPr>
        <p:txBody>
          <a:bodyPr wrap="square" lIns="0" tIns="0" rIns="0" bIns="0" rtlCol="0" anchor="ctr"/>
          <a:lstStyle/>
          <a:p>
            <a:pPr algn="l" indent="0" marL="0">
              <a:buNone/>
            </a:pPr>
            <a:r>
              <a:rPr lang="en-US" sz="1000" b="1" dirty="0">
                <a:solidFill>
                  <a:srgbClr val="E29578"/>
                </a:solidFill>
                <a:latin typeface="Georgia" pitchFamily="34" charset="0"/>
                <a:ea typeface="Georgia" pitchFamily="34" charset="-122"/>
                <a:cs typeface="Georgia" pitchFamily="34" charset="-120"/>
              </a:rPr>
              <a:t>Why forget</a:t>
            </a:r>
            <a:endParaRPr lang="en-US" sz="1000" dirty="0"/>
          </a:p>
        </p:txBody>
      </p:sp>
      <p:sp>
        <p:nvSpPr>
          <p:cNvPr id="13" name="Text 11"/>
          <p:cNvSpPr/>
          <p:nvPr/>
        </p:nvSpPr>
        <p:spPr>
          <a:xfrm>
            <a:off x="749808" y="2980944"/>
            <a:ext cx="2212848" cy="201168"/>
          </a:xfrm>
          <a:prstGeom prst="rect">
            <a:avLst/>
          </a:prstGeom>
          <a:noFill/>
          <a:ln/>
        </p:spPr>
        <p:txBody>
          <a:bodyPr wrap="square" lIns="0" tIns="0" rIns="0" bIns="0" rtlCol="0" anchor="ctr"/>
          <a:lstStyle/>
          <a:p>
            <a:pPr algn="l" indent="0" marL="0">
              <a:buNone/>
            </a:pPr>
            <a:r>
              <a:rPr lang="en-US" sz="850" dirty="0">
                <a:solidFill>
                  <a:srgbClr val="006D77"/>
                </a:solidFill>
                <a:latin typeface="Calibri" pitchFamily="34" charset="0"/>
                <a:ea typeface="Calibri" pitchFamily="34" charset="-122"/>
                <a:cs typeface="Calibri" pitchFamily="34" charset="-120"/>
              </a:rPr>
              <a:t>stale information</a:t>
            </a:r>
            <a:endParaRPr lang="en-US" sz="850" dirty="0"/>
          </a:p>
        </p:txBody>
      </p:sp>
      <p:sp>
        <p:nvSpPr>
          <p:cNvPr id="14" name="Text 12"/>
          <p:cNvSpPr/>
          <p:nvPr/>
        </p:nvSpPr>
        <p:spPr>
          <a:xfrm>
            <a:off x="749808" y="3200400"/>
            <a:ext cx="2212848" cy="201168"/>
          </a:xfrm>
          <a:prstGeom prst="rect">
            <a:avLst/>
          </a:prstGeom>
          <a:noFill/>
          <a:ln/>
        </p:spPr>
        <p:txBody>
          <a:bodyPr wrap="square" lIns="0" tIns="0" rIns="0" bIns="0" rtlCol="0" anchor="ctr"/>
          <a:lstStyle/>
          <a:p>
            <a:pPr algn="l" indent="0" marL="0">
              <a:buNone/>
            </a:pPr>
            <a:r>
              <a:rPr lang="en-US" sz="850" dirty="0">
                <a:solidFill>
                  <a:srgbClr val="006D77"/>
                </a:solidFill>
                <a:latin typeface="Calibri" pitchFamily="34" charset="0"/>
                <a:ea typeface="Calibri" pitchFamily="34" charset="-122"/>
                <a:cs typeface="Calibri" pitchFamily="34" charset="-120"/>
              </a:rPr>
              <a:t>incorrect or conflicting information</a:t>
            </a:r>
            <a:endParaRPr lang="en-US" sz="850" dirty="0"/>
          </a:p>
        </p:txBody>
      </p:sp>
      <p:sp>
        <p:nvSpPr>
          <p:cNvPr id="15" name="Text 13"/>
          <p:cNvSpPr/>
          <p:nvPr/>
        </p:nvSpPr>
        <p:spPr>
          <a:xfrm>
            <a:off x="749808" y="3419856"/>
            <a:ext cx="2212848" cy="201168"/>
          </a:xfrm>
          <a:prstGeom prst="rect">
            <a:avLst/>
          </a:prstGeom>
          <a:noFill/>
          <a:ln/>
        </p:spPr>
        <p:txBody>
          <a:bodyPr wrap="square" lIns="0" tIns="0" rIns="0" bIns="0" rtlCol="0" anchor="ctr"/>
          <a:lstStyle/>
          <a:p>
            <a:pPr algn="l" indent="0" marL="0">
              <a:buNone/>
            </a:pPr>
            <a:r>
              <a:rPr lang="en-US" sz="850" dirty="0">
                <a:solidFill>
                  <a:srgbClr val="006D77"/>
                </a:solidFill>
                <a:latin typeface="Calibri" pitchFamily="34" charset="0"/>
                <a:ea typeface="Calibri" pitchFamily="34" charset="-122"/>
                <a:cs typeface="Calibri" pitchFamily="34" charset="-120"/>
              </a:rPr>
              <a:t>privacy and security</a:t>
            </a:r>
            <a:endParaRPr lang="en-US" sz="850" dirty="0"/>
          </a:p>
        </p:txBody>
      </p:sp>
      <p:sp>
        <p:nvSpPr>
          <p:cNvPr id="16" name="Text 14"/>
          <p:cNvSpPr/>
          <p:nvPr/>
        </p:nvSpPr>
        <p:spPr>
          <a:xfrm>
            <a:off x="749808" y="3639312"/>
            <a:ext cx="2212848" cy="201168"/>
          </a:xfrm>
          <a:prstGeom prst="rect">
            <a:avLst/>
          </a:prstGeom>
          <a:noFill/>
          <a:ln/>
        </p:spPr>
        <p:txBody>
          <a:bodyPr wrap="square" lIns="0" tIns="0" rIns="0" bIns="0" rtlCol="0" anchor="ctr"/>
          <a:lstStyle/>
          <a:p>
            <a:pPr algn="l" indent="0" marL="0">
              <a:buNone/>
            </a:pPr>
            <a:r>
              <a:rPr lang="en-US" sz="850" dirty="0">
                <a:solidFill>
                  <a:srgbClr val="006D77"/>
                </a:solidFill>
                <a:latin typeface="Calibri" pitchFamily="34" charset="0"/>
                <a:ea typeface="Calibri" pitchFamily="34" charset="-122"/>
                <a:cs typeface="Calibri" pitchFamily="34" charset="-120"/>
              </a:rPr>
              <a:t>storage and retrieval cost</a:t>
            </a:r>
            <a:endParaRPr lang="en-US" sz="850" dirty="0"/>
          </a:p>
        </p:txBody>
      </p:sp>
      <p:sp>
        <p:nvSpPr>
          <p:cNvPr id="17" name="Shape 15"/>
          <p:cNvSpPr/>
          <p:nvPr/>
        </p:nvSpPr>
        <p:spPr>
          <a:xfrm>
            <a:off x="3246120" y="1207008"/>
            <a:ext cx="2651760" cy="228600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18" name="Shape 16"/>
          <p:cNvSpPr/>
          <p:nvPr/>
        </p:nvSpPr>
        <p:spPr>
          <a:xfrm>
            <a:off x="3246120" y="1207008"/>
            <a:ext cx="50292" cy="2286000"/>
          </a:xfrm>
          <a:prstGeom prst="rect">
            <a:avLst/>
          </a:prstGeom>
          <a:solidFill>
            <a:srgbClr val="E29578"/>
          </a:solidFill>
          <a:ln w="12700">
            <a:solidFill>
              <a:srgbClr val="E29578"/>
            </a:solidFill>
            <a:prstDash val="solid"/>
          </a:ln>
        </p:spPr>
      </p:sp>
      <p:sp>
        <p:nvSpPr>
          <p:cNvPr id="19" name="Text 17"/>
          <p:cNvSpPr/>
          <p:nvPr/>
        </p:nvSpPr>
        <p:spPr>
          <a:xfrm>
            <a:off x="3429000" y="1353312"/>
            <a:ext cx="2322576" cy="256032"/>
          </a:xfrm>
          <a:prstGeom prst="rect">
            <a:avLst/>
          </a:prstGeom>
          <a:noFill/>
          <a:ln/>
        </p:spPr>
        <p:txBody>
          <a:bodyPr wrap="square" lIns="0" tIns="0" rIns="0" bIns="0" rtlCol="0" anchor="ctr"/>
          <a:lstStyle/>
          <a:p>
            <a:pPr algn="l" indent="0" marL="0">
              <a:buNone/>
            </a:pPr>
            <a:r>
              <a:rPr lang="en-US" sz="1300" b="1" dirty="0">
                <a:solidFill>
                  <a:srgbClr val="006D77"/>
                </a:solidFill>
                <a:latin typeface="Georgia" pitchFamily="34" charset="0"/>
                <a:ea typeface="Georgia" pitchFamily="34" charset="-122"/>
                <a:cs typeface="Georgia" pitchFamily="34" charset="-120"/>
              </a:rPr>
              <a:t>Valid time and provenance</a:t>
            </a:r>
            <a:endParaRPr lang="en-US" sz="1300" dirty="0"/>
          </a:p>
        </p:txBody>
      </p:sp>
      <p:sp>
        <p:nvSpPr>
          <p:cNvPr id="20" name="Shape 18"/>
          <p:cNvSpPr/>
          <p:nvPr/>
        </p:nvSpPr>
        <p:spPr>
          <a:xfrm>
            <a:off x="3429000" y="1682496"/>
            <a:ext cx="2322576" cy="1005840"/>
          </a:xfrm>
          <a:prstGeom prst="rect">
            <a:avLst/>
          </a:prstGeom>
          <a:solidFill>
            <a:srgbClr val="FFDDD2"/>
          </a:solidFill>
          <a:ln w="9525">
            <a:solidFill>
              <a:srgbClr val="E29578"/>
            </a:solidFill>
            <a:prstDash val="solid"/>
          </a:ln>
        </p:spPr>
      </p:sp>
      <p:sp>
        <p:nvSpPr>
          <p:cNvPr id="21" name="Text 19"/>
          <p:cNvSpPr/>
          <p:nvPr/>
        </p:nvSpPr>
        <p:spPr>
          <a:xfrm>
            <a:off x="3520440" y="1719072"/>
            <a:ext cx="2139696" cy="201168"/>
          </a:xfrm>
          <a:prstGeom prst="rect">
            <a:avLst/>
          </a:prstGeom>
          <a:noFill/>
          <a:ln/>
        </p:spPr>
        <p:txBody>
          <a:bodyPr wrap="square" lIns="0" tIns="0" rIns="0" bIns="0" rtlCol="0" anchor="ctr"/>
          <a:lstStyle/>
          <a:p>
            <a:pPr algn="l" indent="0" marL="0">
              <a:buNone/>
            </a:pPr>
            <a:r>
              <a:rPr lang="en-US" sz="950" dirty="0">
                <a:solidFill>
                  <a:srgbClr val="006D77"/>
                </a:solidFill>
                <a:latin typeface="Calibri" pitchFamily="34" charset="0"/>
                <a:ea typeface="Calibri" pitchFamily="34" charset="-122"/>
                <a:cs typeface="Calibri" pitchFamily="34" charset="-120"/>
              </a:rPr>
              <a:t>The same fact, two valid times:</a:t>
            </a:r>
            <a:endParaRPr lang="en-US" sz="950" dirty="0"/>
          </a:p>
        </p:txBody>
      </p:sp>
      <p:sp>
        <p:nvSpPr>
          <p:cNvPr id="22" name="Text 20"/>
          <p:cNvSpPr/>
          <p:nvPr/>
        </p:nvSpPr>
        <p:spPr>
          <a:xfrm>
            <a:off x="3520440" y="1938528"/>
            <a:ext cx="2139696" cy="713232"/>
          </a:xfrm>
          <a:prstGeom prst="rect">
            <a:avLst/>
          </a:prstGeom>
          <a:noFill/>
          <a:ln/>
        </p:spPr>
        <p:txBody>
          <a:bodyPr wrap="square" lIns="0" tIns="0" rIns="0" bIns="0" rtlCol="0" anchor="t"/>
          <a:lstStyle/>
          <a:p>
            <a:pPr algn="l" indent="0" marL="0">
              <a:buNone/>
            </a:pPr>
            <a:r>
              <a:rPr lang="en-US" sz="950" dirty="0">
                <a:solidFill>
                  <a:srgbClr val="006D77"/>
                </a:solidFill>
                <a:latin typeface="Calibri" pitchFamily="34" charset="0"/>
                <a:ea typeface="Calibri" pitchFamily="34" charset="-122"/>
                <a:cs typeface="Calibri" pitchFamily="34" charset="-120"/>
              </a:rPr>
              <a:t>April 2026 (vLLM, superseded)  -&gt;  June 2026 (SGLang, current). Source: Episode 28. Project -&gt; SERVES_WITH -&gt; SGLang.</a:t>
            </a:r>
            <a:endParaRPr lang="en-US" sz="950" dirty="0"/>
          </a:p>
        </p:txBody>
      </p:sp>
      <p:sp>
        <p:nvSpPr>
          <p:cNvPr id="23" name="Text 21"/>
          <p:cNvSpPr/>
          <p:nvPr/>
        </p:nvSpPr>
        <p:spPr>
          <a:xfrm>
            <a:off x="3429000" y="2779776"/>
            <a:ext cx="2322576" cy="548640"/>
          </a:xfrm>
          <a:prstGeom prst="rect">
            <a:avLst/>
          </a:prstGeom>
          <a:noFill/>
          <a:ln/>
        </p:spPr>
        <p:txBody>
          <a:bodyPr wrap="square" lIns="0" tIns="0" rIns="0" bIns="0" rtlCol="0" anchor="t"/>
          <a:lstStyle/>
          <a:p>
            <a:pPr algn="l" indent="0" marL="0">
              <a:buNone/>
            </a:pPr>
            <a:r>
              <a:rPr lang="en-US" sz="1050" dirty="0">
                <a:solidFill>
                  <a:srgbClr val="E29578"/>
                </a:solidFill>
                <a:latin typeface="Calibri" pitchFamily="34" charset="0"/>
                <a:ea typeface="Calibri" pitchFamily="34" charset="-122"/>
                <a:cs typeface="Calibri" pitchFamily="34" charset="-120"/>
              </a:rPr>
              <a:t>A memory without a valid time silently overrides newer information.</a:t>
            </a:r>
            <a:endParaRPr lang="en-US" sz="1050" dirty="0"/>
          </a:p>
        </p:txBody>
      </p:sp>
      <p:sp>
        <p:nvSpPr>
          <p:cNvPr id="24" name="Shape 22"/>
          <p:cNvSpPr/>
          <p:nvPr/>
        </p:nvSpPr>
        <p:spPr>
          <a:xfrm>
            <a:off x="6035040" y="1207008"/>
            <a:ext cx="2651760" cy="228600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25" name="Shape 23"/>
          <p:cNvSpPr/>
          <p:nvPr/>
        </p:nvSpPr>
        <p:spPr>
          <a:xfrm>
            <a:off x="6035040" y="1207008"/>
            <a:ext cx="50292" cy="2286000"/>
          </a:xfrm>
          <a:prstGeom prst="rect">
            <a:avLst/>
          </a:prstGeom>
          <a:solidFill>
            <a:srgbClr val="E29578"/>
          </a:solidFill>
          <a:ln w="12700">
            <a:solidFill>
              <a:srgbClr val="E29578"/>
            </a:solidFill>
            <a:prstDash val="solid"/>
          </a:ln>
        </p:spPr>
      </p:sp>
      <p:sp>
        <p:nvSpPr>
          <p:cNvPr id="26" name="Text 24"/>
          <p:cNvSpPr/>
          <p:nvPr/>
        </p:nvSpPr>
        <p:spPr>
          <a:xfrm>
            <a:off x="6217920" y="1353312"/>
            <a:ext cx="2322576" cy="256032"/>
          </a:xfrm>
          <a:prstGeom prst="rect">
            <a:avLst/>
          </a:prstGeom>
          <a:noFill/>
          <a:ln/>
        </p:spPr>
        <p:txBody>
          <a:bodyPr wrap="square" lIns="0" tIns="0" rIns="0" bIns="0" rtlCol="0" anchor="ctr"/>
          <a:lstStyle/>
          <a:p>
            <a:pPr algn="l" indent="0" marL="0">
              <a:buNone/>
            </a:pPr>
            <a:r>
              <a:rPr lang="en-US" sz="1300" b="1" dirty="0">
                <a:solidFill>
                  <a:srgbClr val="006D77"/>
                </a:solidFill>
                <a:latin typeface="Georgia" pitchFamily="34" charset="0"/>
                <a:ea typeface="Georgia" pitchFamily="34" charset="-122"/>
                <a:cs typeface="Georgia" pitchFamily="34" charset="-120"/>
              </a:rPr>
              <a:t>Who owns the memory?</a:t>
            </a:r>
            <a:endParaRPr lang="en-US" sz="1300" dirty="0"/>
          </a:p>
        </p:txBody>
      </p:sp>
      <p:sp>
        <p:nvSpPr>
          <p:cNvPr id="27" name="Text 25"/>
          <p:cNvSpPr/>
          <p:nvPr/>
        </p:nvSpPr>
        <p:spPr>
          <a:xfrm>
            <a:off x="6217920" y="1664208"/>
            <a:ext cx="2322576" cy="219456"/>
          </a:xfrm>
          <a:prstGeom prst="rect">
            <a:avLst/>
          </a:prstGeom>
          <a:noFill/>
          <a:ln/>
        </p:spPr>
        <p:txBody>
          <a:bodyPr wrap="square" lIns="0" tIns="0" rIns="0" bIns="0" rtlCol="0" anchor="ctr"/>
          <a:lstStyle/>
          <a:p>
            <a:pPr algn="l" indent="0" marL="0">
              <a:buNone/>
            </a:pPr>
            <a:r>
              <a:rPr lang="en-US" sz="1050" b="1" dirty="0">
                <a:solidFill>
                  <a:srgbClr val="E29578"/>
                </a:solidFill>
                <a:latin typeface="Georgia" pitchFamily="34" charset="0"/>
                <a:ea typeface="Georgia" pitchFamily="34" charset="-122"/>
                <a:cs typeface="Georgia" pitchFamily="34" charset="-120"/>
              </a:rPr>
              <a:t>Agent-owned memory</a:t>
            </a:r>
            <a:endParaRPr lang="en-US" sz="1050" dirty="0"/>
          </a:p>
        </p:txBody>
      </p:sp>
      <p:sp>
        <p:nvSpPr>
          <p:cNvPr id="28" name="Text 26"/>
          <p:cNvSpPr/>
          <p:nvPr/>
        </p:nvSpPr>
        <p:spPr>
          <a:xfrm>
            <a:off x="6217920" y="1901952"/>
            <a:ext cx="2322576" cy="603504"/>
          </a:xfrm>
          <a:prstGeom prst="rect">
            <a:avLst/>
          </a:prstGeom>
          <a:noFill/>
          <a:ln/>
        </p:spPr>
        <p:txBody>
          <a:bodyPr wrap="square" lIns="0" tIns="0" rIns="0" bIns="0" rtlCol="0" anchor="t"/>
          <a:lstStyle/>
          <a:p>
            <a:pPr algn="l" indent="0" marL="0">
              <a:buNone/>
            </a:pPr>
            <a:r>
              <a:rPr lang="en-US" sz="950" dirty="0">
                <a:solidFill>
                  <a:srgbClr val="006D77"/>
                </a:solidFill>
                <a:latin typeface="Calibri" pitchFamily="34" charset="0"/>
                <a:ea typeface="Calibri" pitchFamily="34" charset="-122"/>
                <a:cs typeface="Calibri" pitchFamily="34" charset="-120"/>
              </a:rPr>
              <a:t>Files in the harness: CLAUDE.md, agent scratchpad, task notes, persisted to disk by the harness.</a:t>
            </a:r>
            <a:endParaRPr lang="en-US" sz="950" dirty="0"/>
          </a:p>
        </p:txBody>
      </p:sp>
      <p:sp>
        <p:nvSpPr>
          <p:cNvPr id="29" name="Text 27"/>
          <p:cNvSpPr/>
          <p:nvPr/>
        </p:nvSpPr>
        <p:spPr>
          <a:xfrm>
            <a:off x="6217920" y="2542032"/>
            <a:ext cx="2322576" cy="219456"/>
          </a:xfrm>
          <a:prstGeom prst="rect">
            <a:avLst/>
          </a:prstGeom>
          <a:noFill/>
          <a:ln/>
        </p:spPr>
        <p:txBody>
          <a:bodyPr wrap="square" lIns="0" tIns="0" rIns="0" bIns="0" rtlCol="0" anchor="ctr"/>
          <a:lstStyle/>
          <a:p>
            <a:pPr algn="l" indent="0" marL="0">
              <a:buNone/>
            </a:pPr>
            <a:r>
              <a:rPr lang="en-US" sz="1050" b="1" dirty="0">
                <a:solidFill>
                  <a:srgbClr val="E29578"/>
                </a:solidFill>
                <a:latin typeface="Georgia" pitchFamily="34" charset="0"/>
                <a:ea typeface="Georgia" pitchFamily="34" charset="-122"/>
                <a:cs typeface="Georgia" pitchFamily="34" charset="-120"/>
              </a:rPr>
              <a:t>A dedicated memory system</a:t>
            </a:r>
            <a:endParaRPr lang="en-US" sz="1050" dirty="0"/>
          </a:p>
        </p:txBody>
      </p:sp>
      <p:sp>
        <p:nvSpPr>
          <p:cNvPr id="30" name="Text 28"/>
          <p:cNvSpPr/>
          <p:nvPr/>
        </p:nvSpPr>
        <p:spPr>
          <a:xfrm>
            <a:off x="6217920" y="2779776"/>
            <a:ext cx="2322576" cy="548640"/>
          </a:xfrm>
          <a:prstGeom prst="rect">
            <a:avLst/>
          </a:prstGeom>
          <a:noFill/>
          <a:ln/>
        </p:spPr>
        <p:txBody>
          <a:bodyPr wrap="square" lIns="0" tIns="0" rIns="0" bIns="0" rtlCol="0" anchor="t"/>
          <a:lstStyle/>
          <a:p>
            <a:pPr algn="l" indent="0" marL="0">
              <a:buNone/>
            </a:pPr>
            <a:r>
              <a:rPr lang="en-US" sz="950" dirty="0">
                <a:solidFill>
                  <a:srgbClr val="006D77"/>
                </a:solidFill>
                <a:latin typeface="Calibri" pitchFamily="34" charset="0"/>
                <a:ea typeface="Calibri" pitchFamily="34" charset="-122"/>
                <a:cs typeface="Calibri" pitchFamily="34" charset="-120"/>
              </a:rPr>
              <a:t>The agent calls it. Memory becomes an API shared across agents and sessions.</a:t>
            </a:r>
            <a:endParaRPr lang="en-US" sz="950" dirty="0"/>
          </a:p>
        </p:txBody>
      </p:sp>
      <p:sp>
        <p:nvSpPr>
          <p:cNvPr id="31" name="Text 29"/>
          <p:cNvSpPr/>
          <p:nvPr/>
        </p:nvSpPr>
        <p:spPr>
          <a:xfrm>
            <a:off x="457200" y="3547872"/>
            <a:ext cx="8229600" cy="201168"/>
          </a:xfrm>
          <a:prstGeom prst="rect">
            <a:avLst/>
          </a:prstGeom>
          <a:noFill/>
          <a:ln/>
        </p:spPr>
        <p:txBody>
          <a:bodyPr wrap="square" lIns="0" tIns="0" rIns="0" bIns="0" rtlCol="0" anchor="ctr"/>
          <a:lstStyle/>
          <a:p>
            <a:pPr algn="l" indent="0" marL="0">
              <a:buNone/>
            </a:pPr>
            <a:r>
              <a:rPr lang="en-US" sz="1100" b="1" dirty="0">
                <a:solidFill>
                  <a:srgbClr val="006D77"/>
                </a:solidFill>
                <a:latin typeface="Georgia" pitchFamily="34" charset="0"/>
                <a:ea typeface="Georgia" pitchFamily="34" charset="-122"/>
                <a:cs typeface="Georgia" pitchFamily="34" charset="-120"/>
              </a:rPr>
              <a:t>Three dedicated memory systems, at different granularity</a:t>
            </a:r>
            <a:endParaRPr lang="en-US" sz="1100" dirty="0"/>
          </a:p>
        </p:txBody>
      </p:sp>
      <p:sp>
        <p:nvSpPr>
          <p:cNvPr id="32" name="Shape 30"/>
          <p:cNvSpPr/>
          <p:nvPr/>
        </p:nvSpPr>
        <p:spPr>
          <a:xfrm>
            <a:off x="457200" y="3767328"/>
            <a:ext cx="2651760" cy="786384"/>
          </a:xfrm>
          <a:prstGeom prst="rect">
            <a:avLst/>
          </a:prstGeom>
          <a:solidFill>
            <a:srgbClr val="EDF6F9"/>
          </a:solidFill>
          <a:ln w="9525">
            <a:solidFill>
              <a:srgbClr val="83C5BE"/>
            </a:solidFill>
            <a:prstDash val="solid"/>
          </a:ln>
        </p:spPr>
      </p:sp>
      <p:sp>
        <p:nvSpPr>
          <p:cNvPr id="33" name="Text 31"/>
          <p:cNvSpPr/>
          <p:nvPr/>
        </p:nvSpPr>
        <p:spPr>
          <a:xfrm>
            <a:off x="566928" y="3785616"/>
            <a:ext cx="2432304" cy="201168"/>
          </a:xfrm>
          <a:prstGeom prst="rect">
            <a:avLst/>
          </a:prstGeom>
          <a:noFill/>
          <a:ln/>
        </p:spPr>
        <p:txBody>
          <a:bodyPr wrap="square" lIns="0" tIns="0" rIns="0" bIns="0" rtlCol="0" anchor="ctr"/>
          <a:lstStyle/>
          <a:p>
            <a:pPr algn="l" indent="0" marL="0">
              <a:buNone/>
            </a:pPr>
            <a:r>
              <a:rPr lang="en-US" sz="1100" b="1" dirty="0">
                <a:solidFill>
                  <a:srgbClr val="006D77"/>
                </a:solidFill>
                <a:latin typeface="Georgia" pitchFamily="34" charset="0"/>
                <a:ea typeface="Georgia" pitchFamily="34" charset="-122"/>
                <a:cs typeface="Georgia" pitchFamily="34" charset="-120"/>
              </a:rPr>
              <a:t>Mem0</a:t>
            </a:r>
            <a:endParaRPr lang="en-US" sz="1100" dirty="0"/>
          </a:p>
        </p:txBody>
      </p:sp>
      <p:sp>
        <p:nvSpPr>
          <p:cNvPr id="34" name="Text 32"/>
          <p:cNvSpPr/>
          <p:nvPr/>
        </p:nvSpPr>
        <p:spPr>
          <a:xfrm>
            <a:off x="566928" y="3986784"/>
            <a:ext cx="2432304" cy="530352"/>
          </a:xfrm>
          <a:prstGeom prst="rect">
            <a:avLst/>
          </a:prstGeom>
          <a:noFill/>
          <a:ln/>
        </p:spPr>
        <p:txBody>
          <a:bodyPr wrap="square" lIns="0" tIns="0" rIns="0" bIns="0" rtlCol="0" anchor="t"/>
          <a:lstStyle/>
          <a:p>
            <a:pPr algn="l" indent="0" marL="0">
              <a:buNone/>
            </a:pPr>
            <a:r>
              <a:rPr lang="en-US" sz="850" dirty="0">
                <a:solidFill>
                  <a:srgbClr val="006D77"/>
                </a:solidFill>
                <a:latin typeface="Calibri" pitchFamily="34" charset="0"/>
                <a:ea typeface="Calibri" pitchFamily="34" charset="-122"/>
                <a:cs typeface="Calibri" pitchFamily="34" charset="-120"/>
              </a:rPr>
              <a:t>fact-centric; messages scoped by user/agent/run; vector search with filters, optional graph memory.</a:t>
            </a:r>
            <a:endParaRPr lang="en-US" sz="850" dirty="0"/>
          </a:p>
        </p:txBody>
      </p:sp>
      <p:sp>
        <p:nvSpPr>
          <p:cNvPr id="35" name="Shape 33"/>
          <p:cNvSpPr/>
          <p:nvPr/>
        </p:nvSpPr>
        <p:spPr>
          <a:xfrm>
            <a:off x="3246120" y="3767328"/>
            <a:ext cx="2651760" cy="786384"/>
          </a:xfrm>
          <a:prstGeom prst="rect">
            <a:avLst/>
          </a:prstGeom>
          <a:solidFill>
            <a:srgbClr val="EDF6F9"/>
          </a:solidFill>
          <a:ln w="9525">
            <a:solidFill>
              <a:srgbClr val="83C5BE"/>
            </a:solidFill>
            <a:prstDash val="solid"/>
          </a:ln>
        </p:spPr>
      </p:sp>
      <p:sp>
        <p:nvSpPr>
          <p:cNvPr id="36" name="Text 34"/>
          <p:cNvSpPr/>
          <p:nvPr/>
        </p:nvSpPr>
        <p:spPr>
          <a:xfrm>
            <a:off x="3355848" y="3785616"/>
            <a:ext cx="2432304" cy="201168"/>
          </a:xfrm>
          <a:prstGeom prst="rect">
            <a:avLst/>
          </a:prstGeom>
          <a:noFill/>
          <a:ln/>
        </p:spPr>
        <p:txBody>
          <a:bodyPr wrap="square" lIns="0" tIns="0" rIns="0" bIns="0" rtlCol="0" anchor="ctr"/>
          <a:lstStyle/>
          <a:p>
            <a:pPr algn="l" indent="0" marL="0">
              <a:buNone/>
            </a:pPr>
            <a:r>
              <a:rPr lang="en-US" sz="1100" b="1" dirty="0">
                <a:solidFill>
                  <a:srgbClr val="006D77"/>
                </a:solidFill>
                <a:latin typeface="Georgia" pitchFamily="34" charset="0"/>
                <a:ea typeface="Georgia" pitchFamily="34" charset="-122"/>
                <a:cs typeface="Georgia" pitchFamily="34" charset="-120"/>
              </a:rPr>
              <a:t>Graphiti</a:t>
            </a:r>
            <a:endParaRPr lang="en-US" sz="1100" dirty="0"/>
          </a:p>
        </p:txBody>
      </p:sp>
      <p:sp>
        <p:nvSpPr>
          <p:cNvPr id="37" name="Text 35"/>
          <p:cNvSpPr/>
          <p:nvPr/>
        </p:nvSpPr>
        <p:spPr>
          <a:xfrm>
            <a:off x="3355848" y="3986784"/>
            <a:ext cx="2432304" cy="530352"/>
          </a:xfrm>
          <a:prstGeom prst="rect">
            <a:avLst/>
          </a:prstGeom>
          <a:noFill/>
          <a:ln/>
        </p:spPr>
        <p:txBody>
          <a:bodyPr wrap="square" lIns="0" tIns="0" rIns="0" bIns="0" rtlCol="0" anchor="t"/>
          <a:lstStyle/>
          <a:p>
            <a:pPr algn="l" indent="0" marL="0">
              <a:buNone/>
            </a:pPr>
            <a:r>
              <a:rPr lang="en-US" sz="850" dirty="0">
                <a:solidFill>
                  <a:srgbClr val="006D77"/>
                </a:solidFill>
                <a:latin typeface="Calibri" pitchFamily="34" charset="0"/>
                <a:ea typeface="Calibri" pitchFamily="34" charset="-122"/>
                <a:cs typeface="Calibri" pitchFamily="34" charset="-120"/>
              </a:rPr>
              <a:t>temporal knowledge graph over episodes; hybrid semantic, keyword and graph search; facts valid from a date.</a:t>
            </a:r>
            <a:endParaRPr lang="en-US" sz="850" dirty="0"/>
          </a:p>
        </p:txBody>
      </p:sp>
      <p:sp>
        <p:nvSpPr>
          <p:cNvPr id="38" name="Shape 36"/>
          <p:cNvSpPr/>
          <p:nvPr/>
        </p:nvSpPr>
        <p:spPr>
          <a:xfrm>
            <a:off x="6035040" y="3767328"/>
            <a:ext cx="2651760" cy="786384"/>
          </a:xfrm>
          <a:prstGeom prst="rect">
            <a:avLst/>
          </a:prstGeom>
          <a:solidFill>
            <a:srgbClr val="EDF6F9"/>
          </a:solidFill>
          <a:ln w="9525">
            <a:solidFill>
              <a:srgbClr val="83C5BE"/>
            </a:solidFill>
            <a:prstDash val="solid"/>
          </a:ln>
        </p:spPr>
      </p:sp>
      <p:sp>
        <p:nvSpPr>
          <p:cNvPr id="39" name="Text 37"/>
          <p:cNvSpPr/>
          <p:nvPr/>
        </p:nvSpPr>
        <p:spPr>
          <a:xfrm>
            <a:off x="6144768" y="3785616"/>
            <a:ext cx="2432304" cy="201168"/>
          </a:xfrm>
          <a:prstGeom prst="rect">
            <a:avLst/>
          </a:prstGeom>
          <a:noFill/>
          <a:ln/>
        </p:spPr>
        <p:txBody>
          <a:bodyPr wrap="square" lIns="0" tIns="0" rIns="0" bIns="0" rtlCol="0" anchor="ctr"/>
          <a:lstStyle/>
          <a:p>
            <a:pPr algn="l" indent="0" marL="0">
              <a:buNone/>
            </a:pPr>
            <a:r>
              <a:rPr lang="en-US" sz="1100" b="1" dirty="0">
                <a:solidFill>
                  <a:srgbClr val="006D77"/>
                </a:solidFill>
                <a:latin typeface="Georgia" pitchFamily="34" charset="0"/>
                <a:ea typeface="Georgia" pitchFamily="34" charset="-122"/>
                <a:cs typeface="Georgia" pitchFamily="34" charset="-120"/>
              </a:rPr>
              <a:t>supermemory</a:t>
            </a:r>
            <a:endParaRPr lang="en-US" sz="1100" dirty="0"/>
          </a:p>
        </p:txBody>
      </p:sp>
      <p:sp>
        <p:nvSpPr>
          <p:cNvPr id="40" name="Text 38"/>
          <p:cNvSpPr/>
          <p:nvPr/>
        </p:nvSpPr>
        <p:spPr>
          <a:xfrm>
            <a:off x="6144768" y="3986784"/>
            <a:ext cx="2432304" cy="530352"/>
          </a:xfrm>
          <a:prstGeom prst="rect">
            <a:avLst/>
          </a:prstGeom>
          <a:noFill/>
          <a:ln/>
        </p:spPr>
        <p:txBody>
          <a:bodyPr wrap="square" lIns="0" tIns="0" rIns="0" bIns="0" rtlCol="0" anchor="t"/>
          <a:lstStyle/>
          <a:p>
            <a:pPr algn="l" indent="0" marL="0">
              <a:buNone/>
            </a:pPr>
            <a:r>
              <a:rPr lang="en-US" sz="850" dirty="0">
                <a:solidFill>
                  <a:srgbClr val="006D77"/>
                </a:solidFill>
                <a:latin typeface="Calibri" pitchFamily="34" charset="0"/>
                <a:ea typeface="Calibri" pitchFamily="34" charset="-122"/>
                <a:cs typeface="Calibri" pitchFamily="34" charset="-120"/>
              </a:rPr>
              <a:t>maintains a user profile alongside memory and document; conversations linked to source and time.</a:t>
            </a:r>
            <a:endParaRPr lang="en-US" sz="850" dirty="0"/>
          </a:p>
        </p:txBody>
      </p:sp>
      <p:sp>
        <p:nvSpPr>
          <p:cNvPr id="41" name="Shape 39"/>
          <p:cNvSpPr/>
          <p:nvPr/>
        </p:nvSpPr>
        <p:spPr>
          <a:xfrm>
            <a:off x="8485632" y="4645152"/>
            <a:ext cx="420624" cy="274320"/>
          </a:xfrm>
          <a:prstGeom prst="roundRect">
            <a:avLst>
              <a:gd name="adj" fmla="val 26667"/>
            </a:avLst>
          </a:prstGeom>
          <a:solidFill>
            <a:srgbClr val="006D77"/>
          </a:solidFill>
          <a:ln w="12700">
            <a:solidFill>
              <a:srgbClr val="006D77"/>
            </a:solidFill>
            <a:prstDash val="solid"/>
          </a:ln>
        </p:spPr>
      </p:sp>
      <p:sp>
        <p:nvSpPr>
          <p:cNvPr id="42" name="Text 40"/>
          <p:cNvSpPr/>
          <p:nvPr/>
        </p:nvSpPr>
        <p:spPr>
          <a:xfrm>
            <a:off x="8485632" y="4645152"/>
            <a:ext cx="420624" cy="274320"/>
          </a:xfrm>
          <a:prstGeom prst="rect">
            <a:avLst/>
          </a:prstGeom>
          <a:noFill/>
          <a:ln/>
        </p:spPr>
        <p:txBody>
          <a:bodyPr wrap="square" lIns="0" tIns="0" rIns="0" bIns="0" rtlCol="0" anchor="ctr"/>
          <a:lstStyle/>
          <a:p>
            <a:pPr algn="ctr" indent="0" marL="0">
              <a:buNone/>
            </a:pPr>
            <a:r>
              <a:rPr lang="en-US" sz="1100" dirty="0">
                <a:solidFill>
                  <a:srgbClr val="EDF6F9"/>
                </a:solidFill>
                <a:latin typeface="Calibri" pitchFamily="34" charset="0"/>
                <a:ea typeface="Calibri" pitchFamily="34" charset="-122"/>
                <a:cs typeface="Calibri" pitchFamily="34" charset="-120"/>
              </a:rPr>
              <a:t>8</a:t>
            </a:r>
            <a:endParaRPr lang="en-US" sz="1100" dirty="0"/>
          </a:p>
        </p:txBody>
      </p:sp>
      <p:sp>
        <p:nvSpPr>
          <p:cNvPr id="43" name="Shape 41"/>
          <p:cNvSpPr/>
          <p:nvPr/>
        </p:nvSpPr>
        <p:spPr>
          <a:xfrm>
            <a:off x="457200" y="4754880"/>
            <a:ext cx="7772400" cy="10973"/>
          </a:xfrm>
          <a:prstGeom prst="rect">
            <a:avLst/>
          </a:prstGeom>
          <a:solidFill>
            <a:srgbClr val="83C5BE"/>
          </a:solidFill>
          <a:ln w="12700">
            <a:solidFill>
              <a:srgbClr val="83C5BE"/>
            </a:solidFill>
            <a:prstDash val="solid"/>
          </a:ln>
        </p:spPr>
      </p:sp>
      <p:sp>
        <p:nvSpPr>
          <p:cNvPr id="44" name="Text 42"/>
          <p:cNvSpPr/>
          <p:nvPr/>
        </p:nvSpPr>
        <p:spPr>
          <a:xfrm>
            <a:off x="457200" y="4773168"/>
            <a:ext cx="7772400" cy="219456"/>
          </a:xfrm>
          <a:prstGeom prst="rect">
            <a:avLst/>
          </a:prstGeom>
          <a:noFill/>
          <a:ln/>
        </p:spPr>
        <p:txBody>
          <a:bodyPr wrap="square" lIns="0" tIns="0" rIns="0" bIns="0" rtlCol="0" anchor="ctr"/>
          <a:lstStyle/>
          <a:p>
            <a:pPr algn="l" indent="0" marL="0">
              <a:buNone/>
            </a:pPr>
            <a:r>
              <a:rPr lang="en-US" sz="900" dirty="0">
                <a:solidFill>
                  <a:srgbClr val="006D77">
                    <a:alpha val="55000"/>
                  </a:srgbClr>
                </a:solidFill>
                <a:latin typeface="Calibri" pitchFamily="34" charset="0"/>
                <a:ea typeface="Calibri" pitchFamily="34" charset="-122"/>
                <a:cs typeface="Calibri" pitchFamily="34" charset="-120"/>
              </a:rPr>
              <a:t>Source: https://cs2680.seas.harvard.edu/slides/6_agent_design_3.pdf</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F6F9"/>
        </a:solidFill>
      </p:bgPr>
    </p:bg>
    <p:spTree>
      <p:nvGrpSpPr>
        <p:cNvPr id="1" name=""/>
        <p:cNvGrpSpPr/>
        <p:nvPr/>
      </p:nvGrpSpPr>
      <p:grpSpPr>
        <a:xfrm>
          <a:off x="0" y="0"/>
          <a:ext cx="0" cy="0"/>
          <a:chOff x="0" y="0"/>
          <a:chExt cx="0" cy="0"/>
        </a:xfrm>
      </p:grpSpPr>
      <p:sp>
        <p:nvSpPr>
          <p:cNvPr id="2" name="Text 0"/>
          <p:cNvSpPr/>
          <p:nvPr/>
        </p:nvSpPr>
        <p:spPr>
          <a:xfrm>
            <a:off x="457200" y="310896"/>
            <a:ext cx="8229600" cy="219456"/>
          </a:xfrm>
          <a:prstGeom prst="rect">
            <a:avLst/>
          </a:prstGeom>
          <a:noFill/>
          <a:ln/>
        </p:spPr>
        <p:txBody>
          <a:bodyPr wrap="square" lIns="0" tIns="0" rIns="0" bIns="0" rtlCol="0" anchor="ctr"/>
          <a:lstStyle/>
          <a:p>
            <a:pPr algn="l" indent="0" marL="0">
              <a:buNone/>
            </a:pPr>
            <a:r>
              <a:rPr lang="en-US" sz="1100" spc="140" kern="0" dirty="0">
                <a:solidFill>
                  <a:srgbClr val="E29578"/>
                </a:solidFill>
                <a:latin typeface="Calibri" pitchFamily="34" charset="0"/>
                <a:ea typeface="Calibri" pitchFamily="34" charset="-122"/>
                <a:cs typeface="Calibri" pitchFamily="34" charset="-120"/>
              </a:rPr>
              <a:t>AND THE BENCHMARKS THAT MEASURE THEM</a:t>
            </a:r>
            <a:endParaRPr lang="en-US" sz="1100" dirty="0"/>
          </a:p>
        </p:txBody>
      </p:sp>
      <p:sp>
        <p:nvSpPr>
          <p:cNvPr id="3" name="Text 1"/>
          <p:cNvSpPr/>
          <p:nvPr/>
        </p:nvSpPr>
        <p:spPr>
          <a:xfrm>
            <a:off x="457200" y="548640"/>
            <a:ext cx="8229600" cy="566928"/>
          </a:xfrm>
          <a:prstGeom prst="rect">
            <a:avLst/>
          </a:prstGeom>
          <a:noFill/>
          <a:ln/>
        </p:spPr>
        <p:txBody>
          <a:bodyPr wrap="square" lIns="0" tIns="0" rIns="0" bIns="0" rtlCol="0" anchor="ctr">
            <a:normAutofit/>
          </a:bodyPr>
          <a:lstStyle/>
          <a:p>
            <a:pPr algn="l" indent="0" marL="0">
              <a:buNone/>
            </a:pPr>
            <a:r>
              <a:rPr lang="en-US" sz="2700" b="1" dirty="0">
                <a:solidFill>
                  <a:srgbClr val="006D77"/>
                </a:solidFill>
                <a:latin typeface="Georgia" pitchFamily="34" charset="0"/>
                <a:ea typeface="Georgia" pitchFamily="34" charset="-122"/>
                <a:cs typeface="Georgia" pitchFamily="34" charset="-120"/>
              </a:rPr>
              <a:t>Memory evaluation: four axes</a:t>
            </a:r>
            <a:endParaRPr lang="en-US" sz="2700" dirty="0"/>
          </a:p>
        </p:txBody>
      </p:sp>
      <p:sp>
        <p:nvSpPr>
          <p:cNvPr id="4" name="Shape 2"/>
          <p:cNvSpPr/>
          <p:nvPr/>
        </p:nvSpPr>
        <p:spPr>
          <a:xfrm>
            <a:off x="457200" y="1207008"/>
            <a:ext cx="3977640" cy="301752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5" name="Shape 3"/>
          <p:cNvSpPr/>
          <p:nvPr/>
        </p:nvSpPr>
        <p:spPr>
          <a:xfrm>
            <a:off x="457200" y="1207008"/>
            <a:ext cx="50292" cy="3017520"/>
          </a:xfrm>
          <a:prstGeom prst="rect">
            <a:avLst/>
          </a:prstGeom>
          <a:solidFill>
            <a:srgbClr val="E29578"/>
          </a:solidFill>
          <a:ln w="12700">
            <a:solidFill>
              <a:srgbClr val="E29578"/>
            </a:solidFill>
            <a:prstDash val="solid"/>
          </a:ln>
        </p:spPr>
      </p:sp>
      <p:sp>
        <p:nvSpPr>
          <p:cNvPr id="6" name="Text 4"/>
          <p:cNvSpPr/>
          <p:nvPr/>
        </p:nvSpPr>
        <p:spPr>
          <a:xfrm>
            <a:off x="640080" y="1353312"/>
            <a:ext cx="3648456" cy="274320"/>
          </a:xfrm>
          <a:prstGeom prst="rect">
            <a:avLst/>
          </a:prstGeom>
          <a:noFill/>
          <a:ln/>
        </p:spPr>
        <p:txBody>
          <a:bodyPr wrap="square" lIns="0" tIns="0" rIns="0" bIns="0" rtlCol="0" anchor="ctr"/>
          <a:lstStyle/>
          <a:p>
            <a:pPr algn="l" indent="0" marL="0">
              <a:buNone/>
            </a:pPr>
            <a:r>
              <a:rPr lang="en-US" sz="1500" b="1" dirty="0">
                <a:solidFill>
                  <a:srgbClr val="006D77"/>
                </a:solidFill>
                <a:latin typeface="Georgia" pitchFamily="34" charset="0"/>
                <a:ea typeface="Georgia" pitchFamily="34" charset="-122"/>
                <a:cs typeface="Georgia" pitchFamily="34" charset="-120"/>
              </a:rPr>
              <a:t>Four axes</a:t>
            </a:r>
            <a:endParaRPr lang="en-US" sz="1500" dirty="0"/>
          </a:p>
        </p:txBody>
      </p:sp>
      <p:sp>
        <p:nvSpPr>
          <p:cNvPr id="7" name="Shape 5"/>
          <p:cNvSpPr/>
          <p:nvPr/>
        </p:nvSpPr>
        <p:spPr>
          <a:xfrm>
            <a:off x="640080" y="1773936"/>
            <a:ext cx="182880" cy="457200"/>
          </a:xfrm>
          <a:prstGeom prst="rect">
            <a:avLst/>
          </a:prstGeom>
          <a:solidFill>
            <a:srgbClr val="E29578"/>
          </a:solidFill>
          <a:ln w="12700">
            <a:solidFill>
              <a:srgbClr val="E29578"/>
            </a:solidFill>
            <a:prstDash val="solid"/>
          </a:ln>
        </p:spPr>
      </p:sp>
      <p:sp>
        <p:nvSpPr>
          <p:cNvPr id="8" name="Text 6"/>
          <p:cNvSpPr/>
          <p:nvPr/>
        </p:nvSpPr>
        <p:spPr>
          <a:xfrm>
            <a:off x="950976" y="1773936"/>
            <a:ext cx="3337560" cy="219456"/>
          </a:xfrm>
          <a:prstGeom prst="rect">
            <a:avLst/>
          </a:prstGeom>
          <a:noFill/>
          <a:ln/>
        </p:spPr>
        <p:txBody>
          <a:bodyPr wrap="square" lIns="0" tIns="0" rIns="0" bIns="0" rtlCol="0" anchor="ctr"/>
          <a:lstStyle/>
          <a:p>
            <a:pPr algn="l" indent="0" marL="0">
              <a:buNone/>
            </a:pPr>
            <a:r>
              <a:rPr lang="en-US" sz="1200" b="1" dirty="0">
                <a:solidFill>
                  <a:srgbClr val="006D77"/>
                </a:solidFill>
                <a:latin typeface="Georgia" pitchFamily="34" charset="0"/>
                <a:ea typeface="Georgia" pitchFamily="34" charset="-122"/>
                <a:cs typeface="Georgia" pitchFamily="34" charset="-120"/>
              </a:rPr>
              <a:t>Writes and update</a:t>
            </a:r>
            <a:endParaRPr lang="en-US" sz="1200" dirty="0"/>
          </a:p>
        </p:txBody>
      </p:sp>
      <p:sp>
        <p:nvSpPr>
          <p:cNvPr id="9" name="Text 7"/>
          <p:cNvSpPr/>
          <p:nvPr/>
        </p:nvSpPr>
        <p:spPr>
          <a:xfrm>
            <a:off x="950976" y="2002536"/>
            <a:ext cx="3337560" cy="219456"/>
          </a:xfrm>
          <a:prstGeom prst="rect">
            <a:avLst/>
          </a:prstGeom>
          <a:noFill/>
          <a:ln/>
        </p:spPr>
        <p:txBody>
          <a:bodyPr wrap="square" lIns="0" tIns="0" rIns="0" bIns="0" rtlCol="0" anchor="ctr"/>
          <a:lstStyle/>
          <a:p>
            <a:pPr algn="l" indent="0" marL="0">
              <a:buNone/>
            </a:pPr>
            <a:r>
              <a:rPr lang="en-US" sz="1050" dirty="0">
                <a:solidFill>
                  <a:srgbClr val="006D77"/>
                </a:solidFill>
                <a:latin typeface="Calibri" pitchFamily="34" charset="0"/>
                <a:ea typeface="Calibri" pitchFamily="34" charset="-122"/>
                <a:cs typeface="Calibri" pitchFamily="34" charset="-120"/>
              </a:rPr>
              <a:t>precision, recall, stale-memory rate</a:t>
            </a:r>
            <a:endParaRPr lang="en-US" sz="1050" dirty="0"/>
          </a:p>
        </p:txBody>
      </p:sp>
      <p:sp>
        <p:nvSpPr>
          <p:cNvPr id="10" name="Shape 8"/>
          <p:cNvSpPr/>
          <p:nvPr/>
        </p:nvSpPr>
        <p:spPr>
          <a:xfrm>
            <a:off x="640080" y="2395728"/>
            <a:ext cx="182880" cy="457200"/>
          </a:xfrm>
          <a:prstGeom prst="rect">
            <a:avLst/>
          </a:prstGeom>
          <a:solidFill>
            <a:srgbClr val="E29578"/>
          </a:solidFill>
          <a:ln w="12700">
            <a:solidFill>
              <a:srgbClr val="E29578"/>
            </a:solidFill>
            <a:prstDash val="solid"/>
          </a:ln>
        </p:spPr>
      </p:sp>
      <p:sp>
        <p:nvSpPr>
          <p:cNvPr id="11" name="Text 9"/>
          <p:cNvSpPr/>
          <p:nvPr/>
        </p:nvSpPr>
        <p:spPr>
          <a:xfrm>
            <a:off x="950976" y="2395728"/>
            <a:ext cx="3337560" cy="219456"/>
          </a:xfrm>
          <a:prstGeom prst="rect">
            <a:avLst/>
          </a:prstGeom>
          <a:noFill/>
          <a:ln/>
        </p:spPr>
        <p:txBody>
          <a:bodyPr wrap="square" lIns="0" tIns="0" rIns="0" bIns="0" rtlCol="0" anchor="ctr"/>
          <a:lstStyle/>
          <a:p>
            <a:pPr algn="l" indent="0" marL="0">
              <a:buNone/>
            </a:pPr>
            <a:r>
              <a:rPr lang="en-US" sz="1200" b="1" dirty="0">
                <a:solidFill>
                  <a:srgbClr val="006D77"/>
                </a:solidFill>
                <a:latin typeface="Georgia" pitchFamily="34" charset="0"/>
                <a:ea typeface="Georgia" pitchFamily="34" charset="-122"/>
                <a:cs typeface="Georgia" pitchFamily="34" charset="-120"/>
              </a:rPr>
              <a:t>Retrieval</a:t>
            </a:r>
            <a:endParaRPr lang="en-US" sz="1200" dirty="0"/>
          </a:p>
        </p:txBody>
      </p:sp>
      <p:sp>
        <p:nvSpPr>
          <p:cNvPr id="12" name="Text 10"/>
          <p:cNvSpPr/>
          <p:nvPr/>
        </p:nvSpPr>
        <p:spPr>
          <a:xfrm>
            <a:off x="950976" y="2624328"/>
            <a:ext cx="3337560" cy="219456"/>
          </a:xfrm>
          <a:prstGeom prst="rect">
            <a:avLst/>
          </a:prstGeom>
          <a:noFill/>
          <a:ln/>
        </p:spPr>
        <p:txBody>
          <a:bodyPr wrap="square" lIns="0" tIns="0" rIns="0" bIns="0" rtlCol="0" anchor="ctr"/>
          <a:lstStyle/>
          <a:p>
            <a:pPr algn="l" indent="0" marL="0">
              <a:buNone/>
            </a:pPr>
            <a:r>
              <a:rPr lang="en-US" sz="1050" dirty="0">
                <a:solidFill>
                  <a:srgbClr val="006D77"/>
                </a:solidFill>
                <a:latin typeface="Calibri" pitchFamily="34" charset="0"/>
                <a:ea typeface="Calibri" pitchFamily="34" charset="-122"/>
                <a:cs typeface="Calibri" pitchFamily="34" charset="-120"/>
              </a:rPr>
              <a:t>precision, recall</a:t>
            </a:r>
            <a:endParaRPr lang="en-US" sz="1050" dirty="0"/>
          </a:p>
        </p:txBody>
      </p:sp>
      <p:sp>
        <p:nvSpPr>
          <p:cNvPr id="13" name="Shape 11"/>
          <p:cNvSpPr/>
          <p:nvPr/>
        </p:nvSpPr>
        <p:spPr>
          <a:xfrm>
            <a:off x="640080" y="3017520"/>
            <a:ext cx="182880" cy="457200"/>
          </a:xfrm>
          <a:prstGeom prst="rect">
            <a:avLst/>
          </a:prstGeom>
          <a:solidFill>
            <a:srgbClr val="E29578"/>
          </a:solidFill>
          <a:ln w="12700">
            <a:solidFill>
              <a:srgbClr val="E29578"/>
            </a:solidFill>
            <a:prstDash val="solid"/>
          </a:ln>
        </p:spPr>
      </p:sp>
      <p:sp>
        <p:nvSpPr>
          <p:cNvPr id="14" name="Text 12"/>
          <p:cNvSpPr/>
          <p:nvPr/>
        </p:nvSpPr>
        <p:spPr>
          <a:xfrm>
            <a:off x="950976" y="3017520"/>
            <a:ext cx="3337560" cy="219456"/>
          </a:xfrm>
          <a:prstGeom prst="rect">
            <a:avLst/>
          </a:prstGeom>
          <a:noFill/>
          <a:ln/>
        </p:spPr>
        <p:txBody>
          <a:bodyPr wrap="square" lIns="0" tIns="0" rIns="0" bIns="0" rtlCol="0" anchor="ctr"/>
          <a:lstStyle/>
          <a:p>
            <a:pPr algn="l" indent="0" marL="0">
              <a:buNone/>
            </a:pPr>
            <a:r>
              <a:rPr lang="en-US" sz="1200" b="1" dirty="0">
                <a:solidFill>
                  <a:srgbClr val="006D77"/>
                </a:solidFill>
                <a:latin typeface="Georgia" pitchFamily="34" charset="0"/>
                <a:ea typeface="Georgia" pitchFamily="34" charset="-122"/>
                <a:cs typeface="Georgia" pitchFamily="34" charset="-120"/>
              </a:rPr>
              <a:t>System</a:t>
            </a:r>
            <a:endParaRPr lang="en-US" sz="1200" dirty="0"/>
          </a:p>
        </p:txBody>
      </p:sp>
      <p:sp>
        <p:nvSpPr>
          <p:cNvPr id="15" name="Text 13"/>
          <p:cNvSpPr/>
          <p:nvPr/>
        </p:nvSpPr>
        <p:spPr>
          <a:xfrm>
            <a:off x="950976" y="3246120"/>
            <a:ext cx="3337560" cy="219456"/>
          </a:xfrm>
          <a:prstGeom prst="rect">
            <a:avLst/>
          </a:prstGeom>
          <a:noFill/>
          <a:ln/>
        </p:spPr>
        <p:txBody>
          <a:bodyPr wrap="square" lIns="0" tIns="0" rIns="0" bIns="0" rtlCol="0" anchor="ctr"/>
          <a:lstStyle/>
          <a:p>
            <a:pPr algn="l" indent="0" marL="0">
              <a:buNone/>
            </a:pPr>
            <a:r>
              <a:rPr lang="en-US" sz="1050" dirty="0">
                <a:solidFill>
                  <a:srgbClr val="006D77"/>
                </a:solidFill>
                <a:latin typeface="Calibri" pitchFamily="34" charset="0"/>
                <a:ea typeface="Calibri" pitchFamily="34" charset="-122"/>
                <a:cs typeface="Calibri" pitchFamily="34" charset="-120"/>
              </a:rPr>
              <a:t>latency, token overhead, store growth</a:t>
            </a:r>
            <a:endParaRPr lang="en-US" sz="1050" dirty="0"/>
          </a:p>
        </p:txBody>
      </p:sp>
      <p:sp>
        <p:nvSpPr>
          <p:cNvPr id="16" name="Shape 14"/>
          <p:cNvSpPr/>
          <p:nvPr/>
        </p:nvSpPr>
        <p:spPr>
          <a:xfrm>
            <a:off x="640080" y="3639312"/>
            <a:ext cx="182880" cy="457200"/>
          </a:xfrm>
          <a:prstGeom prst="rect">
            <a:avLst/>
          </a:prstGeom>
          <a:solidFill>
            <a:srgbClr val="E29578"/>
          </a:solidFill>
          <a:ln w="12700">
            <a:solidFill>
              <a:srgbClr val="E29578"/>
            </a:solidFill>
            <a:prstDash val="solid"/>
          </a:ln>
        </p:spPr>
      </p:sp>
      <p:sp>
        <p:nvSpPr>
          <p:cNvPr id="17" name="Text 15"/>
          <p:cNvSpPr/>
          <p:nvPr/>
        </p:nvSpPr>
        <p:spPr>
          <a:xfrm>
            <a:off x="950976" y="3639312"/>
            <a:ext cx="3337560" cy="219456"/>
          </a:xfrm>
          <a:prstGeom prst="rect">
            <a:avLst/>
          </a:prstGeom>
          <a:noFill/>
          <a:ln/>
        </p:spPr>
        <p:txBody>
          <a:bodyPr wrap="square" lIns="0" tIns="0" rIns="0" bIns="0" rtlCol="0" anchor="ctr"/>
          <a:lstStyle/>
          <a:p>
            <a:pPr algn="l" indent="0" marL="0">
              <a:buNone/>
            </a:pPr>
            <a:r>
              <a:rPr lang="en-US" sz="1200" b="1" dirty="0">
                <a:solidFill>
                  <a:srgbClr val="006D77"/>
                </a:solidFill>
                <a:latin typeface="Georgia" pitchFamily="34" charset="0"/>
                <a:ea typeface="Georgia" pitchFamily="34" charset="-122"/>
                <a:cs typeface="Georgia" pitchFamily="34" charset="-120"/>
              </a:rPr>
              <a:t>Governance</a:t>
            </a:r>
            <a:endParaRPr lang="en-US" sz="1200" dirty="0"/>
          </a:p>
        </p:txBody>
      </p:sp>
      <p:sp>
        <p:nvSpPr>
          <p:cNvPr id="18" name="Text 16"/>
          <p:cNvSpPr/>
          <p:nvPr/>
        </p:nvSpPr>
        <p:spPr>
          <a:xfrm>
            <a:off x="950976" y="3867912"/>
            <a:ext cx="3337560" cy="219456"/>
          </a:xfrm>
          <a:prstGeom prst="rect">
            <a:avLst/>
          </a:prstGeom>
          <a:noFill/>
          <a:ln/>
        </p:spPr>
        <p:txBody>
          <a:bodyPr wrap="square" lIns="0" tIns="0" rIns="0" bIns="0" rtlCol="0" anchor="ctr"/>
          <a:lstStyle/>
          <a:p>
            <a:pPr algn="l" indent="0" marL="0">
              <a:buNone/>
            </a:pPr>
            <a:r>
              <a:rPr lang="en-US" sz="1050" dirty="0">
                <a:solidFill>
                  <a:srgbClr val="006D77"/>
                </a:solidFill>
                <a:latin typeface="Calibri" pitchFamily="34" charset="0"/>
                <a:ea typeface="Calibri" pitchFamily="34" charset="-122"/>
                <a:cs typeface="Calibri" pitchFamily="34" charset="-120"/>
              </a:rPr>
              <a:t>deletion compliance and scope isolation</a:t>
            </a:r>
            <a:endParaRPr lang="en-US" sz="1050" dirty="0"/>
          </a:p>
        </p:txBody>
      </p:sp>
      <p:sp>
        <p:nvSpPr>
          <p:cNvPr id="19" name="Shape 17"/>
          <p:cNvSpPr/>
          <p:nvPr/>
        </p:nvSpPr>
        <p:spPr>
          <a:xfrm>
            <a:off x="4709160" y="1207008"/>
            <a:ext cx="1920240" cy="1463040"/>
          </a:xfrm>
          <a:prstGeom prst="rect">
            <a:avLst/>
          </a:prstGeom>
          <a:solidFill>
            <a:srgbClr val="EDF6F9"/>
          </a:solidFill>
          <a:ln w="9525">
            <a:solidFill>
              <a:srgbClr val="83C5BE"/>
            </a:solidFill>
            <a:prstDash val="solid"/>
          </a:ln>
        </p:spPr>
      </p:sp>
      <p:sp>
        <p:nvSpPr>
          <p:cNvPr id="20" name="Text 18"/>
          <p:cNvSpPr/>
          <p:nvPr/>
        </p:nvSpPr>
        <p:spPr>
          <a:xfrm>
            <a:off x="4818888" y="1298448"/>
            <a:ext cx="1700784" cy="658368"/>
          </a:xfrm>
          <a:prstGeom prst="rect">
            <a:avLst/>
          </a:prstGeom>
          <a:noFill/>
          <a:ln/>
        </p:spPr>
        <p:txBody>
          <a:bodyPr wrap="square" lIns="0" tIns="0" rIns="0" bIns="0" rtlCol="0" anchor="ctr">
            <a:normAutofit/>
          </a:bodyPr>
          <a:lstStyle/>
          <a:p>
            <a:pPr algn="l" indent="0" marL="0">
              <a:buNone/>
            </a:pPr>
            <a:r>
              <a:rPr lang="en-US" sz="4000" b="1" dirty="0">
                <a:solidFill>
                  <a:srgbClr val="006D77"/>
                </a:solidFill>
                <a:latin typeface="Georgia" pitchFamily="34" charset="0"/>
                <a:ea typeface="Georgia" pitchFamily="34" charset="-122"/>
                <a:cs typeface="Georgia" pitchFamily="34" charset="-120"/>
              </a:rPr>
              <a:t>1,540</a:t>
            </a:r>
            <a:endParaRPr lang="en-US" sz="4000" dirty="0"/>
          </a:p>
        </p:txBody>
      </p:sp>
      <p:sp>
        <p:nvSpPr>
          <p:cNvPr id="21" name="Text 19"/>
          <p:cNvSpPr/>
          <p:nvPr/>
        </p:nvSpPr>
        <p:spPr>
          <a:xfrm>
            <a:off x="4818888" y="1956816"/>
            <a:ext cx="1700784" cy="420624"/>
          </a:xfrm>
          <a:prstGeom prst="rect">
            <a:avLst/>
          </a:prstGeom>
          <a:noFill/>
          <a:ln/>
        </p:spPr>
        <p:txBody>
          <a:bodyPr wrap="square" lIns="0" tIns="0" rIns="0" bIns="0" rtlCol="0" anchor="t"/>
          <a:lstStyle/>
          <a:p>
            <a:pPr algn="l" indent="0" marL="0">
              <a:buNone/>
            </a:pPr>
            <a:r>
              <a:rPr lang="en-US" sz="1100" dirty="0">
                <a:solidFill>
                  <a:srgbClr val="006D77">
                    <a:alpha val="65000"/>
                  </a:srgbClr>
                </a:solidFill>
                <a:latin typeface="Calibri" pitchFamily="34" charset="0"/>
                <a:ea typeface="Calibri" pitchFamily="34" charset="-122"/>
                <a:cs typeface="Calibri" pitchFamily="34" charset="-120"/>
              </a:rPr>
              <a:t>questions in LoCoMo (ACL 2024)</a:t>
            </a:r>
            <a:endParaRPr lang="en-US" sz="1100" dirty="0"/>
          </a:p>
        </p:txBody>
      </p:sp>
      <p:sp>
        <p:nvSpPr>
          <p:cNvPr id="22" name="Text 20"/>
          <p:cNvSpPr/>
          <p:nvPr/>
        </p:nvSpPr>
        <p:spPr>
          <a:xfrm>
            <a:off x="4818888" y="2359152"/>
            <a:ext cx="1700784" cy="237744"/>
          </a:xfrm>
          <a:prstGeom prst="rect">
            <a:avLst/>
          </a:prstGeom>
          <a:noFill/>
          <a:ln/>
        </p:spPr>
        <p:txBody>
          <a:bodyPr wrap="square" lIns="0" tIns="0" rIns="0" bIns="0" rtlCol="0" anchor="ctr"/>
          <a:lstStyle/>
          <a:p>
            <a:pPr algn="l" indent="0" marL="0">
              <a:buNone/>
            </a:pPr>
            <a:r>
              <a:rPr lang="en-US" sz="950" dirty="0">
                <a:solidFill>
                  <a:srgbClr val="E29578"/>
                </a:solidFill>
                <a:latin typeface="Calibri" pitchFamily="34" charset="0"/>
                <a:ea typeface="Calibri" pitchFamily="34" charset="-122"/>
                <a:cs typeface="Calibri" pitchFamily="34" charset="-120"/>
              </a:rPr>
              <a:t>10 long dialogues</a:t>
            </a:r>
            <a:endParaRPr lang="en-US" sz="950" dirty="0"/>
          </a:p>
        </p:txBody>
      </p:sp>
      <p:sp>
        <p:nvSpPr>
          <p:cNvPr id="23" name="Shape 21"/>
          <p:cNvSpPr/>
          <p:nvPr/>
        </p:nvSpPr>
        <p:spPr>
          <a:xfrm>
            <a:off x="6766560" y="1207008"/>
            <a:ext cx="1920240" cy="1463040"/>
          </a:xfrm>
          <a:prstGeom prst="rect">
            <a:avLst/>
          </a:prstGeom>
          <a:solidFill>
            <a:srgbClr val="EDF6F9"/>
          </a:solidFill>
          <a:ln w="9525">
            <a:solidFill>
              <a:srgbClr val="83C5BE"/>
            </a:solidFill>
            <a:prstDash val="solid"/>
          </a:ln>
        </p:spPr>
      </p:sp>
      <p:sp>
        <p:nvSpPr>
          <p:cNvPr id="24" name="Text 22"/>
          <p:cNvSpPr/>
          <p:nvPr/>
        </p:nvSpPr>
        <p:spPr>
          <a:xfrm>
            <a:off x="6876288" y="1298448"/>
            <a:ext cx="1700784" cy="658368"/>
          </a:xfrm>
          <a:prstGeom prst="rect">
            <a:avLst/>
          </a:prstGeom>
          <a:noFill/>
          <a:ln/>
        </p:spPr>
        <p:txBody>
          <a:bodyPr wrap="square" lIns="0" tIns="0" rIns="0" bIns="0" rtlCol="0" anchor="ctr">
            <a:normAutofit/>
          </a:bodyPr>
          <a:lstStyle/>
          <a:p>
            <a:pPr algn="l" indent="0" marL="0">
              <a:buNone/>
            </a:pPr>
            <a:r>
              <a:rPr lang="en-US" sz="4000" b="1" dirty="0">
                <a:solidFill>
                  <a:srgbClr val="006D77"/>
                </a:solidFill>
                <a:latin typeface="Georgia" pitchFamily="34" charset="0"/>
                <a:ea typeface="Georgia" pitchFamily="34" charset="-122"/>
                <a:cs typeface="Georgia" pitchFamily="34" charset="-120"/>
              </a:rPr>
              <a:t>500</a:t>
            </a:r>
            <a:endParaRPr lang="en-US" sz="4000" dirty="0"/>
          </a:p>
        </p:txBody>
      </p:sp>
      <p:sp>
        <p:nvSpPr>
          <p:cNvPr id="25" name="Text 23"/>
          <p:cNvSpPr/>
          <p:nvPr/>
        </p:nvSpPr>
        <p:spPr>
          <a:xfrm>
            <a:off x="6876288" y="1956816"/>
            <a:ext cx="1700784" cy="420624"/>
          </a:xfrm>
          <a:prstGeom prst="rect">
            <a:avLst/>
          </a:prstGeom>
          <a:noFill/>
          <a:ln/>
        </p:spPr>
        <p:txBody>
          <a:bodyPr wrap="square" lIns="0" tIns="0" rIns="0" bIns="0" rtlCol="0" anchor="t"/>
          <a:lstStyle/>
          <a:p>
            <a:pPr algn="l" indent="0" marL="0">
              <a:buNone/>
            </a:pPr>
            <a:r>
              <a:rPr lang="en-US" sz="1100" dirty="0">
                <a:solidFill>
                  <a:srgbClr val="006D77">
                    <a:alpha val="65000"/>
                  </a:srgbClr>
                </a:solidFill>
                <a:latin typeface="Calibri" pitchFamily="34" charset="0"/>
                <a:ea typeface="Calibri" pitchFamily="34" charset="-122"/>
                <a:cs typeface="Calibri" pitchFamily="34" charset="-120"/>
              </a:rPr>
              <a:t>questions in LongMemEval (ICLR 2025)</a:t>
            </a:r>
            <a:endParaRPr lang="en-US" sz="1100" dirty="0"/>
          </a:p>
        </p:txBody>
      </p:sp>
      <p:sp>
        <p:nvSpPr>
          <p:cNvPr id="26" name="Text 24"/>
          <p:cNvSpPr/>
          <p:nvPr/>
        </p:nvSpPr>
        <p:spPr>
          <a:xfrm>
            <a:off x="6876288" y="2359152"/>
            <a:ext cx="1700784" cy="237744"/>
          </a:xfrm>
          <a:prstGeom prst="rect">
            <a:avLst/>
          </a:prstGeom>
          <a:noFill/>
          <a:ln/>
        </p:spPr>
        <p:txBody>
          <a:bodyPr wrap="square" lIns="0" tIns="0" rIns="0" bIns="0" rtlCol="0" anchor="ctr"/>
          <a:lstStyle/>
          <a:p>
            <a:pPr algn="l" indent="0" marL="0">
              <a:buNone/>
            </a:pPr>
            <a:r>
              <a:rPr lang="en-US" sz="950" dirty="0">
                <a:solidFill>
                  <a:srgbClr val="E29578"/>
                </a:solidFill>
                <a:latin typeface="Calibri" pitchFamily="34" charset="0"/>
                <a:ea typeface="Calibri" pitchFamily="34" charset="-122"/>
                <a:cs typeface="Calibri" pitchFamily="34" charset="-120"/>
              </a:rPr>
              <a:t>5 memory abilities</a:t>
            </a:r>
            <a:endParaRPr lang="en-US" sz="950" dirty="0"/>
          </a:p>
        </p:txBody>
      </p:sp>
      <p:sp>
        <p:nvSpPr>
          <p:cNvPr id="27" name="Shape 25"/>
          <p:cNvSpPr/>
          <p:nvPr/>
        </p:nvSpPr>
        <p:spPr>
          <a:xfrm>
            <a:off x="4709160" y="2761488"/>
            <a:ext cx="1920240" cy="1463040"/>
          </a:xfrm>
          <a:prstGeom prst="rect">
            <a:avLst/>
          </a:prstGeom>
          <a:solidFill>
            <a:srgbClr val="EDF6F9"/>
          </a:solidFill>
          <a:ln w="9525">
            <a:solidFill>
              <a:srgbClr val="83C5BE"/>
            </a:solidFill>
            <a:prstDash val="solid"/>
          </a:ln>
        </p:spPr>
      </p:sp>
      <p:sp>
        <p:nvSpPr>
          <p:cNvPr id="28" name="Text 26"/>
          <p:cNvSpPr/>
          <p:nvPr/>
        </p:nvSpPr>
        <p:spPr>
          <a:xfrm>
            <a:off x="4818888" y="2852928"/>
            <a:ext cx="1700784" cy="658368"/>
          </a:xfrm>
          <a:prstGeom prst="rect">
            <a:avLst/>
          </a:prstGeom>
          <a:noFill/>
          <a:ln/>
        </p:spPr>
        <p:txBody>
          <a:bodyPr wrap="square" lIns="0" tIns="0" rIns="0" bIns="0" rtlCol="0" anchor="ctr">
            <a:normAutofit/>
          </a:bodyPr>
          <a:lstStyle/>
          <a:p>
            <a:pPr algn="l" indent="0" marL="0">
              <a:buNone/>
            </a:pPr>
            <a:r>
              <a:rPr lang="en-US" sz="4000" b="1" dirty="0">
                <a:solidFill>
                  <a:srgbClr val="006D77"/>
                </a:solidFill>
                <a:latin typeface="Georgia" pitchFamily="34" charset="0"/>
                <a:ea typeface="Georgia" pitchFamily="34" charset="-122"/>
                <a:cs typeface="Georgia" pitchFamily="34" charset="-120"/>
              </a:rPr>
              <a:t>2,000</a:t>
            </a:r>
            <a:endParaRPr lang="en-US" sz="4000" dirty="0"/>
          </a:p>
        </p:txBody>
      </p:sp>
      <p:sp>
        <p:nvSpPr>
          <p:cNvPr id="29" name="Text 27"/>
          <p:cNvSpPr/>
          <p:nvPr/>
        </p:nvSpPr>
        <p:spPr>
          <a:xfrm>
            <a:off x="4818888" y="3511296"/>
            <a:ext cx="1700784" cy="420624"/>
          </a:xfrm>
          <a:prstGeom prst="rect">
            <a:avLst/>
          </a:prstGeom>
          <a:noFill/>
          <a:ln/>
        </p:spPr>
        <p:txBody>
          <a:bodyPr wrap="square" lIns="0" tIns="0" rIns="0" bIns="0" rtlCol="0" anchor="t"/>
          <a:lstStyle/>
          <a:p>
            <a:pPr algn="l" indent="0" marL="0">
              <a:buNone/>
            </a:pPr>
            <a:r>
              <a:rPr lang="en-US" sz="1100" dirty="0">
                <a:solidFill>
                  <a:srgbClr val="006D77">
                    <a:alpha val="65000"/>
                  </a:srgbClr>
                </a:solidFill>
                <a:latin typeface="Calibri" pitchFamily="34" charset="0"/>
                <a:ea typeface="Calibri" pitchFamily="34" charset="-122"/>
                <a:cs typeface="Calibri" pitchFamily="34" charset="-120"/>
              </a:rPr>
              <a:t>questions in BEAM (ICLR 2026)</a:t>
            </a:r>
            <a:endParaRPr lang="en-US" sz="1100" dirty="0"/>
          </a:p>
        </p:txBody>
      </p:sp>
      <p:sp>
        <p:nvSpPr>
          <p:cNvPr id="30" name="Text 28"/>
          <p:cNvSpPr/>
          <p:nvPr/>
        </p:nvSpPr>
        <p:spPr>
          <a:xfrm>
            <a:off x="4818888" y="3913632"/>
            <a:ext cx="1700784" cy="237744"/>
          </a:xfrm>
          <a:prstGeom prst="rect">
            <a:avLst/>
          </a:prstGeom>
          <a:noFill/>
          <a:ln/>
        </p:spPr>
        <p:txBody>
          <a:bodyPr wrap="square" lIns="0" tIns="0" rIns="0" bIns="0" rtlCol="0" anchor="ctr"/>
          <a:lstStyle/>
          <a:p>
            <a:pPr algn="l" indent="0" marL="0">
              <a:buNone/>
            </a:pPr>
            <a:r>
              <a:rPr lang="en-US" sz="950" dirty="0">
                <a:solidFill>
                  <a:srgbClr val="E29578"/>
                </a:solidFill>
                <a:latin typeface="Calibri" pitchFamily="34" charset="0"/>
                <a:ea typeface="Calibri" pitchFamily="34" charset="-122"/>
                <a:cs typeface="Calibri" pitchFamily="34" charset="-120"/>
              </a:rPr>
              <a:t>up to 10M tokens</a:t>
            </a:r>
            <a:endParaRPr lang="en-US" sz="950" dirty="0"/>
          </a:p>
        </p:txBody>
      </p:sp>
      <p:sp>
        <p:nvSpPr>
          <p:cNvPr id="31" name="Shape 29"/>
          <p:cNvSpPr/>
          <p:nvPr/>
        </p:nvSpPr>
        <p:spPr>
          <a:xfrm>
            <a:off x="6766560" y="2761488"/>
            <a:ext cx="1920240" cy="1463040"/>
          </a:xfrm>
          <a:prstGeom prst="rect">
            <a:avLst/>
          </a:prstGeom>
          <a:solidFill>
            <a:srgbClr val="FFDDD2"/>
          </a:solidFill>
          <a:ln w="9525">
            <a:solidFill>
              <a:srgbClr val="E29578"/>
            </a:solidFill>
            <a:prstDash val="solid"/>
          </a:ln>
        </p:spPr>
      </p:sp>
      <p:sp>
        <p:nvSpPr>
          <p:cNvPr id="32" name="Text 30"/>
          <p:cNvSpPr/>
          <p:nvPr/>
        </p:nvSpPr>
        <p:spPr>
          <a:xfrm>
            <a:off x="6876288" y="2980944"/>
            <a:ext cx="1700784" cy="512064"/>
          </a:xfrm>
          <a:prstGeom prst="rect">
            <a:avLst/>
          </a:prstGeom>
          <a:noFill/>
          <a:ln/>
        </p:spPr>
        <p:txBody>
          <a:bodyPr wrap="square" lIns="0" tIns="0" rIns="0" bIns="0" rtlCol="0" anchor="ctr"/>
          <a:lstStyle/>
          <a:p>
            <a:pPr algn="l" indent="0" marL="0">
              <a:buNone/>
            </a:pPr>
            <a:r>
              <a:rPr lang="en-US" sz="1500" b="1" dirty="0">
                <a:solidFill>
                  <a:srgbClr val="006D77"/>
                </a:solidFill>
                <a:latin typeface="Georgia" pitchFamily="34" charset="0"/>
                <a:ea typeface="Georgia" pitchFamily="34" charset="-122"/>
                <a:cs typeface="Georgia" pitchFamily="34" charset="-120"/>
              </a:rPr>
              <a:t>LoCoMo-Refined</a:t>
            </a:r>
            <a:endParaRPr lang="en-US" sz="1500" dirty="0"/>
          </a:p>
        </p:txBody>
      </p:sp>
      <p:sp>
        <p:nvSpPr>
          <p:cNvPr id="33" name="Text 31"/>
          <p:cNvSpPr/>
          <p:nvPr/>
        </p:nvSpPr>
        <p:spPr>
          <a:xfrm>
            <a:off x="6876288" y="3547872"/>
            <a:ext cx="1700784" cy="457200"/>
          </a:xfrm>
          <a:prstGeom prst="rect">
            <a:avLst/>
          </a:prstGeom>
          <a:noFill/>
          <a:ln/>
        </p:spPr>
        <p:txBody>
          <a:bodyPr wrap="square" lIns="0" tIns="0" rIns="0" bIns="0" rtlCol="0" anchor="t"/>
          <a:lstStyle/>
          <a:p>
            <a:pPr algn="l" indent="0" marL="0">
              <a:buNone/>
            </a:pPr>
            <a:r>
              <a:rPr lang="en-US" sz="1000" dirty="0">
                <a:solidFill>
                  <a:srgbClr val="006D77"/>
                </a:solidFill>
                <a:latin typeface="Calibri" pitchFamily="34" charset="0"/>
                <a:ea typeface="Calibri" pitchFamily="34" charset="-122"/>
                <a:cs typeface="Calibri" pitchFamily="34" charset="-120"/>
              </a:rPr>
              <a:t>The refined LoCoMo suite.</a:t>
            </a:r>
            <a:endParaRPr lang="en-US" sz="1000" dirty="0"/>
          </a:p>
        </p:txBody>
      </p:sp>
      <p:sp>
        <p:nvSpPr>
          <p:cNvPr id="34" name="Text 32"/>
          <p:cNvSpPr/>
          <p:nvPr/>
        </p:nvSpPr>
        <p:spPr>
          <a:xfrm>
            <a:off x="457200" y="4315968"/>
            <a:ext cx="8229600" cy="274320"/>
          </a:xfrm>
          <a:prstGeom prst="rect">
            <a:avLst/>
          </a:prstGeom>
          <a:noFill/>
          <a:ln/>
        </p:spPr>
        <p:txBody>
          <a:bodyPr wrap="square" lIns="0" tIns="0" rIns="0" bIns="0" rtlCol="0" anchor="ctr"/>
          <a:lstStyle/>
          <a:p>
            <a:pPr algn="l" indent="0" marL="0">
              <a:buNone/>
            </a:pPr>
            <a:r>
              <a:rPr lang="en-US" sz="1100" dirty="0">
                <a:solidFill>
                  <a:srgbClr val="006D77"/>
                </a:solidFill>
                <a:latin typeface="Calibri" pitchFamily="34" charset="0"/>
                <a:ea typeface="Calibri" pitchFamily="34" charset="-122"/>
                <a:cs typeface="Calibri" pitchFamily="34" charset="-120"/>
              </a:rPr>
              <a:t>Every axis names a metric, so a memory design can be measured rather than argued about.</a:t>
            </a:r>
            <a:endParaRPr lang="en-US" sz="1100" dirty="0"/>
          </a:p>
        </p:txBody>
      </p:sp>
      <p:sp>
        <p:nvSpPr>
          <p:cNvPr id="35" name="Shape 33"/>
          <p:cNvSpPr/>
          <p:nvPr/>
        </p:nvSpPr>
        <p:spPr>
          <a:xfrm>
            <a:off x="8485632" y="4645152"/>
            <a:ext cx="420624" cy="274320"/>
          </a:xfrm>
          <a:prstGeom prst="roundRect">
            <a:avLst>
              <a:gd name="adj" fmla="val 26667"/>
            </a:avLst>
          </a:prstGeom>
          <a:solidFill>
            <a:srgbClr val="006D77"/>
          </a:solidFill>
          <a:ln w="12700">
            <a:solidFill>
              <a:srgbClr val="006D77"/>
            </a:solidFill>
            <a:prstDash val="solid"/>
          </a:ln>
        </p:spPr>
      </p:sp>
      <p:sp>
        <p:nvSpPr>
          <p:cNvPr id="36" name="Text 34"/>
          <p:cNvSpPr/>
          <p:nvPr/>
        </p:nvSpPr>
        <p:spPr>
          <a:xfrm>
            <a:off x="8485632" y="4645152"/>
            <a:ext cx="420624" cy="274320"/>
          </a:xfrm>
          <a:prstGeom prst="rect">
            <a:avLst/>
          </a:prstGeom>
          <a:noFill/>
          <a:ln/>
        </p:spPr>
        <p:txBody>
          <a:bodyPr wrap="square" lIns="0" tIns="0" rIns="0" bIns="0" rtlCol="0" anchor="ctr"/>
          <a:lstStyle/>
          <a:p>
            <a:pPr algn="ctr" indent="0" marL="0">
              <a:buNone/>
            </a:pPr>
            <a:r>
              <a:rPr lang="en-US" sz="1100" dirty="0">
                <a:solidFill>
                  <a:srgbClr val="EDF6F9"/>
                </a:solidFill>
                <a:latin typeface="Calibri" pitchFamily="34" charset="0"/>
                <a:ea typeface="Calibri" pitchFamily="34" charset="-122"/>
                <a:cs typeface="Calibri" pitchFamily="34" charset="-120"/>
              </a:rPr>
              <a:t>9</a:t>
            </a:r>
            <a:endParaRPr lang="en-US" sz="1100" dirty="0"/>
          </a:p>
        </p:txBody>
      </p:sp>
      <p:sp>
        <p:nvSpPr>
          <p:cNvPr id="37" name="Shape 35"/>
          <p:cNvSpPr/>
          <p:nvPr/>
        </p:nvSpPr>
        <p:spPr>
          <a:xfrm>
            <a:off x="457200" y="4754880"/>
            <a:ext cx="7772400" cy="10973"/>
          </a:xfrm>
          <a:prstGeom prst="rect">
            <a:avLst/>
          </a:prstGeom>
          <a:solidFill>
            <a:srgbClr val="83C5BE"/>
          </a:solidFill>
          <a:ln w="12700">
            <a:solidFill>
              <a:srgbClr val="83C5BE"/>
            </a:solidFill>
            <a:prstDash val="solid"/>
          </a:ln>
        </p:spPr>
      </p:sp>
      <p:sp>
        <p:nvSpPr>
          <p:cNvPr id="38" name="Text 36"/>
          <p:cNvSpPr/>
          <p:nvPr/>
        </p:nvSpPr>
        <p:spPr>
          <a:xfrm>
            <a:off x="457200" y="4773168"/>
            <a:ext cx="7772400" cy="219456"/>
          </a:xfrm>
          <a:prstGeom prst="rect">
            <a:avLst/>
          </a:prstGeom>
          <a:noFill/>
          <a:ln/>
        </p:spPr>
        <p:txBody>
          <a:bodyPr wrap="square" lIns="0" tIns="0" rIns="0" bIns="0" rtlCol="0" anchor="ctr"/>
          <a:lstStyle/>
          <a:p>
            <a:pPr algn="l" indent="0" marL="0">
              <a:buNone/>
            </a:pPr>
            <a:r>
              <a:rPr lang="en-US" sz="900" dirty="0">
                <a:solidFill>
                  <a:srgbClr val="006D77">
                    <a:alpha val="55000"/>
                  </a:srgbClr>
                </a:solidFill>
                <a:latin typeface="Calibri" pitchFamily="34" charset="0"/>
                <a:ea typeface="Calibri" pitchFamily="34" charset="-122"/>
                <a:cs typeface="Calibri" pitchFamily="34" charset="-120"/>
              </a:rPr>
              <a:t>Source: https://cs2680.seas.harvard.edu/slides/6_agent_design_3.pdf</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DF6F9"/>
        </a:solidFill>
      </p:bgPr>
    </p:bg>
    <p:spTree>
      <p:nvGrpSpPr>
        <p:cNvPr id="1" name=""/>
        <p:cNvGrpSpPr/>
        <p:nvPr/>
      </p:nvGrpSpPr>
      <p:grpSpPr>
        <a:xfrm>
          <a:off x="0" y="0"/>
          <a:ext cx="0" cy="0"/>
          <a:chOff x="0" y="0"/>
          <a:chExt cx="0" cy="0"/>
        </a:xfrm>
      </p:grpSpPr>
      <p:sp>
        <p:nvSpPr>
          <p:cNvPr id="2" name="Text 0"/>
          <p:cNvSpPr/>
          <p:nvPr/>
        </p:nvSpPr>
        <p:spPr>
          <a:xfrm>
            <a:off x="457200" y="310896"/>
            <a:ext cx="8229600" cy="219456"/>
          </a:xfrm>
          <a:prstGeom prst="rect">
            <a:avLst/>
          </a:prstGeom>
          <a:noFill/>
          <a:ln/>
        </p:spPr>
        <p:txBody>
          <a:bodyPr wrap="square" lIns="0" tIns="0" rIns="0" bIns="0" rtlCol="0" anchor="ctr"/>
          <a:lstStyle/>
          <a:p>
            <a:pPr algn="l" indent="0" marL="0">
              <a:buNone/>
            </a:pPr>
            <a:r>
              <a:rPr lang="en-US" sz="1100" spc="140" kern="0" dirty="0">
                <a:solidFill>
                  <a:srgbClr val="E29578"/>
                </a:solidFill>
                <a:latin typeface="Calibri" pitchFamily="34" charset="0"/>
                <a:ea typeface="Calibri" pitchFamily="34" charset="-122"/>
                <a:cs typeface="Calibri" pitchFamily="34" charset="-120"/>
              </a:rPr>
              <a:t>SEVEN STAGES, EIGHT FAILURE MODES</a:t>
            </a:r>
            <a:endParaRPr lang="en-US" sz="1100" dirty="0"/>
          </a:p>
        </p:txBody>
      </p:sp>
      <p:sp>
        <p:nvSpPr>
          <p:cNvPr id="3" name="Text 1"/>
          <p:cNvSpPr/>
          <p:nvPr/>
        </p:nvSpPr>
        <p:spPr>
          <a:xfrm>
            <a:off x="457200" y="548640"/>
            <a:ext cx="8229600" cy="566928"/>
          </a:xfrm>
          <a:prstGeom prst="rect">
            <a:avLst/>
          </a:prstGeom>
          <a:noFill/>
          <a:ln/>
        </p:spPr>
        <p:txBody>
          <a:bodyPr wrap="square" lIns="0" tIns="0" rIns="0" bIns="0" rtlCol="0" anchor="ctr">
            <a:normAutofit/>
          </a:bodyPr>
          <a:lstStyle/>
          <a:p>
            <a:pPr algn="l" indent="0" marL="0">
              <a:buNone/>
            </a:pPr>
            <a:r>
              <a:rPr lang="en-US" sz="2700" b="1" dirty="0">
                <a:solidFill>
                  <a:srgbClr val="006D77"/>
                </a:solidFill>
                <a:latin typeface="Georgia" pitchFamily="34" charset="0"/>
                <a:ea typeface="Georgia" pitchFamily="34" charset="-122"/>
                <a:cs typeface="Georgia" pitchFamily="34" charset="-120"/>
              </a:rPr>
              <a:t>The memory pipeline, and how it fails</a:t>
            </a:r>
            <a:endParaRPr lang="en-US" sz="2700" dirty="0"/>
          </a:p>
        </p:txBody>
      </p:sp>
      <p:sp>
        <p:nvSpPr>
          <p:cNvPr id="4" name="Shape 2"/>
          <p:cNvSpPr/>
          <p:nvPr/>
        </p:nvSpPr>
        <p:spPr>
          <a:xfrm>
            <a:off x="457200" y="1243584"/>
            <a:ext cx="1097280" cy="658368"/>
          </a:xfrm>
          <a:prstGeom prst="rect">
            <a:avLst/>
          </a:prstGeom>
          <a:solidFill>
            <a:srgbClr val="83C5BE"/>
          </a:solidFill>
          <a:ln w="9525">
            <a:solidFill>
              <a:srgbClr val="006D77"/>
            </a:solidFill>
            <a:prstDash val="solid"/>
          </a:ln>
        </p:spPr>
      </p:sp>
      <p:sp>
        <p:nvSpPr>
          <p:cNvPr id="5" name="Text 3"/>
          <p:cNvSpPr/>
          <p:nvPr/>
        </p:nvSpPr>
        <p:spPr>
          <a:xfrm>
            <a:off x="493776" y="1243584"/>
            <a:ext cx="1024128" cy="658368"/>
          </a:xfrm>
          <a:prstGeom prst="rect">
            <a:avLst/>
          </a:prstGeom>
          <a:noFill/>
          <a:ln/>
        </p:spPr>
        <p:txBody>
          <a:bodyPr wrap="square" lIns="0" tIns="0" rIns="0" bIns="0" rtlCol="0" anchor="ctr"/>
          <a:lstStyle/>
          <a:p>
            <a:pPr algn="ctr" indent="0" marL="0">
              <a:buNone/>
            </a:pPr>
            <a:r>
              <a:rPr lang="en-US" sz="950" dirty="0">
                <a:solidFill>
                  <a:srgbClr val="006D77"/>
                </a:solidFill>
                <a:latin typeface="Calibri" pitchFamily="34" charset="0"/>
                <a:ea typeface="Calibri" pitchFamily="34" charset="-122"/>
                <a:cs typeface="Calibri" pitchFamily="34" charset="-120"/>
              </a:rPr>
              <a:t>Observe</a:t>
            </a:r>
            <a:endParaRPr lang="en-US" sz="950" dirty="0"/>
          </a:p>
        </p:txBody>
      </p:sp>
      <p:sp>
        <p:nvSpPr>
          <p:cNvPr id="6" name="Shape 4"/>
          <p:cNvSpPr/>
          <p:nvPr/>
        </p:nvSpPr>
        <p:spPr>
          <a:xfrm>
            <a:off x="1563624" y="1463040"/>
            <a:ext cx="73152" cy="219456"/>
          </a:xfrm>
          <a:prstGeom prst="rightArrow">
            <a:avLst/>
          </a:prstGeom>
          <a:solidFill>
            <a:srgbClr val="006D77"/>
          </a:solidFill>
          <a:ln w="12700">
            <a:solidFill>
              <a:srgbClr val="006D77"/>
            </a:solidFill>
            <a:prstDash val="solid"/>
          </a:ln>
        </p:spPr>
      </p:sp>
      <p:sp>
        <p:nvSpPr>
          <p:cNvPr id="7" name="Shape 5"/>
          <p:cNvSpPr/>
          <p:nvPr/>
        </p:nvSpPr>
        <p:spPr>
          <a:xfrm>
            <a:off x="1645920" y="1243584"/>
            <a:ext cx="1097280" cy="658368"/>
          </a:xfrm>
          <a:prstGeom prst="rect">
            <a:avLst/>
          </a:prstGeom>
          <a:solidFill>
            <a:srgbClr val="83C5BE"/>
          </a:solidFill>
          <a:ln w="9525">
            <a:solidFill>
              <a:srgbClr val="006D77"/>
            </a:solidFill>
            <a:prstDash val="solid"/>
          </a:ln>
        </p:spPr>
      </p:sp>
      <p:sp>
        <p:nvSpPr>
          <p:cNvPr id="8" name="Text 6"/>
          <p:cNvSpPr/>
          <p:nvPr/>
        </p:nvSpPr>
        <p:spPr>
          <a:xfrm>
            <a:off x="1682496" y="1243584"/>
            <a:ext cx="1024128" cy="658368"/>
          </a:xfrm>
          <a:prstGeom prst="rect">
            <a:avLst/>
          </a:prstGeom>
          <a:noFill/>
          <a:ln/>
        </p:spPr>
        <p:txBody>
          <a:bodyPr wrap="square" lIns="0" tIns="0" rIns="0" bIns="0" rtlCol="0" anchor="ctr"/>
          <a:lstStyle/>
          <a:p>
            <a:pPr algn="ctr" indent="0" marL="0">
              <a:buNone/>
            </a:pPr>
            <a:r>
              <a:rPr lang="en-US" sz="950" dirty="0">
                <a:solidFill>
                  <a:srgbClr val="006D77"/>
                </a:solidFill>
                <a:latin typeface="Calibri" pitchFamily="34" charset="0"/>
                <a:ea typeface="Calibri" pitchFamily="34" charset="-122"/>
                <a:cs typeface="Calibri" pitchFamily="34" charset="-120"/>
              </a:rPr>
              <a:t>Select</a:t>
            </a:r>
            <a:endParaRPr lang="en-US" sz="950" dirty="0"/>
          </a:p>
        </p:txBody>
      </p:sp>
      <p:sp>
        <p:nvSpPr>
          <p:cNvPr id="9" name="Shape 7"/>
          <p:cNvSpPr/>
          <p:nvPr/>
        </p:nvSpPr>
        <p:spPr>
          <a:xfrm>
            <a:off x="2752344" y="1463040"/>
            <a:ext cx="73152" cy="219456"/>
          </a:xfrm>
          <a:prstGeom prst="rightArrow">
            <a:avLst/>
          </a:prstGeom>
          <a:solidFill>
            <a:srgbClr val="006D77"/>
          </a:solidFill>
          <a:ln w="12700">
            <a:solidFill>
              <a:srgbClr val="006D77"/>
            </a:solidFill>
            <a:prstDash val="solid"/>
          </a:ln>
        </p:spPr>
      </p:sp>
      <p:sp>
        <p:nvSpPr>
          <p:cNvPr id="10" name="Shape 8"/>
          <p:cNvSpPr/>
          <p:nvPr/>
        </p:nvSpPr>
        <p:spPr>
          <a:xfrm>
            <a:off x="2834640" y="1243584"/>
            <a:ext cx="1097280" cy="658368"/>
          </a:xfrm>
          <a:prstGeom prst="rect">
            <a:avLst/>
          </a:prstGeom>
          <a:solidFill>
            <a:srgbClr val="83C5BE"/>
          </a:solidFill>
          <a:ln w="9525">
            <a:solidFill>
              <a:srgbClr val="006D77"/>
            </a:solidFill>
            <a:prstDash val="solid"/>
          </a:ln>
        </p:spPr>
      </p:sp>
      <p:sp>
        <p:nvSpPr>
          <p:cNvPr id="11" name="Text 9"/>
          <p:cNvSpPr/>
          <p:nvPr/>
        </p:nvSpPr>
        <p:spPr>
          <a:xfrm>
            <a:off x="2871216" y="1243584"/>
            <a:ext cx="1024128" cy="658368"/>
          </a:xfrm>
          <a:prstGeom prst="rect">
            <a:avLst/>
          </a:prstGeom>
          <a:noFill/>
          <a:ln/>
        </p:spPr>
        <p:txBody>
          <a:bodyPr wrap="square" lIns="0" tIns="0" rIns="0" bIns="0" rtlCol="0" anchor="ctr"/>
          <a:lstStyle/>
          <a:p>
            <a:pPr algn="ctr" indent="0" marL="0">
              <a:buNone/>
            </a:pPr>
            <a:r>
              <a:rPr lang="en-US" sz="950" dirty="0">
                <a:solidFill>
                  <a:srgbClr val="006D77"/>
                </a:solidFill>
                <a:latin typeface="Calibri" pitchFamily="34" charset="0"/>
                <a:ea typeface="Calibri" pitchFamily="34" charset="-122"/>
                <a:cs typeface="Calibri" pitchFamily="34" charset="-120"/>
              </a:rPr>
              <a:t>Encode/organize</a:t>
            </a:r>
            <a:endParaRPr lang="en-US" sz="950" dirty="0"/>
          </a:p>
        </p:txBody>
      </p:sp>
      <p:sp>
        <p:nvSpPr>
          <p:cNvPr id="12" name="Shape 10"/>
          <p:cNvSpPr/>
          <p:nvPr/>
        </p:nvSpPr>
        <p:spPr>
          <a:xfrm>
            <a:off x="3941064" y="1463040"/>
            <a:ext cx="73152" cy="219456"/>
          </a:xfrm>
          <a:prstGeom prst="rightArrow">
            <a:avLst/>
          </a:prstGeom>
          <a:solidFill>
            <a:srgbClr val="006D77"/>
          </a:solidFill>
          <a:ln w="12700">
            <a:solidFill>
              <a:srgbClr val="006D77"/>
            </a:solidFill>
            <a:prstDash val="solid"/>
          </a:ln>
        </p:spPr>
      </p:sp>
      <p:sp>
        <p:nvSpPr>
          <p:cNvPr id="13" name="Shape 11"/>
          <p:cNvSpPr/>
          <p:nvPr/>
        </p:nvSpPr>
        <p:spPr>
          <a:xfrm>
            <a:off x="4023360" y="1243584"/>
            <a:ext cx="1097280" cy="658368"/>
          </a:xfrm>
          <a:prstGeom prst="rect">
            <a:avLst/>
          </a:prstGeom>
          <a:solidFill>
            <a:srgbClr val="83C5BE"/>
          </a:solidFill>
          <a:ln w="9525">
            <a:solidFill>
              <a:srgbClr val="006D77"/>
            </a:solidFill>
            <a:prstDash val="solid"/>
          </a:ln>
        </p:spPr>
      </p:sp>
      <p:sp>
        <p:nvSpPr>
          <p:cNvPr id="14" name="Text 12"/>
          <p:cNvSpPr/>
          <p:nvPr/>
        </p:nvSpPr>
        <p:spPr>
          <a:xfrm>
            <a:off x="4059936" y="1243584"/>
            <a:ext cx="1024128" cy="658368"/>
          </a:xfrm>
          <a:prstGeom prst="rect">
            <a:avLst/>
          </a:prstGeom>
          <a:noFill/>
          <a:ln/>
        </p:spPr>
        <p:txBody>
          <a:bodyPr wrap="square" lIns="0" tIns="0" rIns="0" bIns="0" rtlCol="0" anchor="ctr"/>
          <a:lstStyle/>
          <a:p>
            <a:pPr algn="ctr" indent="0" marL="0">
              <a:buNone/>
            </a:pPr>
            <a:r>
              <a:rPr lang="en-US" sz="950" dirty="0">
                <a:solidFill>
                  <a:srgbClr val="006D77"/>
                </a:solidFill>
                <a:latin typeface="Calibri" pitchFamily="34" charset="0"/>
                <a:ea typeface="Calibri" pitchFamily="34" charset="-122"/>
                <a:cs typeface="Calibri" pitchFamily="34" charset="-120"/>
              </a:rPr>
              <a:t>Store</a:t>
            </a:r>
            <a:endParaRPr lang="en-US" sz="950" dirty="0"/>
          </a:p>
        </p:txBody>
      </p:sp>
      <p:sp>
        <p:nvSpPr>
          <p:cNvPr id="15" name="Shape 13"/>
          <p:cNvSpPr/>
          <p:nvPr/>
        </p:nvSpPr>
        <p:spPr>
          <a:xfrm>
            <a:off x="5129784" y="1463040"/>
            <a:ext cx="73152" cy="219456"/>
          </a:xfrm>
          <a:prstGeom prst="rightArrow">
            <a:avLst/>
          </a:prstGeom>
          <a:solidFill>
            <a:srgbClr val="006D77"/>
          </a:solidFill>
          <a:ln w="12700">
            <a:solidFill>
              <a:srgbClr val="006D77"/>
            </a:solidFill>
            <a:prstDash val="solid"/>
          </a:ln>
        </p:spPr>
      </p:sp>
      <p:sp>
        <p:nvSpPr>
          <p:cNvPr id="16" name="Shape 14"/>
          <p:cNvSpPr/>
          <p:nvPr/>
        </p:nvSpPr>
        <p:spPr>
          <a:xfrm>
            <a:off x="5212080" y="1243584"/>
            <a:ext cx="1097280" cy="658368"/>
          </a:xfrm>
          <a:prstGeom prst="rect">
            <a:avLst/>
          </a:prstGeom>
          <a:solidFill>
            <a:srgbClr val="83C5BE"/>
          </a:solidFill>
          <a:ln w="9525">
            <a:solidFill>
              <a:srgbClr val="006D77"/>
            </a:solidFill>
            <a:prstDash val="solid"/>
          </a:ln>
        </p:spPr>
      </p:sp>
      <p:sp>
        <p:nvSpPr>
          <p:cNvPr id="17" name="Text 15"/>
          <p:cNvSpPr/>
          <p:nvPr/>
        </p:nvSpPr>
        <p:spPr>
          <a:xfrm>
            <a:off x="5248656" y="1243584"/>
            <a:ext cx="1024128" cy="658368"/>
          </a:xfrm>
          <a:prstGeom prst="rect">
            <a:avLst/>
          </a:prstGeom>
          <a:noFill/>
          <a:ln/>
        </p:spPr>
        <p:txBody>
          <a:bodyPr wrap="square" lIns="0" tIns="0" rIns="0" bIns="0" rtlCol="0" anchor="ctr"/>
          <a:lstStyle/>
          <a:p>
            <a:pPr algn="ctr" indent="0" marL="0">
              <a:buNone/>
            </a:pPr>
            <a:r>
              <a:rPr lang="en-US" sz="950" dirty="0">
                <a:solidFill>
                  <a:srgbClr val="006D77"/>
                </a:solidFill>
                <a:latin typeface="Calibri" pitchFamily="34" charset="0"/>
                <a:ea typeface="Calibri" pitchFamily="34" charset="-122"/>
                <a:cs typeface="Calibri" pitchFamily="34" charset="-120"/>
              </a:rPr>
              <a:t>Retrieve</a:t>
            </a:r>
            <a:endParaRPr lang="en-US" sz="950" dirty="0"/>
          </a:p>
        </p:txBody>
      </p:sp>
      <p:sp>
        <p:nvSpPr>
          <p:cNvPr id="18" name="Shape 16"/>
          <p:cNvSpPr/>
          <p:nvPr/>
        </p:nvSpPr>
        <p:spPr>
          <a:xfrm>
            <a:off x="6318504" y="1463040"/>
            <a:ext cx="73152" cy="219456"/>
          </a:xfrm>
          <a:prstGeom prst="rightArrow">
            <a:avLst/>
          </a:prstGeom>
          <a:solidFill>
            <a:srgbClr val="006D77"/>
          </a:solidFill>
          <a:ln w="12700">
            <a:solidFill>
              <a:srgbClr val="006D77"/>
            </a:solidFill>
            <a:prstDash val="solid"/>
          </a:ln>
        </p:spPr>
      </p:sp>
      <p:sp>
        <p:nvSpPr>
          <p:cNvPr id="19" name="Shape 17"/>
          <p:cNvSpPr/>
          <p:nvPr/>
        </p:nvSpPr>
        <p:spPr>
          <a:xfrm>
            <a:off x="6400800" y="1243584"/>
            <a:ext cx="1097280" cy="658368"/>
          </a:xfrm>
          <a:prstGeom prst="rect">
            <a:avLst/>
          </a:prstGeom>
          <a:solidFill>
            <a:srgbClr val="83C5BE"/>
          </a:solidFill>
          <a:ln w="9525">
            <a:solidFill>
              <a:srgbClr val="006D77"/>
            </a:solidFill>
            <a:prstDash val="solid"/>
          </a:ln>
        </p:spPr>
      </p:sp>
      <p:sp>
        <p:nvSpPr>
          <p:cNvPr id="20" name="Text 18"/>
          <p:cNvSpPr/>
          <p:nvPr/>
        </p:nvSpPr>
        <p:spPr>
          <a:xfrm>
            <a:off x="6437376" y="1243584"/>
            <a:ext cx="1024128" cy="658368"/>
          </a:xfrm>
          <a:prstGeom prst="rect">
            <a:avLst/>
          </a:prstGeom>
          <a:noFill/>
          <a:ln/>
        </p:spPr>
        <p:txBody>
          <a:bodyPr wrap="square" lIns="0" tIns="0" rIns="0" bIns="0" rtlCol="0" anchor="ctr"/>
          <a:lstStyle/>
          <a:p>
            <a:pPr algn="ctr" indent="0" marL="0">
              <a:buNone/>
            </a:pPr>
            <a:r>
              <a:rPr lang="en-US" sz="950" dirty="0">
                <a:solidFill>
                  <a:srgbClr val="006D77"/>
                </a:solidFill>
                <a:latin typeface="Calibri" pitchFamily="34" charset="0"/>
                <a:ea typeface="Calibri" pitchFamily="34" charset="-122"/>
                <a:cs typeface="Calibri" pitchFamily="34" charset="-120"/>
              </a:rPr>
              <a:t>Reflect/consolidate</a:t>
            </a:r>
            <a:endParaRPr lang="en-US" sz="950" dirty="0"/>
          </a:p>
        </p:txBody>
      </p:sp>
      <p:sp>
        <p:nvSpPr>
          <p:cNvPr id="21" name="Shape 19"/>
          <p:cNvSpPr/>
          <p:nvPr/>
        </p:nvSpPr>
        <p:spPr>
          <a:xfrm>
            <a:off x="7507224" y="1463040"/>
            <a:ext cx="73152" cy="219456"/>
          </a:xfrm>
          <a:prstGeom prst="rightArrow">
            <a:avLst/>
          </a:prstGeom>
          <a:solidFill>
            <a:srgbClr val="006D77"/>
          </a:solidFill>
          <a:ln w="12700">
            <a:solidFill>
              <a:srgbClr val="006D77"/>
            </a:solidFill>
            <a:prstDash val="solid"/>
          </a:ln>
        </p:spPr>
      </p:sp>
      <p:sp>
        <p:nvSpPr>
          <p:cNvPr id="22" name="Shape 20"/>
          <p:cNvSpPr/>
          <p:nvPr/>
        </p:nvSpPr>
        <p:spPr>
          <a:xfrm>
            <a:off x="7589520" y="1243584"/>
            <a:ext cx="1097280" cy="658368"/>
          </a:xfrm>
          <a:prstGeom prst="rect">
            <a:avLst/>
          </a:prstGeom>
          <a:solidFill>
            <a:srgbClr val="E29578"/>
          </a:solidFill>
          <a:ln w="9525">
            <a:solidFill>
              <a:srgbClr val="006D77"/>
            </a:solidFill>
            <a:prstDash val="solid"/>
          </a:ln>
        </p:spPr>
      </p:sp>
      <p:sp>
        <p:nvSpPr>
          <p:cNvPr id="23" name="Text 21"/>
          <p:cNvSpPr/>
          <p:nvPr/>
        </p:nvSpPr>
        <p:spPr>
          <a:xfrm>
            <a:off x="7626096" y="1243584"/>
            <a:ext cx="1024128" cy="658368"/>
          </a:xfrm>
          <a:prstGeom prst="rect">
            <a:avLst/>
          </a:prstGeom>
          <a:noFill/>
          <a:ln/>
        </p:spPr>
        <p:txBody>
          <a:bodyPr wrap="square" lIns="0" tIns="0" rIns="0" bIns="0" rtlCol="0" anchor="ctr"/>
          <a:lstStyle/>
          <a:p>
            <a:pPr algn="ctr" indent="0" marL="0">
              <a:buNone/>
            </a:pPr>
            <a:r>
              <a:rPr lang="en-US" sz="950" dirty="0">
                <a:solidFill>
                  <a:srgbClr val="006D77"/>
                </a:solidFill>
                <a:latin typeface="Calibri" pitchFamily="34" charset="0"/>
                <a:ea typeface="Calibri" pitchFamily="34" charset="-122"/>
                <a:cs typeface="Calibri" pitchFamily="34" charset="-120"/>
              </a:rPr>
              <a:t>Forget</a:t>
            </a:r>
            <a:endParaRPr lang="en-US" sz="950" dirty="0"/>
          </a:p>
        </p:txBody>
      </p:sp>
      <p:sp>
        <p:nvSpPr>
          <p:cNvPr id="24" name="Text 22"/>
          <p:cNvSpPr/>
          <p:nvPr/>
        </p:nvSpPr>
        <p:spPr>
          <a:xfrm>
            <a:off x="457200" y="1975104"/>
            <a:ext cx="8229600" cy="256032"/>
          </a:xfrm>
          <a:prstGeom prst="rect">
            <a:avLst/>
          </a:prstGeom>
          <a:noFill/>
          <a:ln/>
        </p:spPr>
        <p:txBody>
          <a:bodyPr wrap="square" lIns="0" tIns="0" rIns="0" bIns="0" rtlCol="0" anchor="ctr"/>
          <a:lstStyle/>
          <a:p>
            <a:pPr algn="l" indent="0" marL="0">
              <a:buNone/>
            </a:pPr>
            <a:r>
              <a:rPr lang="en-US" sz="1100" dirty="0">
                <a:solidFill>
                  <a:srgbClr val="006D77"/>
                </a:solidFill>
                <a:latin typeface="Calibri" pitchFamily="34" charset="0"/>
                <a:ea typeface="Calibri" pitchFamily="34" charset="-122"/>
                <a:cs typeface="Calibri" pitchFamily="34" charset="-120"/>
              </a:rPr>
              <a:t>Seven stages: each one is a decision the designer has to make, not a default a database provides.</a:t>
            </a:r>
            <a:endParaRPr lang="en-US" sz="1100" dirty="0"/>
          </a:p>
        </p:txBody>
      </p:sp>
      <p:sp>
        <p:nvSpPr>
          <p:cNvPr id="25" name="Text 23"/>
          <p:cNvSpPr/>
          <p:nvPr/>
        </p:nvSpPr>
        <p:spPr>
          <a:xfrm>
            <a:off x="457200" y="2340864"/>
            <a:ext cx="8229600" cy="219456"/>
          </a:xfrm>
          <a:prstGeom prst="rect">
            <a:avLst/>
          </a:prstGeom>
          <a:noFill/>
          <a:ln/>
        </p:spPr>
        <p:txBody>
          <a:bodyPr wrap="square" lIns="0" tIns="0" rIns="0" bIns="0" rtlCol="0" anchor="ctr"/>
          <a:lstStyle/>
          <a:p>
            <a:pPr algn="l" indent="0" marL="0">
              <a:buNone/>
            </a:pPr>
            <a:r>
              <a:rPr lang="en-US" sz="1200" b="1" dirty="0">
                <a:solidFill>
                  <a:srgbClr val="006D77"/>
                </a:solidFill>
                <a:latin typeface="Georgia" pitchFamily="34" charset="0"/>
                <a:ea typeface="Georgia" pitchFamily="34" charset="-122"/>
                <a:cs typeface="Georgia" pitchFamily="34" charset="-120"/>
              </a:rPr>
              <a:t>Eight memory failure modes</a:t>
            </a:r>
            <a:endParaRPr lang="en-US" sz="1200" dirty="0"/>
          </a:p>
        </p:txBody>
      </p:sp>
      <p:sp>
        <p:nvSpPr>
          <p:cNvPr id="26" name="Shape 24"/>
          <p:cNvSpPr/>
          <p:nvPr/>
        </p:nvSpPr>
        <p:spPr>
          <a:xfrm>
            <a:off x="457200" y="2596896"/>
            <a:ext cx="1920240" cy="621792"/>
          </a:xfrm>
          <a:prstGeom prst="rect">
            <a:avLst/>
          </a:prstGeom>
          <a:solidFill>
            <a:srgbClr val="FFDDD2"/>
          </a:solidFill>
          <a:ln w="9525">
            <a:solidFill>
              <a:srgbClr val="E29578"/>
            </a:solidFill>
            <a:prstDash val="solid"/>
          </a:ln>
        </p:spPr>
      </p:sp>
      <p:sp>
        <p:nvSpPr>
          <p:cNvPr id="27" name="Text 25"/>
          <p:cNvSpPr/>
          <p:nvPr/>
        </p:nvSpPr>
        <p:spPr>
          <a:xfrm>
            <a:off x="566928" y="2596896"/>
            <a:ext cx="1700784" cy="621792"/>
          </a:xfrm>
          <a:prstGeom prst="rect">
            <a:avLst/>
          </a:prstGeom>
          <a:noFill/>
          <a:ln/>
        </p:spPr>
        <p:txBody>
          <a:bodyPr wrap="square" lIns="0" tIns="0" rIns="0" bIns="0" rtlCol="0" anchor="ctr"/>
          <a:lstStyle/>
          <a:p>
            <a:pPr algn="l" indent="0" marL="0">
              <a:buNone/>
            </a:pPr>
            <a:r>
              <a:rPr lang="en-US" sz="1050" dirty="0">
                <a:solidFill>
                  <a:srgbClr val="006D77"/>
                </a:solidFill>
                <a:latin typeface="Calibri" pitchFamily="34" charset="0"/>
                <a:ea typeface="Calibri" pitchFamily="34" charset="-122"/>
                <a:cs typeface="Calibri" pitchFamily="34" charset="-120"/>
              </a:rPr>
              <a:t>retrieval miss</a:t>
            </a:r>
            <a:endParaRPr lang="en-US" sz="1050" dirty="0"/>
          </a:p>
        </p:txBody>
      </p:sp>
      <p:sp>
        <p:nvSpPr>
          <p:cNvPr id="28" name="Shape 26"/>
          <p:cNvSpPr/>
          <p:nvPr/>
        </p:nvSpPr>
        <p:spPr>
          <a:xfrm>
            <a:off x="2560320" y="2596896"/>
            <a:ext cx="1920240" cy="621792"/>
          </a:xfrm>
          <a:prstGeom prst="rect">
            <a:avLst/>
          </a:prstGeom>
          <a:solidFill>
            <a:srgbClr val="FFDDD2"/>
          </a:solidFill>
          <a:ln w="9525">
            <a:solidFill>
              <a:srgbClr val="E29578"/>
            </a:solidFill>
            <a:prstDash val="solid"/>
          </a:ln>
        </p:spPr>
      </p:sp>
      <p:sp>
        <p:nvSpPr>
          <p:cNvPr id="29" name="Text 27"/>
          <p:cNvSpPr/>
          <p:nvPr/>
        </p:nvSpPr>
        <p:spPr>
          <a:xfrm>
            <a:off x="2670048" y="2596896"/>
            <a:ext cx="1700784" cy="621792"/>
          </a:xfrm>
          <a:prstGeom prst="rect">
            <a:avLst/>
          </a:prstGeom>
          <a:noFill/>
          <a:ln/>
        </p:spPr>
        <p:txBody>
          <a:bodyPr wrap="square" lIns="0" tIns="0" rIns="0" bIns="0" rtlCol="0" anchor="ctr"/>
          <a:lstStyle/>
          <a:p>
            <a:pPr algn="l" indent="0" marL="0">
              <a:buNone/>
            </a:pPr>
            <a:r>
              <a:rPr lang="en-US" sz="1050" dirty="0">
                <a:solidFill>
                  <a:srgbClr val="006D77"/>
                </a:solidFill>
                <a:latin typeface="Calibri" pitchFamily="34" charset="0"/>
                <a:ea typeface="Calibri" pitchFamily="34" charset="-122"/>
                <a:cs typeface="Calibri" pitchFamily="34" charset="-120"/>
              </a:rPr>
              <a:t>context pollution</a:t>
            </a:r>
            <a:endParaRPr lang="en-US" sz="1050" dirty="0"/>
          </a:p>
        </p:txBody>
      </p:sp>
      <p:sp>
        <p:nvSpPr>
          <p:cNvPr id="30" name="Shape 28"/>
          <p:cNvSpPr/>
          <p:nvPr/>
        </p:nvSpPr>
        <p:spPr>
          <a:xfrm>
            <a:off x="4663440" y="2596896"/>
            <a:ext cx="1920240" cy="621792"/>
          </a:xfrm>
          <a:prstGeom prst="rect">
            <a:avLst/>
          </a:prstGeom>
          <a:solidFill>
            <a:srgbClr val="FFDDD2"/>
          </a:solidFill>
          <a:ln w="9525">
            <a:solidFill>
              <a:srgbClr val="E29578"/>
            </a:solidFill>
            <a:prstDash val="solid"/>
          </a:ln>
        </p:spPr>
      </p:sp>
      <p:sp>
        <p:nvSpPr>
          <p:cNvPr id="31" name="Text 29"/>
          <p:cNvSpPr/>
          <p:nvPr/>
        </p:nvSpPr>
        <p:spPr>
          <a:xfrm>
            <a:off x="4773168" y="2596896"/>
            <a:ext cx="1700784" cy="621792"/>
          </a:xfrm>
          <a:prstGeom prst="rect">
            <a:avLst/>
          </a:prstGeom>
          <a:noFill/>
          <a:ln/>
        </p:spPr>
        <p:txBody>
          <a:bodyPr wrap="square" lIns="0" tIns="0" rIns="0" bIns="0" rtlCol="0" anchor="ctr"/>
          <a:lstStyle/>
          <a:p>
            <a:pPr algn="l" indent="0" marL="0">
              <a:buNone/>
            </a:pPr>
            <a:r>
              <a:rPr lang="en-US" sz="1050" dirty="0">
                <a:solidFill>
                  <a:srgbClr val="006D77"/>
                </a:solidFill>
                <a:latin typeface="Calibri" pitchFamily="34" charset="0"/>
                <a:ea typeface="Calibri" pitchFamily="34" charset="-122"/>
                <a:cs typeface="Calibri" pitchFamily="34" charset="-120"/>
              </a:rPr>
              <a:t>memory hallucination</a:t>
            </a:r>
            <a:endParaRPr lang="en-US" sz="1050" dirty="0"/>
          </a:p>
        </p:txBody>
      </p:sp>
      <p:sp>
        <p:nvSpPr>
          <p:cNvPr id="32" name="Shape 30"/>
          <p:cNvSpPr/>
          <p:nvPr/>
        </p:nvSpPr>
        <p:spPr>
          <a:xfrm>
            <a:off x="6766560" y="2596896"/>
            <a:ext cx="1920240" cy="621792"/>
          </a:xfrm>
          <a:prstGeom prst="rect">
            <a:avLst/>
          </a:prstGeom>
          <a:solidFill>
            <a:srgbClr val="FFDDD2"/>
          </a:solidFill>
          <a:ln w="9525">
            <a:solidFill>
              <a:srgbClr val="E29578"/>
            </a:solidFill>
            <a:prstDash val="solid"/>
          </a:ln>
        </p:spPr>
      </p:sp>
      <p:sp>
        <p:nvSpPr>
          <p:cNvPr id="33" name="Text 31"/>
          <p:cNvSpPr/>
          <p:nvPr/>
        </p:nvSpPr>
        <p:spPr>
          <a:xfrm>
            <a:off x="6876288" y="2596896"/>
            <a:ext cx="1700784" cy="621792"/>
          </a:xfrm>
          <a:prstGeom prst="rect">
            <a:avLst/>
          </a:prstGeom>
          <a:noFill/>
          <a:ln/>
        </p:spPr>
        <p:txBody>
          <a:bodyPr wrap="square" lIns="0" tIns="0" rIns="0" bIns="0" rtlCol="0" anchor="ctr"/>
          <a:lstStyle/>
          <a:p>
            <a:pPr algn="l" indent="0" marL="0">
              <a:buNone/>
            </a:pPr>
            <a:r>
              <a:rPr lang="en-US" sz="1050" dirty="0">
                <a:solidFill>
                  <a:srgbClr val="006D77"/>
                </a:solidFill>
                <a:latin typeface="Calibri" pitchFamily="34" charset="0"/>
                <a:ea typeface="Calibri" pitchFamily="34" charset="-122"/>
                <a:cs typeface="Calibri" pitchFamily="34" charset="-120"/>
              </a:rPr>
              <a:t>staleness</a:t>
            </a:r>
            <a:endParaRPr lang="en-US" sz="1050" dirty="0"/>
          </a:p>
        </p:txBody>
      </p:sp>
      <p:sp>
        <p:nvSpPr>
          <p:cNvPr id="34" name="Shape 32"/>
          <p:cNvSpPr/>
          <p:nvPr/>
        </p:nvSpPr>
        <p:spPr>
          <a:xfrm>
            <a:off x="457200" y="3310128"/>
            <a:ext cx="1920240" cy="621792"/>
          </a:xfrm>
          <a:prstGeom prst="rect">
            <a:avLst/>
          </a:prstGeom>
          <a:solidFill>
            <a:srgbClr val="FFDDD2"/>
          </a:solidFill>
          <a:ln w="9525">
            <a:solidFill>
              <a:srgbClr val="E29578"/>
            </a:solidFill>
            <a:prstDash val="solid"/>
          </a:ln>
        </p:spPr>
      </p:sp>
      <p:sp>
        <p:nvSpPr>
          <p:cNvPr id="35" name="Text 33"/>
          <p:cNvSpPr/>
          <p:nvPr/>
        </p:nvSpPr>
        <p:spPr>
          <a:xfrm>
            <a:off x="566928" y="3310128"/>
            <a:ext cx="1700784" cy="621792"/>
          </a:xfrm>
          <a:prstGeom prst="rect">
            <a:avLst/>
          </a:prstGeom>
          <a:noFill/>
          <a:ln/>
        </p:spPr>
        <p:txBody>
          <a:bodyPr wrap="square" lIns="0" tIns="0" rIns="0" bIns="0" rtlCol="0" anchor="ctr"/>
          <a:lstStyle/>
          <a:p>
            <a:pPr algn="l" indent="0" marL="0">
              <a:buNone/>
            </a:pPr>
            <a:r>
              <a:rPr lang="en-US" sz="1050" dirty="0">
                <a:solidFill>
                  <a:srgbClr val="006D77"/>
                </a:solidFill>
                <a:latin typeface="Calibri" pitchFamily="34" charset="0"/>
                <a:ea typeface="Calibri" pitchFamily="34" charset="-122"/>
                <a:cs typeface="Calibri" pitchFamily="34" charset="-120"/>
              </a:rPr>
              <a:t>isolation failure</a:t>
            </a:r>
            <a:endParaRPr lang="en-US" sz="1050" dirty="0"/>
          </a:p>
        </p:txBody>
      </p:sp>
      <p:sp>
        <p:nvSpPr>
          <p:cNvPr id="36" name="Shape 34"/>
          <p:cNvSpPr/>
          <p:nvPr/>
        </p:nvSpPr>
        <p:spPr>
          <a:xfrm>
            <a:off x="2560320" y="3310128"/>
            <a:ext cx="1920240" cy="621792"/>
          </a:xfrm>
          <a:prstGeom prst="rect">
            <a:avLst/>
          </a:prstGeom>
          <a:solidFill>
            <a:srgbClr val="FFDDD2"/>
          </a:solidFill>
          <a:ln w="9525">
            <a:solidFill>
              <a:srgbClr val="E29578"/>
            </a:solidFill>
            <a:prstDash val="solid"/>
          </a:ln>
        </p:spPr>
      </p:sp>
      <p:sp>
        <p:nvSpPr>
          <p:cNvPr id="37" name="Text 35"/>
          <p:cNvSpPr/>
          <p:nvPr/>
        </p:nvSpPr>
        <p:spPr>
          <a:xfrm>
            <a:off x="2670048" y="3310128"/>
            <a:ext cx="1700784" cy="621792"/>
          </a:xfrm>
          <a:prstGeom prst="rect">
            <a:avLst/>
          </a:prstGeom>
          <a:noFill/>
          <a:ln/>
        </p:spPr>
        <p:txBody>
          <a:bodyPr wrap="square" lIns="0" tIns="0" rIns="0" bIns="0" rtlCol="0" anchor="ctr"/>
          <a:lstStyle/>
          <a:p>
            <a:pPr algn="l" indent="0" marL="0">
              <a:buNone/>
            </a:pPr>
            <a:r>
              <a:rPr lang="en-US" sz="1050" dirty="0">
                <a:solidFill>
                  <a:srgbClr val="006D77"/>
                </a:solidFill>
                <a:latin typeface="Calibri" pitchFamily="34" charset="0"/>
                <a:ea typeface="Calibri" pitchFamily="34" charset="-122"/>
                <a:cs typeface="Calibri" pitchFamily="34" charset="-120"/>
              </a:rPr>
              <a:t>overgeneralization</a:t>
            </a:r>
            <a:endParaRPr lang="en-US" sz="1050" dirty="0"/>
          </a:p>
        </p:txBody>
      </p:sp>
      <p:sp>
        <p:nvSpPr>
          <p:cNvPr id="38" name="Shape 36"/>
          <p:cNvSpPr/>
          <p:nvPr/>
        </p:nvSpPr>
        <p:spPr>
          <a:xfrm>
            <a:off x="4663440" y="3310128"/>
            <a:ext cx="1920240" cy="621792"/>
          </a:xfrm>
          <a:prstGeom prst="rect">
            <a:avLst/>
          </a:prstGeom>
          <a:solidFill>
            <a:srgbClr val="FFDDD2"/>
          </a:solidFill>
          <a:ln w="9525">
            <a:solidFill>
              <a:srgbClr val="E29578"/>
            </a:solidFill>
            <a:prstDash val="solid"/>
          </a:ln>
        </p:spPr>
      </p:sp>
      <p:sp>
        <p:nvSpPr>
          <p:cNvPr id="39" name="Text 37"/>
          <p:cNvSpPr/>
          <p:nvPr/>
        </p:nvSpPr>
        <p:spPr>
          <a:xfrm>
            <a:off x="4773168" y="3310128"/>
            <a:ext cx="1700784" cy="621792"/>
          </a:xfrm>
          <a:prstGeom prst="rect">
            <a:avLst/>
          </a:prstGeom>
          <a:noFill/>
          <a:ln/>
        </p:spPr>
        <p:txBody>
          <a:bodyPr wrap="square" lIns="0" tIns="0" rIns="0" bIns="0" rtlCol="0" anchor="ctr"/>
          <a:lstStyle/>
          <a:p>
            <a:pPr algn="l" indent="0" marL="0">
              <a:buNone/>
            </a:pPr>
            <a:r>
              <a:rPr lang="en-US" sz="1050" dirty="0">
                <a:solidFill>
                  <a:srgbClr val="006D77"/>
                </a:solidFill>
                <a:latin typeface="Calibri" pitchFamily="34" charset="0"/>
                <a:ea typeface="Calibri" pitchFamily="34" charset="-122"/>
                <a:cs typeface="Calibri" pitchFamily="34" charset="-120"/>
              </a:rPr>
              <a:t>persistent prompt injection</a:t>
            </a:r>
            <a:endParaRPr lang="en-US" sz="1050" dirty="0"/>
          </a:p>
        </p:txBody>
      </p:sp>
      <p:sp>
        <p:nvSpPr>
          <p:cNvPr id="40" name="Shape 38"/>
          <p:cNvSpPr/>
          <p:nvPr/>
        </p:nvSpPr>
        <p:spPr>
          <a:xfrm>
            <a:off x="6766560" y="3310128"/>
            <a:ext cx="1920240" cy="621792"/>
          </a:xfrm>
          <a:prstGeom prst="rect">
            <a:avLst/>
          </a:prstGeom>
          <a:solidFill>
            <a:srgbClr val="FFDDD2"/>
          </a:solidFill>
          <a:ln w="9525">
            <a:solidFill>
              <a:srgbClr val="E29578"/>
            </a:solidFill>
            <a:prstDash val="solid"/>
          </a:ln>
        </p:spPr>
      </p:sp>
      <p:sp>
        <p:nvSpPr>
          <p:cNvPr id="41" name="Text 39"/>
          <p:cNvSpPr/>
          <p:nvPr/>
        </p:nvSpPr>
        <p:spPr>
          <a:xfrm>
            <a:off x="6876288" y="3310128"/>
            <a:ext cx="1700784" cy="621792"/>
          </a:xfrm>
          <a:prstGeom prst="rect">
            <a:avLst/>
          </a:prstGeom>
          <a:noFill/>
          <a:ln/>
        </p:spPr>
        <p:txBody>
          <a:bodyPr wrap="square" lIns="0" tIns="0" rIns="0" bIns="0" rtlCol="0" anchor="ctr"/>
          <a:lstStyle/>
          <a:p>
            <a:pPr algn="l" indent="0" marL="0">
              <a:buNone/>
            </a:pPr>
            <a:r>
              <a:rPr lang="en-US" sz="1050" dirty="0">
                <a:solidFill>
                  <a:srgbClr val="006D77"/>
                </a:solidFill>
                <a:latin typeface="Calibri" pitchFamily="34" charset="0"/>
                <a:ea typeface="Calibri" pitchFamily="34" charset="-122"/>
                <a:cs typeface="Calibri" pitchFamily="34" charset="-120"/>
              </a:rPr>
              <a:t>unbounded growth</a:t>
            </a:r>
            <a:endParaRPr lang="en-US" sz="1050" dirty="0"/>
          </a:p>
        </p:txBody>
      </p:sp>
      <p:sp>
        <p:nvSpPr>
          <p:cNvPr id="42" name="Text 40"/>
          <p:cNvSpPr/>
          <p:nvPr/>
        </p:nvSpPr>
        <p:spPr>
          <a:xfrm>
            <a:off x="457200" y="4096512"/>
            <a:ext cx="8229600" cy="274320"/>
          </a:xfrm>
          <a:prstGeom prst="rect">
            <a:avLst/>
          </a:prstGeom>
          <a:noFill/>
          <a:ln/>
        </p:spPr>
        <p:txBody>
          <a:bodyPr wrap="square" lIns="0" tIns="0" rIns="0" bIns="0" rtlCol="0" anchor="ctr"/>
          <a:lstStyle/>
          <a:p>
            <a:pPr algn="l" indent="0" marL="0">
              <a:buNone/>
            </a:pPr>
            <a:r>
              <a:rPr lang="en-US" sz="1100" dirty="0">
                <a:solidFill>
                  <a:srgbClr val="006D77"/>
                </a:solidFill>
                <a:latin typeface="Calibri" pitchFamily="34" charset="0"/>
                <a:ea typeface="Calibri" pitchFamily="34" charset="-122"/>
                <a:cs typeface="Calibri" pitchFamily="34" charset="-120"/>
              </a:rPr>
              <a:t>Forgetting is the stage students get wrong: without it, a stale memory silently overrides newer information.</a:t>
            </a:r>
            <a:endParaRPr lang="en-US" sz="1100" dirty="0"/>
          </a:p>
        </p:txBody>
      </p:sp>
      <p:sp>
        <p:nvSpPr>
          <p:cNvPr id="43" name="Shape 41"/>
          <p:cNvSpPr/>
          <p:nvPr/>
        </p:nvSpPr>
        <p:spPr>
          <a:xfrm>
            <a:off x="8485632" y="4645152"/>
            <a:ext cx="420624" cy="274320"/>
          </a:xfrm>
          <a:prstGeom prst="roundRect">
            <a:avLst>
              <a:gd name="adj" fmla="val 26667"/>
            </a:avLst>
          </a:prstGeom>
          <a:solidFill>
            <a:srgbClr val="006D77"/>
          </a:solidFill>
          <a:ln w="12700">
            <a:solidFill>
              <a:srgbClr val="006D77"/>
            </a:solidFill>
            <a:prstDash val="solid"/>
          </a:ln>
        </p:spPr>
      </p:sp>
      <p:sp>
        <p:nvSpPr>
          <p:cNvPr id="44" name="Text 42"/>
          <p:cNvSpPr/>
          <p:nvPr/>
        </p:nvSpPr>
        <p:spPr>
          <a:xfrm>
            <a:off x="8485632" y="4645152"/>
            <a:ext cx="420624" cy="274320"/>
          </a:xfrm>
          <a:prstGeom prst="rect">
            <a:avLst/>
          </a:prstGeom>
          <a:noFill/>
          <a:ln/>
        </p:spPr>
        <p:txBody>
          <a:bodyPr wrap="square" lIns="0" tIns="0" rIns="0" bIns="0" rtlCol="0" anchor="ctr"/>
          <a:lstStyle/>
          <a:p>
            <a:pPr algn="ctr" indent="0" marL="0">
              <a:buNone/>
            </a:pPr>
            <a:r>
              <a:rPr lang="en-US" sz="1100" dirty="0">
                <a:solidFill>
                  <a:srgbClr val="EDF6F9"/>
                </a:solidFill>
                <a:latin typeface="Calibri" pitchFamily="34" charset="0"/>
                <a:ea typeface="Calibri" pitchFamily="34" charset="-122"/>
                <a:cs typeface="Calibri" pitchFamily="34" charset="-120"/>
              </a:rPr>
              <a:t>10</a:t>
            </a:r>
            <a:endParaRPr lang="en-US" sz="1100" dirty="0"/>
          </a:p>
        </p:txBody>
      </p:sp>
      <p:sp>
        <p:nvSpPr>
          <p:cNvPr id="45" name="Shape 43"/>
          <p:cNvSpPr/>
          <p:nvPr/>
        </p:nvSpPr>
        <p:spPr>
          <a:xfrm>
            <a:off x="457200" y="4754880"/>
            <a:ext cx="7772400" cy="10973"/>
          </a:xfrm>
          <a:prstGeom prst="rect">
            <a:avLst/>
          </a:prstGeom>
          <a:solidFill>
            <a:srgbClr val="83C5BE"/>
          </a:solidFill>
          <a:ln w="12700">
            <a:solidFill>
              <a:srgbClr val="83C5BE"/>
            </a:solidFill>
            <a:prstDash val="solid"/>
          </a:ln>
        </p:spPr>
      </p:sp>
      <p:sp>
        <p:nvSpPr>
          <p:cNvPr id="46" name="Text 44"/>
          <p:cNvSpPr/>
          <p:nvPr/>
        </p:nvSpPr>
        <p:spPr>
          <a:xfrm>
            <a:off x="457200" y="4773168"/>
            <a:ext cx="7772400" cy="219456"/>
          </a:xfrm>
          <a:prstGeom prst="rect">
            <a:avLst/>
          </a:prstGeom>
          <a:noFill/>
          <a:ln/>
        </p:spPr>
        <p:txBody>
          <a:bodyPr wrap="square" lIns="0" tIns="0" rIns="0" bIns="0" rtlCol="0" anchor="ctr"/>
          <a:lstStyle/>
          <a:p>
            <a:pPr algn="l" indent="0" marL="0">
              <a:buNone/>
            </a:pPr>
            <a:r>
              <a:rPr lang="en-US" sz="900" dirty="0">
                <a:solidFill>
                  <a:srgbClr val="006D77">
                    <a:alpha val="55000"/>
                  </a:srgbClr>
                </a:solidFill>
                <a:latin typeface="Calibri" pitchFamily="34" charset="0"/>
                <a:ea typeface="Calibri" pitchFamily="34" charset="-122"/>
                <a:cs typeface="Calibri" pitchFamily="34" charset="-120"/>
              </a:rPr>
              <a:t>Source: https://cs2680.seas.harvard.edu/slides/6_agent_design_3.pdf</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DF6F9"/>
        </a:solidFill>
      </p:bgPr>
    </p:bg>
    <p:spTree>
      <p:nvGrpSpPr>
        <p:cNvPr id="1" name=""/>
        <p:cNvGrpSpPr/>
        <p:nvPr/>
      </p:nvGrpSpPr>
      <p:grpSpPr>
        <a:xfrm>
          <a:off x="0" y="0"/>
          <a:ext cx="0" cy="0"/>
          <a:chOff x="0" y="0"/>
          <a:chExt cx="0" cy="0"/>
        </a:xfrm>
      </p:grpSpPr>
      <p:sp>
        <p:nvSpPr>
          <p:cNvPr id="2" name="Text 0"/>
          <p:cNvSpPr/>
          <p:nvPr/>
        </p:nvSpPr>
        <p:spPr>
          <a:xfrm>
            <a:off x="457200" y="310896"/>
            <a:ext cx="8229600" cy="219456"/>
          </a:xfrm>
          <a:prstGeom prst="rect">
            <a:avLst/>
          </a:prstGeom>
          <a:noFill/>
          <a:ln/>
        </p:spPr>
        <p:txBody>
          <a:bodyPr wrap="square" lIns="0" tIns="0" rIns="0" bIns="0" rtlCol="0" anchor="ctr"/>
          <a:lstStyle/>
          <a:p>
            <a:pPr algn="l" indent="0" marL="0">
              <a:buNone/>
            </a:pPr>
            <a:r>
              <a:rPr lang="en-US" sz="1100" spc="140" kern="0" dirty="0">
                <a:solidFill>
                  <a:srgbClr val="E29578"/>
                </a:solidFill>
                <a:latin typeface="Calibri" pitchFamily="34" charset="0"/>
                <a:ea typeface="Calibri" pitchFamily="34" charset="-122"/>
                <a:cs typeface="Calibri" pitchFamily="34" charset="-120"/>
              </a:rPr>
              <a:t>ARITHMETIC FIRST</a:t>
            </a:r>
            <a:endParaRPr lang="en-US" sz="1100" dirty="0"/>
          </a:p>
        </p:txBody>
      </p:sp>
      <p:sp>
        <p:nvSpPr>
          <p:cNvPr id="3" name="Text 1"/>
          <p:cNvSpPr/>
          <p:nvPr/>
        </p:nvSpPr>
        <p:spPr>
          <a:xfrm>
            <a:off x="457200" y="548640"/>
            <a:ext cx="8229600" cy="566928"/>
          </a:xfrm>
          <a:prstGeom prst="rect">
            <a:avLst/>
          </a:prstGeom>
          <a:noFill/>
          <a:ln/>
        </p:spPr>
        <p:txBody>
          <a:bodyPr wrap="square" lIns="0" tIns="0" rIns="0" bIns="0" rtlCol="0" anchor="ctr">
            <a:normAutofit/>
          </a:bodyPr>
          <a:lstStyle/>
          <a:p>
            <a:pPr algn="l" indent="0" marL="0">
              <a:buNone/>
            </a:pPr>
            <a:r>
              <a:rPr lang="en-US" sz="2700" b="1" dirty="0">
                <a:solidFill>
                  <a:srgbClr val="006D77"/>
                </a:solidFill>
                <a:latin typeface="Georgia" pitchFamily="34" charset="0"/>
                <a:ea typeface="Georgia" pitchFamily="34" charset="-122"/>
                <a:cs typeface="Georgia" pitchFamily="34" charset="-120"/>
              </a:rPr>
              <a:t>Reliability: errors compound</a:t>
            </a:r>
            <a:endParaRPr lang="en-US" sz="2700" dirty="0"/>
          </a:p>
        </p:txBody>
      </p:sp>
      <p:sp>
        <p:nvSpPr>
          <p:cNvPr id="4" name="Text 2"/>
          <p:cNvSpPr/>
          <p:nvPr/>
        </p:nvSpPr>
        <p:spPr>
          <a:xfrm>
            <a:off x="457200" y="1152144"/>
            <a:ext cx="5394960" cy="219456"/>
          </a:xfrm>
          <a:prstGeom prst="rect">
            <a:avLst/>
          </a:prstGeom>
          <a:noFill/>
          <a:ln/>
        </p:spPr>
        <p:txBody>
          <a:bodyPr wrap="square" lIns="0" tIns="0" rIns="0" bIns="0" rtlCol="0" anchor="ctr"/>
          <a:lstStyle/>
          <a:p>
            <a:pPr algn="l" indent="0" marL="0">
              <a:buNone/>
            </a:pPr>
            <a:r>
              <a:rPr lang="en-US" sz="1100" b="1" dirty="0">
                <a:solidFill>
                  <a:srgbClr val="006D77"/>
                </a:solidFill>
                <a:latin typeface="Georgia" pitchFamily="34" charset="0"/>
                <a:ea typeface="Georgia" pitchFamily="34" charset="-122"/>
                <a:cs typeface="Georgia" pitchFamily="34" charset="-120"/>
              </a:rPr>
              <a:t>Chance of an error-free run, at 95% success per step</a:t>
            </a:r>
            <a:endParaRPr lang="en-US" sz="1100" dirty="0"/>
          </a:p>
        </p:txBody>
      </p:sp>
      <p:sp>
        <p:nvSpPr>
          <p:cNvPr id="5" name="Text 3"/>
          <p:cNvSpPr/>
          <p:nvPr/>
        </p:nvSpPr>
        <p:spPr>
          <a:xfrm>
            <a:off x="457200" y="1444752"/>
            <a:ext cx="1005840" cy="310896"/>
          </a:xfrm>
          <a:prstGeom prst="rect">
            <a:avLst/>
          </a:prstGeom>
          <a:noFill/>
          <a:ln/>
        </p:spPr>
        <p:txBody>
          <a:bodyPr wrap="square" lIns="0" tIns="0" rIns="0" bIns="0" rtlCol="0" anchor="ctr"/>
          <a:lstStyle/>
          <a:p>
            <a:pPr algn="l" indent="0" marL="0">
              <a:buNone/>
            </a:pPr>
            <a:r>
              <a:rPr lang="en-US" sz="1050" dirty="0">
                <a:solidFill>
                  <a:srgbClr val="006D77"/>
                </a:solidFill>
                <a:latin typeface="Calibri" pitchFamily="34" charset="0"/>
                <a:ea typeface="Calibri" pitchFamily="34" charset="-122"/>
                <a:cs typeface="Calibri" pitchFamily="34" charset="-120"/>
              </a:rPr>
              <a:t>1 step</a:t>
            </a:r>
            <a:endParaRPr lang="en-US" sz="1050" dirty="0"/>
          </a:p>
        </p:txBody>
      </p:sp>
      <p:sp>
        <p:nvSpPr>
          <p:cNvPr id="6" name="Shape 4"/>
          <p:cNvSpPr/>
          <p:nvPr/>
        </p:nvSpPr>
        <p:spPr>
          <a:xfrm>
            <a:off x="1554480" y="1444752"/>
            <a:ext cx="3566160" cy="310896"/>
          </a:xfrm>
          <a:prstGeom prst="rect">
            <a:avLst/>
          </a:prstGeom>
          <a:solidFill>
            <a:srgbClr val="FFDDD2"/>
          </a:solidFill>
          <a:ln w="9525">
            <a:solidFill>
              <a:srgbClr val="83C5BE"/>
            </a:solidFill>
            <a:prstDash val="solid"/>
          </a:ln>
        </p:spPr>
      </p:sp>
      <p:sp>
        <p:nvSpPr>
          <p:cNvPr id="7" name="Shape 5"/>
          <p:cNvSpPr/>
          <p:nvPr/>
        </p:nvSpPr>
        <p:spPr>
          <a:xfrm>
            <a:off x="1554480" y="1444752"/>
            <a:ext cx="3387852" cy="310896"/>
          </a:xfrm>
          <a:prstGeom prst="rect">
            <a:avLst/>
          </a:prstGeom>
          <a:solidFill>
            <a:srgbClr val="006D77"/>
          </a:solidFill>
          <a:ln w="12700">
            <a:solidFill>
              <a:srgbClr val="006D77"/>
            </a:solidFill>
            <a:prstDash val="solid"/>
          </a:ln>
        </p:spPr>
      </p:sp>
      <p:sp>
        <p:nvSpPr>
          <p:cNvPr id="8" name="Text 6"/>
          <p:cNvSpPr/>
          <p:nvPr/>
        </p:nvSpPr>
        <p:spPr>
          <a:xfrm>
            <a:off x="5212080" y="1444752"/>
            <a:ext cx="640080" cy="310896"/>
          </a:xfrm>
          <a:prstGeom prst="rect">
            <a:avLst/>
          </a:prstGeom>
          <a:noFill/>
          <a:ln/>
        </p:spPr>
        <p:txBody>
          <a:bodyPr wrap="square" lIns="0" tIns="0" rIns="0" bIns="0" rtlCol="0" anchor="ctr"/>
          <a:lstStyle/>
          <a:p>
            <a:pPr algn="r" indent="0" marL="0">
              <a:buNone/>
            </a:pPr>
            <a:r>
              <a:rPr lang="en-US" sz="1050" dirty="0">
                <a:solidFill>
                  <a:srgbClr val="006D77"/>
                </a:solidFill>
                <a:latin typeface="Calibri" pitchFamily="34" charset="0"/>
                <a:ea typeface="Calibri" pitchFamily="34" charset="-122"/>
                <a:cs typeface="Calibri" pitchFamily="34" charset="-120"/>
              </a:rPr>
              <a:t>95%</a:t>
            </a:r>
            <a:endParaRPr lang="en-US" sz="1050" dirty="0"/>
          </a:p>
        </p:txBody>
      </p:sp>
      <p:sp>
        <p:nvSpPr>
          <p:cNvPr id="9" name="Text 7"/>
          <p:cNvSpPr/>
          <p:nvPr/>
        </p:nvSpPr>
        <p:spPr>
          <a:xfrm>
            <a:off x="457200" y="1975104"/>
            <a:ext cx="1005840" cy="310896"/>
          </a:xfrm>
          <a:prstGeom prst="rect">
            <a:avLst/>
          </a:prstGeom>
          <a:noFill/>
          <a:ln/>
        </p:spPr>
        <p:txBody>
          <a:bodyPr wrap="square" lIns="0" tIns="0" rIns="0" bIns="0" rtlCol="0" anchor="ctr"/>
          <a:lstStyle/>
          <a:p>
            <a:pPr algn="l" indent="0" marL="0">
              <a:buNone/>
            </a:pPr>
            <a:r>
              <a:rPr lang="en-US" sz="1050" dirty="0">
                <a:solidFill>
                  <a:srgbClr val="006D77"/>
                </a:solidFill>
                <a:latin typeface="Calibri" pitchFamily="34" charset="0"/>
                <a:ea typeface="Calibri" pitchFamily="34" charset="-122"/>
                <a:cs typeface="Calibri" pitchFamily="34" charset="-120"/>
              </a:rPr>
              <a:t>5 steps</a:t>
            </a:r>
            <a:endParaRPr lang="en-US" sz="1050" dirty="0"/>
          </a:p>
        </p:txBody>
      </p:sp>
      <p:sp>
        <p:nvSpPr>
          <p:cNvPr id="10" name="Shape 8"/>
          <p:cNvSpPr/>
          <p:nvPr/>
        </p:nvSpPr>
        <p:spPr>
          <a:xfrm>
            <a:off x="1554480" y="1975104"/>
            <a:ext cx="3566160" cy="310896"/>
          </a:xfrm>
          <a:prstGeom prst="rect">
            <a:avLst/>
          </a:prstGeom>
          <a:solidFill>
            <a:srgbClr val="FFDDD2"/>
          </a:solidFill>
          <a:ln w="9525">
            <a:solidFill>
              <a:srgbClr val="83C5BE"/>
            </a:solidFill>
            <a:prstDash val="solid"/>
          </a:ln>
        </p:spPr>
      </p:sp>
      <p:sp>
        <p:nvSpPr>
          <p:cNvPr id="11" name="Shape 9"/>
          <p:cNvSpPr/>
          <p:nvPr/>
        </p:nvSpPr>
        <p:spPr>
          <a:xfrm>
            <a:off x="1554480" y="1975104"/>
            <a:ext cx="2745943" cy="310896"/>
          </a:xfrm>
          <a:prstGeom prst="rect">
            <a:avLst/>
          </a:prstGeom>
          <a:solidFill>
            <a:srgbClr val="006D77"/>
          </a:solidFill>
          <a:ln w="12700">
            <a:solidFill>
              <a:srgbClr val="006D77"/>
            </a:solidFill>
            <a:prstDash val="solid"/>
          </a:ln>
        </p:spPr>
      </p:sp>
      <p:sp>
        <p:nvSpPr>
          <p:cNvPr id="12" name="Text 10"/>
          <p:cNvSpPr/>
          <p:nvPr/>
        </p:nvSpPr>
        <p:spPr>
          <a:xfrm>
            <a:off x="5212080" y="1975104"/>
            <a:ext cx="640080" cy="310896"/>
          </a:xfrm>
          <a:prstGeom prst="rect">
            <a:avLst/>
          </a:prstGeom>
          <a:noFill/>
          <a:ln/>
        </p:spPr>
        <p:txBody>
          <a:bodyPr wrap="square" lIns="0" tIns="0" rIns="0" bIns="0" rtlCol="0" anchor="ctr"/>
          <a:lstStyle/>
          <a:p>
            <a:pPr algn="r" indent="0" marL="0">
              <a:buNone/>
            </a:pPr>
            <a:r>
              <a:rPr lang="en-US" sz="1050" dirty="0">
                <a:solidFill>
                  <a:srgbClr val="006D77"/>
                </a:solidFill>
                <a:latin typeface="Calibri" pitchFamily="34" charset="0"/>
                <a:ea typeface="Calibri" pitchFamily="34" charset="-122"/>
                <a:cs typeface="Calibri" pitchFamily="34" charset="-120"/>
              </a:rPr>
              <a:t>77%</a:t>
            </a:r>
            <a:endParaRPr lang="en-US" sz="1050" dirty="0"/>
          </a:p>
        </p:txBody>
      </p:sp>
      <p:sp>
        <p:nvSpPr>
          <p:cNvPr id="13" name="Text 11"/>
          <p:cNvSpPr/>
          <p:nvPr/>
        </p:nvSpPr>
        <p:spPr>
          <a:xfrm>
            <a:off x="457200" y="2505456"/>
            <a:ext cx="1005840" cy="310896"/>
          </a:xfrm>
          <a:prstGeom prst="rect">
            <a:avLst/>
          </a:prstGeom>
          <a:noFill/>
          <a:ln/>
        </p:spPr>
        <p:txBody>
          <a:bodyPr wrap="square" lIns="0" tIns="0" rIns="0" bIns="0" rtlCol="0" anchor="ctr"/>
          <a:lstStyle/>
          <a:p>
            <a:pPr algn="l" indent="0" marL="0">
              <a:buNone/>
            </a:pPr>
            <a:r>
              <a:rPr lang="en-US" sz="1050" dirty="0">
                <a:solidFill>
                  <a:srgbClr val="006D77"/>
                </a:solidFill>
                <a:latin typeface="Calibri" pitchFamily="34" charset="0"/>
                <a:ea typeface="Calibri" pitchFamily="34" charset="-122"/>
                <a:cs typeface="Calibri" pitchFamily="34" charset="-120"/>
              </a:rPr>
              <a:t>10 steps</a:t>
            </a:r>
            <a:endParaRPr lang="en-US" sz="1050" dirty="0"/>
          </a:p>
        </p:txBody>
      </p:sp>
      <p:sp>
        <p:nvSpPr>
          <p:cNvPr id="14" name="Shape 12"/>
          <p:cNvSpPr/>
          <p:nvPr/>
        </p:nvSpPr>
        <p:spPr>
          <a:xfrm>
            <a:off x="1554480" y="2505456"/>
            <a:ext cx="3566160" cy="310896"/>
          </a:xfrm>
          <a:prstGeom prst="rect">
            <a:avLst/>
          </a:prstGeom>
          <a:solidFill>
            <a:srgbClr val="FFDDD2"/>
          </a:solidFill>
          <a:ln w="9525">
            <a:solidFill>
              <a:srgbClr val="83C5BE"/>
            </a:solidFill>
            <a:prstDash val="solid"/>
          </a:ln>
        </p:spPr>
      </p:sp>
      <p:sp>
        <p:nvSpPr>
          <p:cNvPr id="15" name="Shape 13"/>
          <p:cNvSpPr/>
          <p:nvPr/>
        </p:nvSpPr>
        <p:spPr>
          <a:xfrm>
            <a:off x="1554480" y="2505456"/>
            <a:ext cx="2139696" cy="310896"/>
          </a:xfrm>
          <a:prstGeom prst="rect">
            <a:avLst/>
          </a:prstGeom>
          <a:solidFill>
            <a:srgbClr val="006D77"/>
          </a:solidFill>
          <a:ln w="12700">
            <a:solidFill>
              <a:srgbClr val="006D77"/>
            </a:solidFill>
            <a:prstDash val="solid"/>
          </a:ln>
        </p:spPr>
      </p:sp>
      <p:sp>
        <p:nvSpPr>
          <p:cNvPr id="16" name="Text 14"/>
          <p:cNvSpPr/>
          <p:nvPr/>
        </p:nvSpPr>
        <p:spPr>
          <a:xfrm>
            <a:off x="5212080" y="2505456"/>
            <a:ext cx="640080" cy="310896"/>
          </a:xfrm>
          <a:prstGeom prst="rect">
            <a:avLst/>
          </a:prstGeom>
          <a:noFill/>
          <a:ln/>
        </p:spPr>
        <p:txBody>
          <a:bodyPr wrap="square" lIns="0" tIns="0" rIns="0" bIns="0" rtlCol="0" anchor="ctr"/>
          <a:lstStyle/>
          <a:p>
            <a:pPr algn="r" indent="0" marL="0">
              <a:buNone/>
            </a:pPr>
            <a:r>
              <a:rPr lang="en-US" sz="1050" dirty="0">
                <a:solidFill>
                  <a:srgbClr val="006D77"/>
                </a:solidFill>
                <a:latin typeface="Calibri" pitchFamily="34" charset="0"/>
                <a:ea typeface="Calibri" pitchFamily="34" charset="-122"/>
                <a:cs typeface="Calibri" pitchFamily="34" charset="-120"/>
              </a:rPr>
              <a:t>60%</a:t>
            </a:r>
            <a:endParaRPr lang="en-US" sz="1050" dirty="0"/>
          </a:p>
        </p:txBody>
      </p:sp>
      <p:sp>
        <p:nvSpPr>
          <p:cNvPr id="17" name="Text 15"/>
          <p:cNvSpPr/>
          <p:nvPr/>
        </p:nvSpPr>
        <p:spPr>
          <a:xfrm>
            <a:off x="457200" y="3035808"/>
            <a:ext cx="1005840" cy="310896"/>
          </a:xfrm>
          <a:prstGeom prst="rect">
            <a:avLst/>
          </a:prstGeom>
          <a:noFill/>
          <a:ln/>
        </p:spPr>
        <p:txBody>
          <a:bodyPr wrap="square" lIns="0" tIns="0" rIns="0" bIns="0" rtlCol="0" anchor="ctr"/>
          <a:lstStyle/>
          <a:p>
            <a:pPr algn="l" indent="0" marL="0">
              <a:buNone/>
            </a:pPr>
            <a:r>
              <a:rPr lang="en-US" sz="1050" dirty="0">
                <a:solidFill>
                  <a:srgbClr val="006D77"/>
                </a:solidFill>
                <a:latin typeface="Calibri" pitchFamily="34" charset="0"/>
                <a:ea typeface="Calibri" pitchFamily="34" charset="-122"/>
                <a:cs typeface="Calibri" pitchFamily="34" charset="-120"/>
              </a:rPr>
              <a:t>20 steps</a:t>
            </a:r>
            <a:endParaRPr lang="en-US" sz="1050" dirty="0"/>
          </a:p>
        </p:txBody>
      </p:sp>
      <p:sp>
        <p:nvSpPr>
          <p:cNvPr id="18" name="Shape 16"/>
          <p:cNvSpPr/>
          <p:nvPr/>
        </p:nvSpPr>
        <p:spPr>
          <a:xfrm>
            <a:off x="1554480" y="3035808"/>
            <a:ext cx="3566160" cy="310896"/>
          </a:xfrm>
          <a:prstGeom prst="rect">
            <a:avLst/>
          </a:prstGeom>
          <a:solidFill>
            <a:srgbClr val="FFDDD2"/>
          </a:solidFill>
          <a:ln w="9525">
            <a:solidFill>
              <a:srgbClr val="83C5BE"/>
            </a:solidFill>
            <a:prstDash val="solid"/>
          </a:ln>
        </p:spPr>
      </p:sp>
      <p:sp>
        <p:nvSpPr>
          <p:cNvPr id="19" name="Shape 17"/>
          <p:cNvSpPr/>
          <p:nvPr/>
        </p:nvSpPr>
        <p:spPr>
          <a:xfrm>
            <a:off x="1554480" y="3035808"/>
            <a:ext cx="1283818" cy="310896"/>
          </a:xfrm>
          <a:prstGeom prst="rect">
            <a:avLst/>
          </a:prstGeom>
          <a:solidFill>
            <a:srgbClr val="006D77"/>
          </a:solidFill>
          <a:ln w="12700">
            <a:solidFill>
              <a:srgbClr val="006D77"/>
            </a:solidFill>
            <a:prstDash val="solid"/>
          </a:ln>
        </p:spPr>
      </p:sp>
      <p:sp>
        <p:nvSpPr>
          <p:cNvPr id="20" name="Text 18"/>
          <p:cNvSpPr/>
          <p:nvPr/>
        </p:nvSpPr>
        <p:spPr>
          <a:xfrm>
            <a:off x="5212080" y="3035808"/>
            <a:ext cx="640080" cy="310896"/>
          </a:xfrm>
          <a:prstGeom prst="rect">
            <a:avLst/>
          </a:prstGeom>
          <a:noFill/>
          <a:ln/>
        </p:spPr>
        <p:txBody>
          <a:bodyPr wrap="square" lIns="0" tIns="0" rIns="0" bIns="0" rtlCol="0" anchor="ctr"/>
          <a:lstStyle/>
          <a:p>
            <a:pPr algn="r" indent="0" marL="0">
              <a:buNone/>
            </a:pPr>
            <a:r>
              <a:rPr lang="en-US" sz="1050" dirty="0">
                <a:solidFill>
                  <a:srgbClr val="006D77"/>
                </a:solidFill>
                <a:latin typeface="Calibri" pitchFamily="34" charset="0"/>
                <a:ea typeface="Calibri" pitchFamily="34" charset="-122"/>
                <a:cs typeface="Calibri" pitchFamily="34" charset="-120"/>
              </a:rPr>
              <a:t>36%</a:t>
            </a:r>
            <a:endParaRPr lang="en-US" sz="1050" dirty="0"/>
          </a:p>
        </p:txBody>
      </p:sp>
      <p:sp>
        <p:nvSpPr>
          <p:cNvPr id="21" name="Text 19"/>
          <p:cNvSpPr/>
          <p:nvPr/>
        </p:nvSpPr>
        <p:spPr>
          <a:xfrm>
            <a:off x="457200" y="3566160"/>
            <a:ext cx="1005840" cy="310896"/>
          </a:xfrm>
          <a:prstGeom prst="rect">
            <a:avLst/>
          </a:prstGeom>
          <a:noFill/>
          <a:ln/>
        </p:spPr>
        <p:txBody>
          <a:bodyPr wrap="square" lIns="0" tIns="0" rIns="0" bIns="0" rtlCol="0" anchor="ctr"/>
          <a:lstStyle/>
          <a:p>
            <a:pPr algn="l" indent="0" marL="0">
              <a:buNone/>
            </a:pPr>
            <a:r>
              <a:rPr lang="en-US" sz="1050" dirty="0">
                <a:solidFill>
                  <a:srgbClr val="006D77"/>
                </a:solidFill>
                <a:latin typeface="Calibri" pitchFamily="34" charset="0"/>
                <a:ea typeface="Calibri" pitchFamily="34" charset="-122"/>
                <a:cs typeface="Calibri" pitchFamily="34" charset="-120"/>
              </a:rPr>
              <a:t>50 steps</a:t>
            </a:r>
            <a:endParaRPr lang="en-US" sz="1050" dirty="0"/>
          </a:p>
        </p:txBody>
      </p:sp>
      <p:sp>
        <p:nvSpPr>
          <p:cNvPr id="22" name="Shape 20"/>
          <p:cNvSpPr/>
          <p:nvPr/>
        </p:nvSpPr>
        <p:spPr>
          <a:xfrm>
            <a:off x="1554480" y="3566160"/>
            <a:ext cx="3566160" cy="310896"/>
          </a:xfrm>
          <a:prstGeom prst="rect">
            <a:avLst/>
          </a:prstGeom>
          <a:solidFill>
            <a:srgbClr val="FFDDD2"/>
          </a:solidFill>
          <a:ln w="9525">
            <a:solidFill>
              <a:srgbClr val="83C5BE"/>
            </a:solidFill>
            <a:prstDash val="solid"/>
          </a:ln>
        </p:spPr>
      </p:sp>
      <p:sp>
        <p:nvSpPr>
          <p:cNvPr id="23" name="Shape 21"/>
          <p:cNvSpPr/>
          <p:nvPr/>
        </p:nvSpPr>
        <p:spPr>
          <a:xfrm>
            <a:off x="1554480" y="3566160"/>
            <a:ext cx="285293" cy="310896"/>
          </a:xfrm>
          <a:prstGeom prst="rect">
            <a:avLst/>
          </a:prstGeom>
          <a:solidFill>
            <a:srgbClr val="E29578"/>
          </a:solidFill>
          <a:ln w="12700">
            <a:solidFill>
              <a:srgbClr val="E29578"/>
            </a:solidFill>
            <a:prstDash val="solid"/>
          </a:ln>
        </p:spPr>
      </p:sp>
      <p:sp>
        <p:nvSpPr>
          <p:cNvPr id="24" name="Text 22"/>
          <p:cNvSpPr/>
          <p:nvPr/>
        </p:nvSpPr>
        <p:spPr>
          <a:xfrm>
            <a:off x="5212080" y="3566160"/>
            <a:ext cx="640080" cy="310896"/>
          </a:xfrm>
          <a:prstGeom prst="rect">
            <a:avLst/>
          </a:prstGeom>
          <a:noFill/>
          <a:ln/>
        </p:spPr>
        <p:txBody>
          <a:bodyPr wrap="square" lIns="0" tIns="0" rIns="0" bIns="0" rtlCol="0" anchor="ctr"/>
          <a:lstStyle/>
          <a:p>
            <a:pPr algn="r" indent="0" marL="0">
              <a:buNone/>
            </a:pPr>
            <a:r>
              <a:rPr lang="en-US" sz="1050" dirty="0">
                <a:solidFill>
                  <a:srgbClr val="006D77"/>
                </a:solidFill>
                <a:latin typeface="Calibri" pitchFamily="34" charset="0"/>
                <a:ea typeface="Calibri" pitchFamily="34" charset="-122"/>
                <a:cs typeface="Calibri" pitchFamily="34" charset="-120"/>
              </a:rPr>
              <a:t>8%</a:t>
            </a:r>
            <a:endParaRPr lang="en-US" sz="1050" dirty="0"/>
          </a:p>
        </p:txBody>
      </p:sp>
      <p:sp>
        <p:nvSpPr>
          <p:cNvPr id="25" name="Text 23"/>
          <p:cNvSpPr/>
          <p:nvPr/>
        </p:nvSpPr>
        <p:spPr>
          <a:xfrm>
            <a:off x="6035040" y="1280160"/>
            <a:ext cx="2651760" cy="658368"/>
          </a:xfrm>
          <a:prstGeom prst="rect">
            <a:avLst/>
          </a:prstGeom>
          <a:noFill/>
          <a:ln/>
        </p:spPr>
        <p:txBody>
          <a:bodyPr wrap="square" lIns="0" tIns="0" rIns="0" bIns="0" rtlCol="0" anchor="ctr">
            <a:normAutofit/>
          </a:bodyPr>
          <a:lstStyle/>
          <a:p>
            <a:pPr algn="l" indent="0" marL="0">
              <a:buNone/>
            </a:pPr>
            <a:r>
              <a:rPr lang="en-US" sz="4000" b="1" dirty="0">
                <a:solidFill>
                  <a:srgbClr val="006D77"/>
                </a:solidFill>
                <a:latin typeface="Georgia" pitchFamily="34" charset="0"/>
                <a:ea typeface="Georgia" pitchFamily="34" charset="-122"/>
                <a:cs typeface="Georgia" pitchFamily="34" charset="-120"/>
              </a:rPr>
              <a:t>1 in 13</a:t>
            </a:r>
            <a:endParaRPr lang="en-US" sz="4000" dirty="0"/>
          </a:p>
        </p:txBody>
      </p:sp>
      <p:sp>
        <p:nvSpPr>
          <p:cNvPr id="26" name="Text 24"/>
          <p:cNvSpPr/>
          <p:nvPr/>
        </p:nvSpPr>
        <p:spPr>
          <a:xfrm>
            <a:off x="6035040" y="1938528"/>
            <a:ext cx="2651760" cy="420624"/>
          </a:xfrm>
          <a:prstGeom prst="rect">
            <a:avLst/>
          </a:prstGeom>
          <a:noFill/>
          <a:ln/>
        </p:spPr>
        <p:txBody>
          <a:bodyPr wrap="square" lIns="0" tIns="0" rIns="0" bIns="0" rtlCol="0" anchor="t"/>
          <a:lstStyle/>
          <a:p>
            <a:pPr algn="l" indent="0" marL="0">
              <a:buNone/>
            </a:pPr>
            <a:r>
              <a:rPr lang="en-US" sz="1100" dirty="0">
                <a:solidFill>
                  <a:srgbClr val="006D77">
                    <a:alpha val="65000"/>
                  </a:srgbClr>
                </a:solidFill>
                <a:latin typeface="Calibri" pitchFamily="34" charset="0"/>
                <a:ea typeface="Calibri" pitchFamily="34" charset="-122"/>
                <a:cs typeface="Calibri" pitchFamily="34" charset="-120"/>
              </a:rPr>
              <a:t>50-step runs finish with no errors</a:t>
            </a:r>
            <a:endParaRPr lang="en-US" sz="1100" dirty="0"/>
          </a:p>
        </p:txBody>
      </p:sp>
      <p:sp>
        <p:nvSpPr>
          <p:cNvPr id="27" name="Shape 25"/>
          <p:cNvSpPr/>
          <p:nvPr/>
        </p:nvSpPr>
        <p:spPr>
          <a:xfrm>
            <a:off x="6035040" y="2395728"/>
            <a:ext cx="2651760" cy="1554480"/>
          </a:xfrm>
          <a:prstGeom prst="rect">
            <a:avLst/>
          </a:prstGeom>
          <a:solidFill>
            <a:srgbClr val="EDF6F9"/>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28" name="Shape 26"/>
          <p:cNvSpPr/>
          <p:nvPr/>
        </p:nvSpPr>
        <p:spPr>
          <a:xfrm>
            <a:off x="6035040" y="2395728"/>
            <a:ext cx="50292" cy="1554480"/>
          </a:xfrm>
          <a:prstGeom prst="rect">
            <a:avLst/>
          </a:prstGeom>
          <a:solidFill>
            <a:srgbClr val="E29578"/>
          </a:solidFill>
          <a:ln w="12700">
            <a:solidFill>
              <a:srgbClr val="E29578"/>
            </a:solidFill>
            <a:prstDash val="solid"/>
          </a:ln>
        </p:spPr>
      </p:sp>
      <p:sp>
        <p:nvSpPr>
          <p:cNvPr id="29" name="Text 27"/>
          <p:cNvSpPr/>
          <p:nvPr/>
        </p:nvSpPr>
        <p:spPr>
          <a:xfrm>
            <a:off x="6217920" y="2542032"/>
            <a:ext cx="2322576" cy="1097280"/>
          </a:xfrm>
          <a:prstGeom prst="rect">
            <a:avLst/>
          </a:prstGeom>
          <a:noFill/>
          <a:ln/>
        </p:spPr>
        <p:txBody>
          <a:bodyPr wrap="square" lIns="0" tIns="0" rIns="0" bIns="0" rtlCol="0" anchor="t"/>
          <a:lstStyle/>
          <a:p>
            <a:pPr algn="l" indent="0" marL="0">
              <a:buNone/>
            </a:pPr>
            <a:r>
              <a:rPr lang="en-US" sz="1000" dirty="0">
                <a:solidFill>
                  <a:srgbClr val="006D77"/>
                </a:solidFill>
                <a:latin typeface="Calibri" pitchFamily="34" charset="0"/>
                <a:ea typeface="Calibri" pitchFamily="34" charset="-122"/>
                <a:cs typeface="Calibri" pitchFamily="34" charset="-120"/>
              </a:rPr>
              <a:t>The model assumes each step succeeds independently with probability 0.95. The deck notes that error propagation makes real runs worse than this model.</a:t>
            </a:r>
            <a:endParaRPr lang="en-US" sz="1000" dirty="0"/>
          </a:p>
        </p:txBody>
      </p:sp>
      <p:sp>
        <p:nvSpPr>
          <p:cNvPr id="30" name="Text 28"/>
          <p:cNvSpPr/>
          <p:nvPr/>
        </p:nvSpPr>
        <p:spPr>
          <a:xfrm>
            <a:off x="6217920" y="3639312"/>
            <a:ext cx="2322576" cy="310896"/>
          </a:xfrm>
          <a:prstGeom prst="rect">
            <a:avLst/>
          </a:prstGeom>
          <a:noFill/>
          <a:ln/>
        </p:spPr>
        <p:txBody>
          <a:bodyPr wrap="square" lIns="0" tIns="0" rIns="0" bIns="0" rtlCol="0" anchor="t"/>
          <a:lstStyle/>
          <a:p>
            <a:pPr algn="l" indent="0" marL="0">
              <a:buNone/>
            </a:pPr>
            <a:r>
              <a:rPr lang="en-US" sz="1000" dirty="0">
                <a:solidFill>
                  <a:srgbClr val="E29578"/>
                </a:solidFill>
                <a:latin typeface="Calibri" pitchFamily="34" charset="0"/>
                <a:ea typeface="Calibri" pitchFamily="34" charset="-122"/>
                <a:cs typeface="Calibri" pitchFamily="34" charset="-120"/>
              </a:rPr>
              <a:t>Reliability is arithmetic first, and attribution second.</a:t>
            </a:r>
            <a:endParaRPr lang="en-US" sz="1000" dirty="0"/>
          </a:p>
        </p:txBody>
      </p:sp>
      <p:sp>
        <p:nvSpPr>
          <p:cNvPr id="31" name="Text 29"/>
          <p:cNvSpPr/>
          <p:nvPr/>
        </p:nvSpPr>
        <p:spPr>
          <a:xfrm>
            <a:off x="457200" y="4114800"/>
            <a:ext cx="8229600" cy="274320"/>
          </a:xfrm>
          <a:prstGeom prst="rect">
            <a:avLst/>
          </a:prstGeom>
          <a:noFill/>
          <a:ln/>
        </p:spPr>
        <p:txBody>
          <a:bodyPr wrap="square" lIns="0" tIns="0" rIns="0" bIns="0" rtlCol="0" anchor="ctr"/>
          <a:lstStyle/>
          <a:p>
            <a:pPr algn="l" indent="0" marL="0">
              <a:buNone/>
            </a:pPr>
            <a:r>
              <a:rPr lang="en-US" sz="1100" dirty="0">
                <a:solidFill>
                  <a:srgbClr val="006D77"/>
                </a:solidFill>
                <a:latin typeface="Calibri" pitchFamily="34" charset="0"/>
                <a:ea typeface="Calibri" pitchFamily="34" charset="-122"/>
                <a:cs typeface="Calibri" pitchFamily="34" charset="-120"/>
              </a:rPr>
              <a:t>A long trajectory is a reliability problem before it is a capability problem: 0.95 per step leaves 8% over 50 steps.</a:t>
            </a:r>
            <a:endParaRPr lang="en-US" sz="1100" dirty="0"/>
          </a:p>
        </p:txBody>
      </p:sp>
      <p:sp>
        <p:nvSpPr>
          <p:cNvPr id="32" name="Shape 30"/>
          <p:cNvSpPr/>
          <p:nvPr/>
        </p:nvSpPr>
        <p:spPr>
          <a:xfrm>
            <a:off x="8485632" y="4645152"/>
            <a:ext cx="420624" cy="274320"/>
          </a:xfrm>
          <a:prstGeom prst="roundRect">
            <a:avLst>
              <a:gd name="adj" fmla="val 26667"/>
            </a:avLst>
          </a:prstGeom>
          <a:solidFill>
            <a:srgbClr val="006D77"/>
          </a:solidFill>
          <a:ln w="12700">
            <a:solidFill>
              <a:srgbClr val="006D77"/>
            </a:solidFill>
            <a:prstDash val="solid"/>
          </a:ln>
        </p:spPr>
      </p:sp>
      <p:sp>
        <p:nvSpPr>
          <p:cNvPr id="33" name="Text 31"/>
          <p:cNvSpPr/>
          <p:nvPr/>
        </p:nvSpPr>
        <p:spPr>
          <a:xfrm>
            <a:off x="8485632" y="4645152"/>
            <a:ext cx="420624" cy="274320"/>
          </a:xfrm>
          <a:prstGeom prst="rect">
            <a:avLst/>
          </a:prstGeom>
          <a:noFill/>
          <a:ln/>
        </p:spPr>
        <p:txBody>
          <a:bodyPr wrap="square" lIns="0" tIns="0" rIns="0" bIns="0" rtlCol="0" anchor="ctr"/>
          <a:lstStyle/>
          <a:p>
            <a:pPr algn="ctr" indent="0" marL="0">
              <a:buNone/>
            </a:pPr>
            <a:r>
              <a:rPr lang="en-US" sz="1100" dirty="0">
                <a:solidFill>
                  <a:srgbClr val="EDF6F9"/>
                </a:solidFill>
                <a:latin typeface="Calibri" pitchFamily="34" charset="0"/>
                <a:ea typeface="Calibri" pitchFamily="34" charset="-122"/>
                <a:cs typeface="Calibri" pitchFamily="34" charset="-120"/>
              </a:rPr>
              <a:t>11</a:t>
            </a:r>
            <a:endParaRPr lang="en-US" sz="1100" dirty="0"/>
          </a:p>
        </p:txBody>
      </p:sp>
      <p:sp>
        <p:nvSpPr>
          <p:cNvPr id="34" name="Shape 32"/>
          <p:cNvSpPr/>
          <p:nvPr/>
        </p:nvSpPr>
        <p:spPr>
          <a:xfrm>
            <a:off x="457200" y="4754880"/>
            <a:ext cx="7772400" cy="10973"/>
          </a:xfrm>
          <a:prstGeom prst="rect">
            <a:avLst/>
          </a:prstGeom>
          <a:solidFill>
            <a:srgbClr val="83C5BE"/>
          </a:solidFill>
          <a:ln w="12700">
            <a:solidFill>
              <a:srgbClr val="83C5BE"/>
            </a:solidFill>
            <a:prstDash val="solid"/>
          </a:ln>
        </p:spPr>
      </p:sp>
      <p:sp>
        <p:nvSpPr>
          <p:cNvPr id="35" name="Text 33"/>
          <p:cNvSpPr/>
          <p:nvPr/>
        </p:nvSpPr>
        <p:spPr>
          <a:xfrm>
            <a:off x="457200" y="4773168"/>
            <a:ext cx="7772400" cy="219456"/>
          </a:xfrm>
          <a:prstGeom prst="rect">
            <a:avLst/>
          </a:prstGeom>
          <a:noFill/>
          <a:ln/>
        </p:spPr>
        <p:txBody>
          <a:bodyPr wrap="square" lIns="0" tIns="0" rIns="0" bIns="0" rtlCol="0" anchor="ctr"/>
          <a:lstStyle/>
          <a:p>
            <a:pPr algn="l" indent="0" marL="0">
              <a:buNone/>
            </a:pPr>
            <a:r>
              <a:rPr lang="en-US" sz="900" dirty="0">
                <a:solidFill>
                  <a:srgbClr val="006D77">
                    <a:alpha val="55000"/>
                  </a:srgbClr>
                </a:solidFill>
                <a:latin typeface="Calibri" pitchFamily="34" charset="0"/>
                <a:ea typeface="Calibri" pitchFamily="34" charset="-122"/>
                <a:cs typeface="Calibri" pitchFamily="34" charset="-120"/>
              </a:rPr>
              <a:t>Source: https://cs2680.seas.harvard.edu/slides/6_agent_design_3.pdf</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DF6F9"/>
        </a:solidFill>
      </p:bgPr>
    </p:bg>
    <p:spTree>
      <p:nvGrpSpPr>
        <p:cNvPr id="1" name=""/>
        <p:cNvGrpSpPr/>
        <p:nvPr/>
      </p:nvGrpSpPr>
      <p:grpSpPr>
        <a:xfrm>
          <a:off x="0" y="0"/>
          <a:ext cx="0" cy="0"/>
          <a:chOff x="0" y="0"/>
          <a:chExt cx="0" cy="0"/>
        </a:xfrm>
      </p:grpSpPr>
      <p:sp>
        <p:nvSpPr>
          <p:cNvPr id="2" name="Text 0"/>
          <p:cNvSpPr/>
          <p:nvPr/>
        </p:nvSpPr>
        <p:spPr>
          <a:xfrm>
            <a:off x="457200" y="310896"/>
            <a:ext cx="8229600" cy="219456"/>
          </a:xfrm>
          <a:prstGeom prst="rect">
            <a:avLst/>
          </a:prstGeom>
          <a:noFill/>
          <a:ln/>
        </p:spPr>
        <p:txBody>
          <a:bodyPr wrap="square" lIns="0" tIns="0" rIns="0" bIns="0" rtlCol="0" anchor="ctr"/>
          <a:lstStyle/>
          <a:p>
            <a:pPr algn="l" indent="0" marL="0">
              <a:buNone/>
            </a:pPr>
            <a:r>
              <a:rPr lang="en-US" sz="1100" spc="140" kern="0" dirty="0">
                <a:solidFill>
                  <a:srgbClr val="E29578"/>
                </a:solidFill>
                <a:latin typeface="Calibri" pitchFamily="34" charset="0"/>
                <a:ea typeface="Calibri" pitchFamily="34" charset="-122"/>
                <a:cs typeface="Calibri" pitchFamily="34" charset="-120"/>
              </a:rPr>
              <a:t>FIVE LAYERS, EACH WITH A TABLE OF MODES AND A FIX</a:t>
            </a:r>
            <a:endParaRPr lang="en-US" sz="1100" dirty="0"/>
          </a:p>
        </p:txBody>
      </p:sp>
      <p:sp>
        <p:nvSpPr>
          <p:cNvPr id="3" name="Text 1"/>
          <p:cNvSpPr/>
          <p:nvPr/>
        </p:nvSpPr>
        <p:spPr>
          <a:xfrm>
            <a:off x="457200" y="548640"/>
            <a:ext cx="8229600" cy="566928"/>
          </a:xfrm>
          <a:prstGeom prst="rect">
            <a:avLst/>
          </a:prstGeom>
          <a:noFill/>
          <a:ln/>
        </p:spPr>
        <p:txBody>
          <a:bodyPr wrap="square" lIns="0" tIns="0" rIns="0" bIns="0" rtlCol="0" anchor="ctr">
            <a:normAutofit/>
          </a:bodyPr>
          <a:lstStyle/>
          <a:p>
            <a:pPr algn="l" indent="0" marL="0">
              <a:buNone/>
            </a:pPr>
            <a:r>
              <a:rPr lang="en-US" sz="2700" b="1" dirty="0">
                <a:solidFill>
                  <a:srgbClr val="006D77"/>
                </a:solidFill>
                <a:latin typeface="Georgia" pitchFamily="34" charset="0"/>
                <a:ea typeface="Georgia" pitchFamily="34" charset="-122"/>
                <a:cs typeface="Georgia" pitchFamily="34" charset="-120"/>
              </a:rPr>
              <a:t>Where does the failure come from?</a:t>
            </a:r>
            <a:endParaRPr lang="en-US" sz="2700" dirty="0"/>
          </a:p>
        </p:txBody>
      </p:sp>
      <p:sp>
        <p:nvSpPr>
          <p:cNvPr id="4" name="Shape 2"/>
          <p:cNvSpPr/>
          <p:nvPr/>
        </p:nvSpPr>
        <p:spPr>
          <a:xfrm>
            <a:off x="457200" y="1188720"/>
            <a:ext cx="1600200" cy="548640"/>
          </a:xfrm>
          <a:prstGeom prst="rect">
            <a:avLst/>
          </a:prstGeom>
          <a:solidFill>
            <a:srgbClr val="006D77"/>
          </a:solidFill>
          <a:ln w="12700">
            <a:solidFill>
              <a:srgbClr val="006D77"/>
            </a:solidFill>
            <a:prstDash val="solid"/>
          </a:ln>
        </p:spPr>
      </p:sp>
      <p:sp>
        <p:nvSpPr>
          <p:cNvPr id="5" name="Text 3"/>
          <p:cNvSpPr/>
          <p:nvPr/>
        </p:nvSpPr>
        <p:spPr>
          <a:xfrm>
            <a:off x="548640" y="1216152"/>
            <a:ext cx="1463040" cy="201168"/>
          </a:xfrm>
          <a:prstGeom prst="rect">
            <a:avLst/>
          </a:prstGeom>
          <a:noFill/>
          <a:ln/>
        </p:spPr>
        <p:txBody>
          <a:bodyPr wrap="square" lIns="0" tIns="0" rIns="0" bIns="0" rtlCol="0" anchor="ctr"/>
          <a:lstStyle/>
          <a:p>
            <a:pPr algn="l" indent="0" marL="0">
              <a:buNone/>
            </a:pPr>
            <a:r>
              <a:rPr lang="en-US" sz="1050" b="1" dirty="0">
                <a:solidFill>
                  <a:srgbClr val="EDF6F9"/>
                </a:solidFill>
                <a:latin typeface="Georgia" pitchFamily="34" charset="0"/>
                <a:ea typeface="Georgia" pitchFamily="34" charset="-122"/>
                <a:cs typeface="Georgia" pitchFamily="34" charset="-120"/>
              </a:rPr>
              <a:t>User / task spec</a:t>
            </a:r>
            <a:endParaRPr lang="en-US" sz="1050" dirty="0"/>
          </a:p>
        </p:txBody>
      </p:sp>
      <p:sp>
        <p:nvSpPr>
          <p:cNvPr id="6" name="Text 4"/>
          <p:cNvSpPr/>
          <p:nvPr/>
        </p:nvSpPr>
        <p:spPr>
          <a:xfrm>
            <a:off x="548640" y="1417320"/>
            <a:ext cx="1463040" cy="164592"/>
          </a:xfrm>
          <a:prstGeom prst="rect">
            <a:avLst/>
          </a:prstGeom>
          <a:noFill/>
          <a:ln/>
        </p:spPr>
        <p:txBody>
          <a:bodyPr wrap="square" lIns="0" tIns="0" rIns="0" bIns="0" rtlCol="0" anchor="ctr"/>
          <a:lstStyle/>
          <a:p>
            <a:pPr algn="l" indent="0" marL="0">
              <a:buNone/>
            </a:pPr>
            <a:r>
              <a:rPr lang="en-US" sz="850" dirty="0">
                <a:solidFill>
                  <a:srgbClr val="83C5BE"/>
                </a:solidFill>
                <a:latin typeface="Calibri" pitchFamily="34" charset="0"/>
                <a:ea typeface="Calibri" pitchFamily="34" charset="-122"/>
                <a:cs typeface="Calibri" pitchFamily="34" charset="-120"/>
              </a:rPr>
              <a:t>specification failure</a:t>
            </a:r>
            <a:endParaRPr lang="en-US" sz="850" dirty="0"/>
          </a:p>
        </p:txBody>
      </p:sp>
      <p:sp>
        <p:nvSpPr>
          <p:cNvPr id="7" name="Text 5"/>
          <p:cNvSpPr/>
          <p:nvPr/>
        </p:nvSpPr>
        <p:spPr>
          <a:xfrm>
            <a:off x="548640" y="1572768"/>
            <a:ext cx="1463040" cy="146304"/>
          </a:xfrm>
          <a:prstGeom prst="rect">
            <a:avLst/>
          </a:prstGeom>
          <a:noFill/>
          <a:ln/>
        </p:spPr>
        <p:txBody>
          <a:bodyPr wrap="square" lIns="0" tIns="0" rIns="0" bIns="0" rtlCol="0" anchor="ctr"/>
          <a:lstStyle/>
          <a:p>
            <a:pPr algn="l" indent="0" marL="0">
              <a:buNone/>
            </a:pPr>
            <a:r>
              <a:rPr lang="en-US" sz="800" dirty="0">
                <a:solidFill>
                  <a:srgbClr val="83C5BE"/>
                </a:solidFill>
                <a:latin typeface="Calibri" pitchFamily="34" charset="0"/>
                <a:ea typeface="Calibri" pitchFamily="34" charset="-122"/>
                <a:cs typeface="Calibri" pitchFamily="34" charset="-120"/>
              </a:rPr>
              <a:t>5 modes</a:t>
            </a:r>
            <a:endParaRPr lang="en-US" sz="800" dirty="0"/>
          </a:p>
        </p:txBody>
      </p:sp>
      <p:sp>
        <p:nvSpPr>
          <p:cNvPr id="8" name="Text 6"/>
          <p:cNvSpPr/>
          <p:nvPr/>
        </p:nvSpPr>
        <p:spPr>
          <a:xfrm>
            <a:off x="2148840" y="1188720"/>
            <a:ext cx="3017520" cy="548640"/>
          </a:xfrm>
          <a:prstGeom prst="rect">
            <a:avLst/>
          </a:prstGeom>
          <a:noFill/>
          <a:ln/>
        </p:spPr>
        <p:txBody>
          <a:bodyPr wrap="square" lIns="0" tIns="0" rIns="0" bIns="0" rtlCol="0" anchor="ctr"/>
          <a:lstStyle/>
          <a:p>
            <a:pPr algn="l" indent="0" marL="0">
              <a:buNone/>
            </a:pPr>
            <a:r>
              <a:rPr lang="en-US" sz="900" dirty="0">
                <a:solidFill>
                  <a:srgbClr val="006D77"/>
                </a:solidFill>
                <a:latin typeface="Calibri" pitchFamily="34" charset="0"/>
                <a:ea typeface="Calibri" pitchFamily="34" charset="-122"/>
                <a:cs typeface="Calibri" pitchFamily="34" charset="-120"/>
              </a:rPr>
              <a:t>ambiguous goal, proxy objective, unstated constraint, no definition of done, conflicting goals</a:t>
            </a:r>
            <a:endParaRPr lang="en-US" sz="900" dirty="0"/>
          </a:p>
        </p:txBody>
      </p:sp>
      <p:sp>
        <p:nvSpPr>
          <p:cNvPr id="9" name="Text 7"/>
          <p:cNvSpPr/>
          <p:nvPr/>
        </p:nvSpPr>
        <p:spPr>
          <a:xfrm>
            <a:off x="5257800" y="1188720"/>
            <a:ext cx="3429000" cy="548640"/>
          </a:xfrm>
          <a:prstGeom prst="rect">
            <a:avLst/>
          </a:prstGeom>
          <a:noFill/>
          <a:ln/>
        </p:spPr>
        <p:txBody>
          <a:bodyPr wrap="square" lIns="0" tIns="0" rIns="0" bIns="0" rtlCol="0" anchor="ctr"/>
          <a:lstStyle/>
          <a:p>
            <a:pPr algn="l" indent="0" marL="0">
              <a:buNone/>
            </a:pPr>
            <a:endParaRPr lang="en-US" sz="900" dirty="0"/>
          </a:p>
        </p:txBody>
      </p:sp>
      <p:sp>
        <p:nvSpPr>
          <p:cNvPr id="10" name="Shape 8"/>
          <p:cNvSpPr/>
          <p:nvPr/>
        </p:nvSpPr>
        <p:spPr>
          <a:xfrm>
            <a:off x="457200" y="1792224"/>
            <a:ext cx="1600200" cy="548640"/>
          </a:xfrm>
          <a:prstGeom prst="rect">
            <a:avLst/>
          </a:prstGeom>
          <a:solidFill>
            <a:srgbClr val="006D77"/>
          </a:solidFill>
          <a:ln w="12700">
            <a:solidFill>
              <a:srgbClr val="006D77"/>
            </a:solidFill>
            <a:prstDash val="solid"/>
          </a:ln>
        </p:spPr>
      </p:sp>
      <p:sp>
        <p:nvSpPr>
          <p:cNvPr id="11" name="Text 9"/>
          <p:cNvSpPr/>
          <p:nvPr/>
        </p:nvSpPr>
        <p:spPr>
          <a:xfrm>
            <a:off x="548640" y="1819656"/>
            <a:ext cx="1463040" cy="201168"/>
          </a:xfrm>
          <a:prstGeom prst="rect">
            <a:avLst/>
          </a:prstGeom>
          <a:noFill/>
          <a:ln/>
        </p:spPr>
        <p:txBody>
          <a:bodyPr wrap="square" lIns="0" tIns="0" rIns="0" bIns="0" rtlCol="0" anchor="ctr"/>
          <a:lstStyle/>
          <a:p>
            <a:pPr algn="l" indent="0" marL="0">
              <a:buNone/>
            </a:pPr>
            <a:r>
              <a:rPr lang="en-US" sz="1050" b="1" dirty="0">
                <a:solidFill>
                  <a:srgbClr val="EDF6F9"/>
                </a:solidFill>
                <a:latin typeface="Georgia" pitchFamily="34" charset="0"/>
                <a:ea typeface="Georgia" pitchFamily="34" charset="-122"/>
                <a:cs typeface="Georgia" pitchFamily="34" charset="-120"/>
              </a:rPr>
              <a:t>Agent harness</a:t>
            </a:r>
            <a:endParaRPr lang="en-US" sz="1050" dirty="0"/>
          </a:p>
        </p:txBody>
      </p:sp>
      <p:sp>
        <p:nvSpPr>
          <p:cNvPr id="12" name="Text 10"/>
          <p:cNvSpPr/>
          <p:nvPr/>
        </p:nvSpPr>
        <p:spPr>
          <a:xfrm>
            <a:off x="548640" y="2020824"/>
            <a:ext cx="1463040" cy="164592"/>
          </a:xfrm>
          <a:prstGeom prst="rect">
            <a:avLst/>
          </a:prstGeom>
          <a:noFill/>
          <a:ln/>
        </p:spPr>
        <p:txBody>
          <a:bodyPr wrap="square" lIns="0" tIns="0" rIns="0" bIns="0" rtlCol="0" anchor="ctr"/>
          <a:lstStyle/>
          <a:p>
            <a:pPr algn="l" indent="0" marL="0">
              <a:buNone/>
            </a:pPr>
            <a:r>
              <a:rPr lang="en-US" sz="850" dirty="0">
                <a:solidFill>
                  <a:srgbClr val="83C5BE"/>
                </a:solidFill>
                <a:latin typeface="Calibri" pitchFamily="34" charset="0"/>
                <a:ea typeface="Calibri" pitchFamily="34" charset="-122"/>
                <a:cs typeface="Calibri" pitchFamily="34" charset="-120"/>
              </a:rPr>
              <a:t>harness failure</a:t>
            </a:r>
            <a:endParaRPr lang="en-US" sz="850" dirty="0"/>
          </a:p>
        </p:txBody>
      </p:sp>
      <p:sp>
        <p:nvSpPr>
          <p:cNvPr id="13" name="Text 11"/>
          <p:cNvSpPr/>
          <p:nvPr/>
        </p:nvSpPr>
        <p:spPr>
          <a:xfrm>
            <a:off x="548640" y="2176272"/>
            <a:ext cx="1463040" cy="146304"/>
          </a:xfrm>
          <a:prstGeom prst="rect">
            <a:avLst/>
          </a:prstGeom>
          <a:noFill/>
          <a:ln/>
        </p:spPr>
        <p:txBody>
          <a:bodyPr wrap="square" lIns="0" tIns="0" rIns="0" bIns="0" rtlCol="0" anchor="ctr"/>
          <a:lstStyle/>
          <a:p>
            <a:pPr algn="l" indent="0" marL="0">
              <a:buNone/>
            </a:pPr>
            <a:r>
              <a:rPr lang="en-US" sz="800" dirty="0">
                <a:solidFill>
                  <a:srgbClr val="83C5BE"/>
                </a:solidFill>
                <a:latin typeface="Calibri" pitchFamily="34" charset="0"/>
                <a:ea typeface="Calibri" pitchFamily="34" charset="-122"/>
                <a:cs typeface="Calibri" pitchFamily="34" charset="-120"/>
              </a:rPr>
              <a:t>5 modes</a:t>
            </a:r>
            <a:endParaRPr lang="en-US" sz="800" dirty="0"/>
          </a:p>
        </p:txBody>
      </p:sp>
      <p:sp>
        <p:nvSpPr>
          <p:cNvPr id="14" name="Text 12"/>
          <p:cNvSpPr/>
          <p:nvPr/>
        </p:nvSpPr>
        <p:spPr>
          <a:xfrm>
            <a:off x="2148840" y="1792224"/>
            <a:ext cx="3017520" cy="548640"/>
          </a:xfrm>
          <a:prstGeom prst="rect">
            <a:avLst/>
          </a:prstGeom>
          <a:noFill/>
          <a:ln/>
        </p:spPr>
        <p:txBody>
          <a:bodyPr wrap="square" lIns="0" tIns="0" rIns="0" bIns="0" rtlCol="0" anchor="ctr"/>
          <a:lstStyle/>
          <a:p>
            <a:pPr algn="l" indent="0" marL="0">
              <a:buNone/>
            </a:pPr>
            <a:r>
              <a:rPr lang="en-US" sz="900" dirty="0">
                <a:solidFill>
                  <a:srgbClr val="006D77"/>
                </a:solidFill>
                <a:latin typeface="Calibri" pitchFamily="34" charset="0"/>
                <a:ea typeface="Calibri" pitchFamily="34" charset="-122"/>
                <a:cs typeface="Calibri" pitchFamily="34" charset="-120"/>
              </a:rPr>
              <a:t>context truncation, memory error, state corruption, control loop error, blocking fan-out</a:t>
            </a:r>
            <a:endParaRPr lang="en-US" sz="900" dirty="0"/>
          </a:p>
        </p:txBody>
      </p:sp>
      <p:sp>
        <p:nvSpPr>
          <p:cNvPr id="15" name="Text 13"/>
          <p:cNvSpPr/>
          <p:nvPr/>
        </p:nvSpPr>
        <p:spPr>
          <a:xfrm>
            <a:off x="5257800" y="1792224"/>
            <a:ext cx="3429000" cy="548640"/>
          </a:xfrm>
          <a:prstGeom prst="rect">
            <a:avLst/>
          </a:prstGeom>
          <a:noFill/>
          <a:ln/>
        </p:spPr>
        <p:txBody>
          <a:bodyPr wrap="square" lIns="0" tIns="0" rIns="0" bIns="0" rtlCol="0" anchor="ctr"/>
          <a:lstStyle/>
          <a:p>
            <a:pPr algn="l" indent="0" marL="0">
              <a:buNone/>
            </a:pPr>
            <a:r>
              <a:rPr lang="en-US" sz="900" dirty="0">
                <a:solidFill>
                  <a:srgbClr val="E29578"/>
                </a:solidFill>
                <a:latin typeface="Calibri" pitchFamily="34" charset="0"/>
                <a:ea typeface="Calibri" pitchFamily="34" charset="-122"/>
                <a:cs typeface="Calibri" pitchFamily="34" charset="-120"/>
              </a:rPr>
              <a:t>"200 steps, no progress"</a:t>
            </a:r>
            <a:endParaRPr lang="en-US" sz="900" dirty="0"/>
          </a:p>
        </p:txBody>
      </p:sp>
      <p:sp>
        <p:nvSpPr>
          <p:cNvPr id="16" name="Shape 14"/>
          <p:cNvSpPr/>
          <p:nvPr/>
        </p:nvSpPr>
        <p:spPr>
          <a:xfrm>
            <a:off x="457200" y="2395728"/>
            <a:ext cx="1600200" cy="548640"/>
          </a:xfrm>
          <a:prstGeom prst="rect">
            <a:avLst/>
          </a:prstGeom>
          <a:solidFill>
            <a:srgbClr val="006D77"/>
          </a:solidFill>
          <a:ln w="12700">
            <a:solidFill>
              <a:srgbClr val="006D77"/>
            </a:solidFill>
            <a:prstDash val="solid"/>
          </a:ln>
        </p:spPr>
      </p:sp>
      <p:sp>
        <p:nvSpPr>
          <p:cNvPr id="17" name="Text 15"/>
          <p:cNvSpPr/>
          <p:nvPr/>
        </p:nvSpPr>
        <p:spPr>
          <a:xfrm>
            <a:off x="548640" y="2423160"/>
            <a:ext cx="1463040" cy="201168"/>
          </a:xfrm>
          <a:prstGeom prst="rect">
            <a:avLst/>
          </a:prstGeom>
          <a:noFill/>
          <a:ln/>
        </p:spPr>
        <p:txBody>
          <a:bodyPr wrap="square" lIns="0" tIns="0" rIns="0" bIns="0" rtlCol="0" anchor="ctr"/>
          <a:lstStyle/>
          <a:p>
            <a:pPr algn="l" indent="0" marL="0">
              <a:buNone/>
            </a:pPr>
            <a:r>
              <a:rPr lang="en-US" sz="1050" b="1" dirty="0">
                <a:solidFill>
                  <a:srgbClr val="EDF6F9"/>
                </a:solidFill>
                <a:latin typeface="Georgia" pitchFamily="34" charset="0"/>
                <a:ea typeface="Georgia" pitchFamily="34" charset="-122"/>
                <a:cs typeface="Georgia" pitchFamily="34" charset="-120"/>
              </a:rPr>
              <a:t>LLM</a:t>
            </a:r>
            <a:endParaRPr lang="en-US" sz="1050" dirty="0"/>
          </a:p>
        </p:txBody>
      </p:sp>
      <p:sp>
        <p:nvSpPr>
          <p:cNvPr id="18" name="Text 16"/>
          <p:cNvSpPr/>
          <p:nvPr/>
        </p:nvSpPr>
        <p:spPr>
          <a:xfrm>
            <a:off x="548640" y="2624328"/>
            <a:ext cx="1463040" cy="164592"/>
          </a:xfrm>
          <a:prstGeom prst="rect">
            <a:avLst/>
          </a:prstGeom>
          <a:noFill/>
          <a:ln/>
        </p:spPr>
        <p:txBody>
          <a:bodyPr wrap="square" lIns="0" tIns="0" rIns="0" bIns="0" rtlCol="0" anchor="ctr"/>
          <a:lstStyle/>
          <a:p>
            <a:pPr algn="l" indent="0" marL="0">
              <a:buNone/>
            </a:pPr>
            <a:r>
              <a:rPr lang="en-US" sz="850" dirty="0">
                <a:solidFill>
                  <a:srgbClr val="83C5BE"/>
                </a:solidFill>
                <a:latin typeface="Calibri" pitchFamily="34" charset="0"/>
                <a:ea typeface="Calibri" pitchFamily="34" charset="-122"/>
                <a:cs typeface="Calibri" pitchFamily="34" charset="-120"/>
              </a:rPr>
              <a:t>model failure</a:t>
            </a:r>
            <a:endParaRPr lang="en-US" sz="850" dirty="0"/>
          </a:p>
        </p:txBody>
      </p:sp>
      <p:sp>
        <p:nvSpPr>
          <p:cNvPr id="19" name="Text 17"/>
          <p:cNvSpPr/>
          <p:nvPr/>
        </p:nvSpPr>
        <p:spPr>
          <a:xfrm>
            <a:off x="548640" y="2779776"/>
            <a:ext cx="1463040" cy="146304"/>
          </a:xfrm>
          <a:prstGeom prst="rect">
            <a:avLst/>
          </a:prstGeom>
          <a:noFill/>
          <a:ln/>
        </p:spPr>
        <p:txBody>
          <a:bodyPr wrap="square" lIns="0" tIns="0" rIns="0" bIns="0" rtlCol="0" anchor="ctr"/>
          <a:lstStyle/>
          <a:p>
            <a:pPr algn="l" indent="0" marL="0">
              <a:buNone/>
            </a:pPr>
            <a:r>
              <a:rPr lang="en-US" sz="800" dirty="0">
                <a:solidFill>
                  <a:srgbClr val="83C5BE"/>
                </a:solidFill>
                <a:latin typeface="Calibri" pitchFamily="34" charset="0"/>
                <a:ea typeface="Calibri" pitchFamily="34" charset="-122"/>
                <a:cs typeface="Calibri" pitchFamily="34" charset="-120"/>
              </a:rPr>
              <a:t>6 modes</a:t>
            </a:r>
            <a:endParaRPr lang="en-US" sz="800" dirty="0"/>
          </a:p>
        </p:txBody>
      </p:sp>
      <p:sp>
        <p:nvSpPr>
          <p:cNvPr id="20" name="Text 18"/>
          <p:cNvSpPr/>
          <p:nvPr/>
        </p:nvSpPr>
        <p:spPr>
          <a:xfrm>
            <a:off x="2148840" y="2395728"/>
            <a:ext cx="3017520" cy="548640"/>
          </a:xfrm>
          <a:prstGeom prst="rect">
            <a:avLst/>
          </a:prstGeom>
          <a:noFill/>
          <a:ln/>
        </p:spPr>
        <p:txBody>
          <a:bodyPr wrap="square" lIns="0" tIns="0" rIns="0" bIns="0" rtlCol="0" anchor="ctr"/>
          <a:lstStyle/>
          <a:p>
            <a:pPr algn="l" indent="0" marL="0">
              <a:buNone/>
            </a:pPr>
            <a:r>
              <a:rPr lang="en-US" sz="900" dirty="0">
                <a:solidFill>
                  <a:srgbClr val="006D77"/>
                </a:solidFill>
                <a:latin typeface="Calibri" pitchFamily="34" charset="0"/>
                <a:ea typeface="Calibri" pitchFamily="34" charset="-122"/>
                <a:cs typeface="Calibri" pitchFamily="34" charset="-120"/>
              </a:rPr>
              <a:t>hallucination, instruction violation, faulty reasoning, reasoning-action mismatch, unverified success, long-horizon degradation</a:t>
            </a:r>
            <a:endParaRPr lang="en-US" sz="900" dirty="0"/>
          </a:p>
        </p:txBody>
      </p:sp>
      <p:sp>
        <p:nvSpPr>
          <p:cNvPr id="21" name="Text 19"/>
          <p:cNvSpPr/>
          <p:nvPr/>
        </p:nvSpPr>
        <p:spPr>
          <a:xfrm>
            <a:off x="5257800" y="2395728"/>
            <a:ext cx="3429000" cy="548640"/>
          </a:xfrm>
          <a:prstGeom prst="rect">
            <a:avLst/>
          </a:prstGeom>
          <a:noFill/>
          <a:ln/>
        </p:spPr>
        <p:txBody>
          <a:bodyPr wrap="square" lIns="0" tIns="0" rIns="0" bIns="0" rtlCol="0" anchor="ctr"/>
          <a:lstStyle/>
          <a:p>
            <a:pPr algn="l" indent="0" marL="0">
              <a:buNone/>
            </a:pPr>
            <a:r>
              <a:rPr lang="en-US" sz="900" dirty="0">
                <a:solidFill>
                  <a:srgbClr val="E29578"/>
                </a:solidFill>
                <a:latin typeface="Calibri" pitchFamily="34" charset="0"/>
                <a:ea typeface="Calibri" pitchFamily="34" charset="-122"/>
                <a:cs typeface="Calibri" pitchFamily="34" charset="-120"/>
              </a:rPr>
              <a:t>"requests.fetch() exists"; "undid its own fix from step 12"</a:t>
            </a:r>
            <a:endParaRPr lang="en-US" sz="900" dirty="0"/>
          </a:p>
        </p:txBody>
      </p:sp>
      <p:sp>
        <p:nvSpPr>
          <p:cNvPr id="22" name="Shape 20"/>
          <p:cNvSpPr/>
          <p:nvPr/>
        </p:nvSpPr>
        <p:spPr>
          <a:xfrm>
            <a:off x="457200" y="2999232"/>
            <a:ext cx="1600200" cy="548640"/>
          </a:xfrm>
          <a:prstGeom prst="rect">
            <a:avLst/>
          </a:prstGeom>
          <a:solidFill>
            <a:srgbClr val="006D77"/>
          </a:solidFill>
          <a:ln w="12700">
            <a:solidFill>
              <a:srgbClr val="006D77"/>
            </a:solidFill>
            <a:prstDash val="solid"/>
          </a:ln>
        </p:spPr>
      </p:sp>
      <p:sp>
        <p:nvSpPr>
          <p:cNvPr id="23" name="Text 21"/>
          <p:cNvSpPr/>
          <p:nvPr/>
        </p:nvSpPr>
        <p:spPr>
          <a:xfrm>
            <a:off x="548640" y="3026664"/>
            <a:ext cx="1463040" cy="201168"/>
          </a:xfrm>
          <a:prstGeom prst="rect">
            <a:avLst/>
          </a:prstGeom>
          <a:noFill/>
          <a:ln/>
        </p:spPr>
        <p:txBody>
          <a:bodyPr wrap="square" lIns="0" tIns="0" rIns="0" bIns="0" rtlCol="0" anchor="ctr"/>
          <a:lstStyle/>
          <a:p>
            <a:pPr algn="l" indent="0" marL="0">
              <a:buNone/>
            </a:pPr>
            <a:r>
              <a:rPr lang="en-US" sz="1050" b="1" dirty="0">
                <a:solidFill>
                  <a:srgbClr val="EDF6F9"/>
                </a:solidFill>
                <a:latin typeface="Georgia" pitchFamily="34" charset="0"/>
                <a:ea typeface="Georgia" pitchFamily="34" charset="-122"/>
                <a:cs typeface="Georgia" pitchFamily="34" charset="-120"/>
              </a:rPr>
              <a:t>Tool layer</a:t>
            </a:r>
            <a:endParaRPr lang="en-US" sz="1050" dirty="0"/>
          </a:p>
        </p:txBody>
      </p:sp>
      <p:sp>
        <p:nvSpPr>
          <p:cNvPr id="24" name="Text 22"/>
          <p:cNvSpPr/>
          <p:nvPr/>
        </p:nvSpPr>
        <p:spPr>
          <a:xfrm>
            <a:off x="548640" y="3227832"/>
            <a:ext cx="1463040" cy="164592"/>
          </a:xfrm>
          <a:prstGeom prst="rect">
            <a:avLst/>
          </a:prstGeom>
          <a:noFill/>
          <a:ln/>
        </p:spPr>
        <p:txBody>
          <a:bodyPr wrap="square" lIns="0" tIns="0" rIns="0" bIns="0" rtlCol="0" anchor="ctr"/>
          <a:lstStyle/>
          <a:p>
            <a:pPr algn="l" indent="0" marL="0">
              <a:buNone/>
            </a:pPr>
            <a:r>
              <a:rPr lang="en-US" sz="850" dirty="0">
                <a:solidFill>
                  <a:srgbClr val="83C5BE"/>
                </a:solidFill>
                <a:latin typeface="Calibri" pitchFamily="34" charset="0"/>
                <a:ea typeface="Calibri" pitchFamily="34" charset="-122"/>
                <a:cs typeface="Calibri" pitchFamily="34" charset="-120"/>
              </a:rPr>
              <a:t>tool failure</a:t>
            </a:r>
            <a:endParaRPr lang="en-US" sz="850" dirty="0"/>
          </a:p>
        </p:txBody>
      </p:sp>
      <p:sp>
        <p:nvSpPr>
          <p:cNvPr id="25" name="Text 23"/>
          <p:cNvSpPr/>
          <p:nvPr/>
        </p:nvSpPr>
        <p:spPr>
          <a:xfrm>
            <a:off x="548640" y="3383280"/>
            <a:ext cx="1463040" cy="146304"/>
          </a:xfrm>
          <a:prstGeom prst="rect">
            <a:avLst/>
          </a:prstGeom>
          <a:noFill/>
          <a:ln/>
        </p:spPr>
        <p:txBody>
          <a:bodyPr wrap="square" lIns="0" tIns="0" rIns="0" bIns="0" rtlCol="0" anchor="ctr"/>
          <a:lstStyle/>
          <a:p>
            <a:pPr algn="l" indent="0" marL="0">
              <a:buNone/>
            </a:pPr>
            <a:r>
              <a:rPr lang="en-US" sz="800" dirty="0">
                <a:solidFill>
                  <a:srgbClr val="83C5BE"/>
                </a:solidFill>
                <a:latin typeface="Calibri" pitchFamily="34" charset="0"/>
                <a:ea typeface="Calibri" pitchFamily="34" charset="-122"/>
                <a:cs typeface="Calibri" pitchFamily="34" charset="-120"/>
              </a:rPr>
              <a:t>5 modes</a:t>
            </a:r>
            <a:endParaRPr lang="en-US" sz="800" dirty="0"/>
          </a:p>
        </p:txBody>
      </p:sp>
      <p:sp>
        <p:nvSpPr>
          <p:cNvPr id="26" name="Text 24"/>
          <p:cNvSpPr/>
          <p:nvPr/>
        </p:nvSpPr>
        <p:spPr>
          <a:xfrm>
            <a:off x="2148840" y="2999232"/>
            <a:ext cx="3017520" cy="548640"/>
          </a:xfrm>
          <a:prstGeom prst="rect">
            <a:avLst/>
          </a:prstGeom>
          <a:noFill/>
          <a:ln/>
        </p:spPr>
        <p:txBody>
          <a:bodyPr wrap="square" lIns="0" tIns="0" rIns="0" bIns="0" rtlCol="0" anchor="ctr"/>
          <a:lstStyle/>
          <a:p>
            <a:pPr algn="l" indent="0" marL="0">
              <a:buNone/>
            </a:pPr>
            <a:r>
              <a:rPr lang="en-US" sz="900" dirty="0">
                <a:solidFill>
                  <a:srgbClr val="006D77"/>
                </a:solidFill>
                <a:latin typeface="Calibri" pitchFamily="34" charset="0"/>
                <a:ea typeface="Calibri" pitchFamily="34" charset="-122"/>
                <a:cs typeface="Calibri" pitchFamily="34" charset="-120"/>
              </a:rPr>
              <a:t>truncated output, silent failure, ambiguous schema, flaky call, misleading error</a:t>
            </a:r>
            <a:endParaRPr lang="en-US" sz="900" dirty="0"/>
          </a:p>
        </p:txBody>
      </p:sp>
      <p:sp>
        <p:nvSpPr>
          <p:cNvPr id="27" name="Text 25"/>
          <p:cNvSpPr/>
          <p:nvPr/>
        </p:nvSpPr>
        <p:spPr>
          <a:xfrm>
            <a:off x="5257800" y="2999232"/>
            <a:ext cx="3429000" cy="548640"/>
          </a:xfrm>
          <a:prstGeom prst="rect">
            <a:avLst/>
          </a:prstGeom>
          <a:noFill/>
          <a:ln/>
        </p:spPr>
        <p:txBody>
          <a:bodyPr wrap="square" lIns="0" tIns="0" rIns="0" bIns="0" rtlCol="0" anchor="ctr"/>
          <a:lstStyle/>
          <a:p>
            <a:pPr algn="l" indent="0" marL="0">
              <a:buNone/>
            </a:pPr>
            <a:r>
              <a:rPr lang="en-US" sz="900" dirty="0">
                <a:solidFill>
                  <a:srgbClr val="E29578"/>
                </a:solidFill>
                <a:latin typeface="Calibri" pitchFamily="34" charset="0"/>
                <a:ea typeface="Calibri" pitchFamily="34" charset="-122"/>
                <a:cs typeface="Calibri" pitchFamily="34" charset="-120"/>
              </a:rPr>
              <a:t>the first 100 lines of a log missed an error on line 4,000; a date with no time zone scheduled a job 8 hours off; retried with sudo</a:t>
            </a:r>
            <a:endParaRPr lang="en-US" sz="900" dirty="0"/>
          </a:p>
        </p:txBody>
      </p:sp>
      <p:sp>
        <p:nvSpPr>
          <p:cNvPr id="28" name="Shape 26"/>
          <p:cNvSpPr/>
          <p:nvPr/>
        </p:nvSpPr>
        <p:spPr>
          <a:xfrm>
            <a:off x="457200" y="3602736"/>
            <a:ext cx="1600200" cy="548640"/>
          </a:xfrm>
          <a:prstGeom prst="rect">
            <a:avLst/>
          </a:prstGeom>
          <a:solidFill>
            <a:srgbClr val="006D77"/>
          </a:solidFill>
          <a:ln w="12700">
            <a:solidFill>
              <a:srgbClr val="006D77"/>
            </a:solidFill>
            <a:prstDash val="solid"/>
          </a:ln>
        </p:spPr>
      </p:sp>
      <p:sp>
        <p:nvSpPr>
          <p:cNvPr id="29" name="Text 27"/>
          <p:cNvSpPr/>
          <p:nvPr/>
        </p:nvSpPr>
        <p:spPr>
          <a:xfrm>
            <a:off x="548640" y="3630168"/>
            <a:ext cx="1463040" cy="201168"/>
          </a:xfrm>
          <a:prstGeom prst="rect">
            <a:avLst/>
          </a:prstGeom>
          <a:noFill/>
          <a:ln/>
        </p:spPr>
        <p:txBody>
          <a:bodyPr wrap="square" lIns="0" tIns="0" rIns="0" bIns="0" rtlCol="0" anchor="ctr"/>
          <a:lstStyle/>
          <a:p>
            <a:pPr algn="l" indent="0" marL="0">
              <a:buNone/>
            </a:pPr>
            <a:r>
              <a:rPr lang="en-US" sz="1050" b="1" dirty="0">
                <a:solidFill>
                  <a:srgbClr val="EDF6F9"/>
                </a:solidFill>
                <a:latin typeface="Georgia" pitchFamily="34" charset="0"/>
                <a:ea typeface="Georgia" pitchFamily="34" charset="-122"/>
                <a:cs typeface="Georgia" pitchFamily="34" charset="-120"/>
              </a:rPr>
              <a:t>Environment</a:t>
            </a:r>
            <a:endParaRPr lang="en-US" sz="1050" dirty="0"/>
          </a:p>
        </p:txBody>
      </p:sp>
      <p:sp>
        <p:nvSpPr>
          <p:cNvPr id="30" name="Text 28"/>
          <p:cNvSpPr/>
          <p:nvPr/>
        </p:nvSpPr>
        <p:spPr>
          <a:xfrm>
            <a:off x="548640" y="3831336"/>
            <a:ext cx="1463040" cy="164592"/>
          </a:xfrm>
          <a:prstGeom prst="rect">
            <a:avLst/>
          </a:prstGeom>
          <a:noFill/>
          <a:ln/>
        </p:spPr>
        <p:txBody>
          <a:bodyPr wrap="square" lIns="0" tIns="0" rIns="0" bIns="0" rtlCol="0" anchor="ctr"/>
          <a:lstStyle/>
          <a:p>
            <a:pPr algn="l" indent="0" marL="0">
              <a:buNone/>
            </a:pPr>
            <a:r>
              <a:rPr lang="en-US" sz="850" dirty="0">
                <a:solidFill>
                  <a:srgbClr val="83C5BE"/>
                </a:solidFill>
                <a:latin typeface="Calibri" pitchFamily="34" charset="0"/>
                <a:ea typeface="Calibri" pitchFamily="34" charset="-122"/>
                <a:cs typeface="Calibri" pitchFamily="34" charset="-120"/>
              </a:rPr>
              <a:t>environment failure</a:t>
            </a:r>
            <a:endParaRPr lang="en-US" sz="850" dirty="0"/>
          </a:p>
        </p:txBody>
      </p:sp>
      <p:sp>
        <p:nvSpPr>
          <p:cNvPr id="31" name="Text 29"/>
          <p:cNvSpPr/>
          <p:nvPr/>
        </p:nvSpPr>
        <p:spPr>
          <a:xfrm>
            <a:off x="548640" y="3986784"/>
            <a:ext cx="1463040" cy="146304"/>
          </a:xfrm>
          <a:prstGeom prst="rect">
            <a:avLst/>
          </a:prstGeom>
          <a:noFill/>
          <a:ln/>
        </p:spPr>
        <p:txBody>
          <a:bodyPr wrap="square" lIns="0" tIns="0" rIns="0" bIns="0" rtlCol="0" anchor="ctr"/>
          <a:lstStyle/>
          <a:p>
            <a:pPr algn="l" indent="0" marL="0">
              <a:buNone/>
            </a:pPr>
            <a:r>
              <a:rPr lang="en-US" sz="800" dirty="0">
                <a:solidFill>
                  <a:srgbClr val="83C5BE"/>
                </a:solidFill>
                <a:latin typeface="Calibri" pitchFamily="34" charset="0"/>
                <a:ea typeface="Calibri" pitchFamily="34" charset="-122"/>
                <a:cs typeface="Calibri" pitchFamily="34" charset="-120"/>
              </a:rPr>
              <a:t>4 modes</a:t>
            </a:r>
            <a:endParaRPr lang="en-US" sz="800" dirty="0"/>
          </a:p>
        </p:txBody>
      </p:sp>
      <p:sp>
        <p:nvSpPr>
          <p:cNvPr id="32" name="Text 30"/>
          <p:cNvSpPr/>
          <p:nvPr/>
        </p:nvSpPr>
        <p:spPr>
          <a:xfrm>
            <a:off x="2148840" y="3602736"/>
            <a:ext cx="3017520" cy="548640"/>
          </a:xfrm>
          <a:prstGeom prst="rect">
            <a:avLst/>
          </a:prstGeom>
          <a:noFill/>
          <a:ln/>
        </p:spPr>
        <p:txBody>
          <a:bodyPr wrap="square" lIns="0" tIns="0" rIns="0" bIns="0" rtlCol="0" anchor="ctr"/>
          <a:lstStyle/>
          <a:p>
            <a:pPr algn="l" indent="0" marL="0">
              <a:buNone/>
            </a:pPr>
            <a:r>
              <a:rPr lang="en-US" sz="900" dirty="0">
                <a:solidFill>
                  <a:srgbClr val="006D77"/>
                </a:solidFill>
                <a:latin typeface="Calibri" pitchFamily="34" charset="0"/>
                <a:ea typeface="Calibri" pitchFamily="34" charset="-122"/>
                <a:cs typeface="Calibri" pitchFamily="34" charset="-120"/>
              </a:rPr>
              <a:t>stale state, version mismatch, random failure, rate limit</a:t>
            </a:r>
            <a:endParaRPr lang="en-US" sz="900" dirty="0"/>
          </a:p>
        </p:txBody>
      </p:sp>
      <p:sp>
        <p:nvSpPr>
          <p:cNvPr id="33" name="Text 31"/>
          <p:cNvSpPr/>
          <p:nvPr/>
        </p:nvSpPr>
        <p:spPr>
          <a:xfrm>
            <a:off x="5257800" y="3602736"/>
            <a:ext cx="3429000" cy="548640"/>
          </a:xfrm>
          <a:prstGeom prst="rect">
            <a:avLst/>
          </a:prstGeom>
          <a:noFill/>
          <a:ln/>
        </p:spPr>
        <p:txBody>
          <a:bodyPr wrap="square" lIns="0" tIns="0" rIns="0" bIns="0" rtlCol="0" anchor="ctr"/>
          <a:lstStyle/>
          <a:p>
            <a:pPr algn="l" indent="0" marL="0">
              <a:buNone/>
            </a:pPr>
            <a:r>
              <a:rPr lang="en-US" sz="900" dirty="0">
                <a:solidFill>
                  <a:srgbClr val="E29578"/>
                </a:solidFill>
                <a:latin typeface="Calibri" pitchFamily="34" charset="0"/>
                <a:ea typeface="Calibri" pitchFamily="34" charset="-122"/>
                <a:cs typeface="Calibri" pitchFamily="34" charset="-120"/>
              </a:rPr>
              <a:t>Python 3.8, not 3.12; HTTP 429 after 50 calls; leap year; redesigned checkout page</a:t>
            </a:r>
            <a:endParaRPr lang="en-US" sz="900" dirty="0"/>
          </a:p>
        </p:txBody>
      </p:sp>
      <p:sp>
        <p:nvSpPr>
          <p:cNvPr id="34" name="Text 32"/>
          <p:cNvSpPr/>
          <p:nvPr/>
        </p:nvSpPr>
        <p:spPr>
          <a:xfrm>
            <a:off x="457200" y="4187952"/>
            <a:ext cx="8229600" cy="384048"/>
          </a:xfrm>
          <a:prstGeom prst="rect">
            <a:avLst/>
          </a:prstGeom>
          <a:noFill/>
          <a:ln/>
        </p:spPr>
        <p:txBody>
          <a:bodyPr wrap="square" lIns="0" tIns="0" rIns="0" bIns="0" rtlCol="0" anchor="ctr"/>
          <a:lstStyle/>
          <a:p>
            <a:pPr algn="l" indent="0" marL="0">
              <a:buNone/>
            </a:pPr>
            <a:r>
              <a:rPr lang="en-US" sz="1050" dirty="0">
                <a:solidFill>
                  <a:srgbClr val="006D77"/>
                </a:solidFill>
                <a:latin typeface="Calibri" pitchFamily="34" charset="0"/>
                <a:ea typeface="Calibri" pitchFamily="34" charset="-122"/>
                <a:cs typeface="Calibri" pitchFamily="34" charset="-120"/>
              </a:rPr>
              <a:t>"We do not yet understand agents at scale, and there is little formal best practice." Designing for failure means bounding runs (step, cost, time caps), demanding evidence, failing loudly and pinning the environment.</a:t>
            </a:r>
            <a:endParaRPr lang="en-US" sz="1050" dirty="0"/>
          </a:p>
        </p:txBody>
      </p:sp>
      <p:sp>
        <p:nvSpPr>
          <p:cNvPr id="35" name="Shape 33"/>
          <p:cNvSpPr/>
          <p:nvPr/>
        </p:nvSpPr>
        <p:spPr>
          <a:xfrm>
            <a:off x="8485632" y="4645152"/>
            <a:ext cx="420624" cy="274320"/>
          </a:xfrm>
          <a:prstGeom prst="roundRect">
            <a:avLst>
              <a:gd name="adj" fmla="val 26667"/>
            </a:avLst>
          </a:prstGeom>
          <a:solidFill>
            <a:srgbClr val="006D77"/>
          </a:solidFill>
          <a:ln w="12700">
            <a:solidFill>
              <a:srgbClr val="006D77"/>
            </a:solidFill>
            <a:prstDash val="solid"/>
          </a:ln>
        </p:spPr>
      </p:sp>
      <p:sp>
        <p:nvSpPr>
          <p:cNvPr id="36" name="Text 34"/>
          <p:cNvSpPr/>
          <p:nvPr/>
        </p:nvSpPr>
        <p:spPr>
          <a:xfrm>
            <a:off x="8485632" y="4645152"/>
            <a:ext cx="420624" cy="274320"/>
          </a:xfrm>
          <a:prstGeom prst="rect">
            <a:avLst/>
          </a:prstGeom>
          <a:noFill/>
          <a:ln/>
        </p:spPr>
        <p:txBody>
          <a:bodyPr wrap="square" lIns="0" tIns="0" rIns="0" bIns="0" rtlCol="0" anchor="ctr"/>
          <a:lstStyle/>
          <a:p>
            <a:pPr algn="ctr" indent="0" marL="0">
              <a:buNone/>
            </a:pPr>
            <a:r>
              <a:rPr lang="en-US" sz="1100" dirty="0">
                <a:solidFill>
                  <a:srgbClr val="EDF6F9"/>
                </a:solidFill>
                <a:latin typeface="Calibri" pitchFamily="34" charset="0"/>
                <a:ea typeface="Calibri" pitchFamily="34" charset="-122"/>
                <a:cs typeface="Calibri" pitchFamily="34" charset="-120"/>
              </a:rPr>
              <a:t>12</a:t>
            </a:r>
            <a:endParaRPr lang="en-US" sz="1100" dirty="0"/>
          </a:p>
        </p:txBody>
      </p:sp>
      <p:sp>
        <p:nvSpPr>
          <p:cNvPr id="37" name="Shape 35"/>
          <p:cNvSpPr/>
          <p:nvPr/>
        </p:nvSpPr>
        <p:spPr>
          <a:xfrm>
            <a:off x="457200" y="4754880"/>
            <a:ext cx="7772400" cy="10973"/>
          </a:xfrm>
          <a:prstGeom prst="rect">
            <a:avLst/>
          </a:prstGeom>
          <a:solidFill>
            <a:srgbClr val="83C5BE"/>
          </a:solidFill>
          <a:ln w="12700">
            <a:solidFill>
              <a:srgbClr val="83C5BE"/>
            </a:solidFill>
            <a:prstDash val="solid"/>
          </a:ln>
        </p:spPr>
      </p:sp>
      <p:sp>
        <p:nvSpPr>
          <p:cNvPr id="38" name="Text 36"/>
          <p:cNvSpPr/>
          <p:nvPr/>
        </p:nvSpPr>
        <p:spPr>
          <a:xfrm>
            <a:off x="457200" y="4773168"/>
            <a:ext cx="7772400" cy="219456"/>
          </a:xfrm>
          <a:prstGeom prst="rect">
            <a:avLst/>
          </a:prstGeom>
          <a:noFill/>
          <a:ln/>
        </p:spPr>
        <p:txBody>
          <a:bodyPr wrap="square" lIns="0" tIns="0" rIns="0" bIns="0" rtlCol="0" anchor="ctr"/>
          <a:lstStyle/>
          <a:p>
            <a:pPr algn="l" indent="0" marL="0">
              <a:buNone/>
            </a:pPr>
            <a:r>
              <a:rPr lang="en-US" sz="900" dirty="0">
                <a:solidFill>
                  <a:srgbClr val="006D77">
                    <a:alpha val="55000"/>
                  </a:srgbClr>
                </a:solidFill>
                <a:latin typeface="Calibri" pitchFamily="34" charset="0"/>
                <a:ea typeface="Calibri" pitchFamily="34" charset="-122"/>
                <a:cs typeface="Calibri" pitchFamily="34" charset="-120"/>
              </a:rPr>
              <a:t>Source: https://cs2680.seas.harvard.edu/slides/6_agent_design_3.pdf</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DF6F9"/>
        </a:solidFill>
      </p:bgPr>
    </p:bg>
    <p:spTree>
      <p:nvGrpSpPr>
        <p:cNvPr id="1" name=""/>
        <p:cNvGrpSpPr/>
        <p:nvPr/>
      </p:nvGrpSpPr>
      <p:grpSpPr>
        <a:xfrm>
          <a:off x="0" y="0"/>
          <a:ext cx="0" cy="0"/>
          <a:chOff x="0" y="0"/>
          <a:chExt cx="0" cy="0"/>
        </a:xfrm>
      </p:grpSpPr>
      <p:sp>
        <p:nvSpPr>
          <p:cNvPr id="2" name="Text 0"/>
          <p:cNvSpPr/>
          <p:nvPr/>
        </p:nvSpPr>
        <p:spPr>
          <a:xfrm>
            <a:off x="457200" y="310896"/>
            <a:ext cx="8229600" cy="219456"/>
          </a:xfrm>
          <a:prstGeom prst="rect">
            <a:avLst/>
          </a:prstGeom>
          <a:noFill/>
          <a:ln/>
        </p:spPr>
        <p:txBody>
          <a:bodyPr wrap="square" lIns="0" tIns="0" rIns="0" bIns="0" rtlCol="0" anchor="ctr"/>
          <a:lstStyle/>
          <a:p>
            <a:pPr algn="l" indent="0" marL="0">
              <a:buNone/>
            </a:pPr>
            <a:r>
              <a:rPr lang="en-US" sz="1100" spc="140" kern="0" dirty="0">
                <a:solidFill>
                  <a:srgbClr val="E29578"/>
                </a:solidFill>
                <a:latin typeface="Calibri" pitchFamily="34" charset="0"/>
                <a:ea typeface="Calibri" pitchFamily="34" charset="-122"/>
                <a:cs typeface="Calibri" pitchFamily="34" charset="-120"/>
              </a:rPr>
              <a:t>AGENT DESIGN III WRAP-UP</a:t>
            </a:r>
            <a:endParaRPr lang="en-US" sz="1100" dirty="0"/>
          </a:p>
        </p:txBody>
      </p:sp>
      <p:sp>
        <p:nvSpPr>
          <p:cNvPr id="3" name="Text 1"/>
          <p:cNvSpPr/>
          <p:nvPr/>
        </p:nvSpPr>
        <p:spPr>
          <a:xfrm>
            <a:off x="457200" y="548640"/>
            <a:ext cx="8229600" cy="566928"/>
          </a:xfrm>
          <a:prstGeom prst="rect">
            <a:avLst/>
          </a:prstGeom>
          <a:noFill/>
          <a:ln/>
        </p:spPr>
        <p:txBody>
          <a:bodyPr wrap="square" lIns="0" tIns="0" rIns="0" bIns="0" rtlCol="0" anchor="ctr">
            <a:normAutofit/>
          </a:bodyPr>
          <a:lstStyle/>
          <a:p>
            <a:pPr algn="l" indent="0" marL="0">
              <a:buNone/>
            </a:pPr>
            <a:r>
              <a:rPr lang="en-US" sz="2700" b="1" dirty="0">
                <a:solidFill>
                  <a:srgbClr val="006D77"/>
                </a:solidFill>
                <a:latin typeface="Georgia" pitchFamily="34" charset="0"/>
                <a:ea typeface="Georgia" pitchFamily="34" charset="-122"/>
                <a:cs typeface="Georgia" pitchFamily="34" charset="-120"/>
              </a:rPr>
              <a:t>Takeaways</a:t>
            </a:r>
            <a:endParaRPr lang="en-US" sz="2700" dirty="0"/>
          </a:p>
        </p:txBody>
      </p:sp>
      <p:sp>
        <p:nvSpPr>
          <p:cNvPr id="4" name="Shape 2"/>
          <p:cNvSpPr/>
          <p:nvPr/>
        </p:nvSpPr>
        <p:spPr>
          <a:xfrm>
            <a:off x="457200" y="1280160"/>
            <a:ext cx="384048" cy="384048"/>
          </a:xfrm>
          <a:prstGeom prst="ellipse">
            <a:avLst/>
          </a:prstGeom>
          <a:solidFill>
            <a:srgbClr val="E29578"/>
          </a:solidFill>
          <a:ln w="12700">
            <a:solidFill>
              <a:srgbClr val="E29578"/>
            </a:solidFill>
            <a:prstDash val="solid"/>
          </a:ln>
        </p:spPr>
      </p:sp>
      <p:sp>
        <p:nvSpPr>
          <p:cNvPr id="5" name="Text 3"/>
          <p:cNvSpPr/>
          <p:nvPr/>
        </p:nvSpPr>
        <p:spPr>
          <a:xfrm>
            <a:off x="457200" y="1280160"/>
            <a:ext cx="384048" cy="384048"/>
          </a:xfrm>
          <a:prstGeom prst="rect">
            <a:avLst/>
          </a:prstGeom>
          <a:noFill/>
          <a:ln/>
        </p:spPr>
        <p:txBody>
          <a:bodyPr wrap="square" lIns="0" tIns="0" rIns="0" bIns="0" rtlCol="0" anchor="ctr"/>
          <a:lstStyle/>
          <a:p>
            <a:pPr algn="ctr" indent="0" marL="0">
              <a:buNone/>
            </a:pPr>
            <a:r>
              <a:rPr lang="en-US" sz="1300" b="1" dirty="0">
                <a:solidFill>
                  <a:srgbClr val="006D77"/>
                </a:solidFill>
                <a:latin typeface="Georgia" pitchFamily="34" charset="0"/>
                <a:ea typeface="Georgia" pitchFamily="34" charset="-122"/>
                <a:cs typeface="Georgia" pitchFamily="34" charset="-120"/>
              </a:rPr>
              <a:t>1</a:t>
            </a:r>
            <a:endParaRPr lang="en-US" sz="1300" dirty="0"/>
          </a:p>
        </p:txBody>
      </p:sp>
      <p:sp>
        <p:nvSpPr>
          <p:cNvPr id="6" name="Text 4"/>
          <p:cNvSpPr/>
          <p:nvPr/>
        </p:nvSpPr>
        <p:spPr>
          <a:xfrm>
            <a:off x="987552" y="1243584"/>
            <a:ext cx="4800600" cy="658368"/>
          </a:xfrm>
          <a:prstGeom prst="rect">
            <a:avLst/>
          </a:prstGeom>
          <a:noFill/>
          <a:ln/>
        </p:spPr>
        <p:txBody>
          <a:bodyPr wrap="square" lIns="0" tIns="0" rIns="0" bIns="0" rtlCol="0" anchor="t"/>
          <a:lstStyle/>
          <a:p>
            <a:pPr algn="l" indent="0" marL="0">
              <a:buNone/>
            </a:pPr>
            <a:r>
              <a:rPr lang="en-US" sz="1200" dirty="0">
                <a:solidFill>
                  <a:srgbClr val="006D77"/>
                </a:solidFill>
                <a:latin typeface="Calibri" pitchFamily="34" charset="0"/>
                <a:ea typeface="Calibri" pitchFamily="34" charset="-122"/>
                <a:cs typeface="Calibri" pitchFamily="34" charset="-120"/>
              </a:rPr>
              <a:t>Memory design is a chain of policy decisions: keep, format, store, retrieve, consolidate, forget.</a:t>
            </a:r>
            <a:endParaRPr lang="en-US" sz="1200" dirty="0"/>
          </a:p>
        </p:txBody>
      </p:sp>
      <p:sp>
        <p:nvSpPr>
          <p:cNvPr id="7" name="Shape 5"/>
          <p:cNvSpPr/>
          <p:nvPr/>
        </p:nvSpPr>
        <p:spPr>
          <a:xfrm>
            <a:off x="457200" y="2148840"/>
            <a:ext cx="384048" cy="384048"/>
          </a:xfrm>
          <a:prstGeom prst="ellipse">
            <a:avLst/>
          </a:prstGeom>
          <a:solidFill>
            <a:srgbClr val="E29578"/>
          </a:solidFill>
          <a:ln w="12700">
            <a:solidFill>
              <a:srgbClr val="E29578"/>
            </a:solidFill>
            <a:prstDash val="solid"/>
          </a:ln>
        </p:spPr>
      </p:sp>
      <p:sp>
        <p:nvSpPr>
          <p:cNvPr id="8" name="Text 6"/>
          <p:cNvSpPr/>
          <p:nvPr/>
        </p:nvSpPr>
        <p:spPr>
          <a:xfrm>
            <a:off x="457200" y="2148840"/>
            <a:ext cx="384048" cy="384048"/>
          </a:xfrm>
          <a:prstGeom prst="rect">
            <a:avLst/>
          </a:prstGeom>
          <a:noFill/>
          <a:ln/>
        </p:spPr>
        <p:txBody>
          <a:bodyPr wrap="square" lIns="0" tIns="0" rIns="0" bIns="0" rtlCol="0" anchor="ctr"/>
          <a:lstStyle/>
          <a:p>
            <a:pPr algn="ctr" indent="0" marL="0">
              <a:buNone/>
            </a:pPr>
            <a:r>
              <a:rPr lang="en-US" sz="1300" b="1" dirty="0">
                <a:solidFill>
                  <a:srgbClr val="006D77"/>
                </a:solidFill>
                <a:latin typeface="Georgia" pitchFamily="34" charset="0"/>
                <a:ea typeface="Georgia" pitchFamily="34" charset="-122"/>
                <a:cs typeface="Georgia" pitchFamily="34" charset="-120"/>
              </a:rPr>
              <a:t>2</a:t>
            </a:r>
            <a:endParaRPr lang="en-US" sz="1300" dirty="0"/>
          </a:p>
        </p:txBody>
      </p:sp>
      <p:sp>
        <p:nvSpPr>
          <p:cNvPr id="9" name="Text 7"/>
          <p:cNvSpPr/>
          <p:nvPr/>
        </p:nvSpPr>
        <p:spPr>
          <a:xfrm>
            <a:off x="987552" y="2112264"/>
            <a:ext cx="4800600" cy="658368"/>
          </a:xfrm>
          <a:prstGeom prst="rect">
            <a:avLst/>
          </a:prstGeom>
          <a:noFill/>
          <a:ln/>
        </p:spPr>
        <p:txBody>
          <a:bodyPr wrap="square" lIns="0" tIns="0" rIns="0" bIns="0" rtlCol="0" anchor="t"/>
          <a:lstStyle/>
          <a:p>
            <a:pPr algn="l" indent="0" marL="0">
              <a:buNone/>
            </a:pPr>
            <a:r>
              <a:rPr lang="en-US" sz="1200" dirty="0">
                <a:solidFill>
                  <a:srgbClr val="006D77"/>
                </a:solidFill>
                <a:latin typeface="Calibri" pitchFamily="34" charset="0"/>
                <a:ea typeface="Calibri" pitchFamily="34" charset="-122"/>
                <a:cs typeface="Calibri" pitchFamily="34" charset="-120"/>
              </a:rPr>
              <a:t>Reliability compounds: bound every run and attribute every failure to one of five layers.</a:t>
            </a:r>
            <a:endParaRPr lang="en-US" sz="1200" dirty="0"/>
          </a:p>
        </p:txBody>
      </p:sp>
      <p:sp>
        <p:nvSpPr>
          <p:cNvPr id="10" name="Shape 8"/>
          <p:cNvSpPr/>
          <p:nvPr/>
        </p:nvSpPr>
        <p:spPr>
          <a:xfrm>
            <a:off x="457200" y="3017520"/>
            <a:ext cx="384048" cy="384048"/>
          </a:xfrm>
          <a:prstGeom prst="ellipse">
            <a:avLst/>
          </a:prstGeom>
          <a:solidFill>
            <a:srgbClr val="E29578"/>
          </a:solidFill>
          <a:ln w="12700">
            <a:solidFill>
              <a:srgbClr val="E29578"/>
            </a:solidFill>
            <a:prstDash val="solid"/>
          </a:ln>
        </p:spPr>
      </p:sp>
      <p:sp>
        <p:nvSpPr>
          <p:cNvPr id="11" name="Text 9"/>
          <p:cNvSpPr/>
          <p:nvPr/>
        </p:nvSpPr>
        <p:spPr>
          <a:xfrm>
            <a:off x="457200" y="3017520"/>
            <a:ext cx="384048" cy="384048"/>
          </a:xfrm>
          <a:prstGeom prst="rect">
            <a:avLst/>
          </a:prstGeom>
          <a:noFill/>
          <a:ln/>
        </p:spPr>
        <p:txBody>
          <a:bodyPr wrap="square" lIns="0" tIns="0" rIns="0" bIns="0" rtlCol="0" anchor="ctr"/>
          <a:lstStyle/>
          <a:p>
            <a:pPr algn="ctr" indent="0" marL="0">
              <a:buNone/>
            </a:pPr>
            <a:r>
              <a:rPr lang="en-US" sz="1300" b="1" dirty="0">
                <a:solidFill>
                  <a:srgbClr val="006D77"/>
                </a:solidFill>
                <a:latin typeface="Georgia" pitchFamily="34" charset="0"/>
                <a:ea typeface="Georgia" pitchFamily="34" charset="-122"/>
                <a:cs typeface="Georgia" pitchFamily="34" charset="-120"/>
              </a:rPr>
              <a:t>3</a:t>
            </a:r>
            <a:endParaRPr lang="en-US" sz="1300" dirty="0"/>
          </a:p>
        </p:txBody>
      </p:sp>
      <p:sp>
        <p:nvSpPr>
          <p:cNvPr id="12" name="Text 10"/>
          <p:cNvSpPr/>
          <p:nvPr/>
        </p:nvSpPr>
        <p:spPr>
          <a:xfrm>
            <a:off x="987552" y="2980944"/>
            <a:ext cx="4800600" cy="658368"/>
          </a:xfrm>
          <a:prstGeom prst="rect">
            <a:avLst/>
          </a:prstGeom>
          <a:noFill/>
          <a:ln/>
        </p:spPr>
        <p:txBody>
          <a:bodyPr wrap="square" lIns="0" tIns="0" rIns="0" bIns="0" rtlCol="0" anchor="t"/>
          <a:lstStyle/>
          <a:p>
            <a:pPr algn="l" indent="0" marL="0">
              <a:buNone/>
            </a:pPr>
            <a:r>
              <a:rPr lang="en-US" sz="1200" dirty="0">
                <a:solidFill>
                  <a:srgbClr val="006D77"/>
                </a:solidFill>
                <a:latin typeface="Calibri" pitchFamily="34" charset="0"/>
                <a:ea typeface="Calibri" pitchFamily="34" charset="-122"/>
                <a:cs typeface="Calibri" pitchFamily="34" charset="-120"/>
              </a:rPr>
              <a:t>Valid time and provenance are part of the data model, not metadata you add later.</a:t>
            </a:r>
            <a:endParaRPr lang="en-US" sz="1200" dirty="0"/>
          </a:p>
        </p:txBody>
      </p:sp>
      <p:sp>
        <p:nvSpPr>
          <p:cNvPr id="13" name="Shape 11"/>
          <p:cNvSpPr/>
          <p:nvPr/>
        </p:nvSpPr>
        <p:spPr>
          <a:xfrm>
            <a:off x="6035040" y="1207008"/>
            <a:ext cx="2651760" cy="2651760"/>
          </a:xfrm>
          <a:prstGeom prst="rect">
            <a:avLst/>
          </a:prstGeom>
          <a:solidFill>
            <a:srgbClr val="FFDDD2"/>
          </a:solidFill>
          <a:ln w="9525">
            <a:solidFill>
              <a:srgbClr val="83C5BE"/>
            </a:solidFill>
            <a:prstDash val="solid"/>
          </a:ln>
          <a:effectLst>
            <a:outerShdw sx="100000" sy="100000" kx="0" ky="0" algn="bl" rotWithShape="0" blurRad="101600" dist="25400" dir="5400000">
              <a:srgbClr val="006d77">
                <a:alpha val="12000"/>
              </a:srgbClr>
            </a:outerShdw>
          </a:effectLst>
        </p:spPr>
      </p:sp>
      <p:sp>
        <p:nvSpPr>
          <p:cNvPr id="14" name="Shape 12"/>
          <p:cNvSpPr/>
          <p:nvPr/>
        </p:nvSpPr>
        <p:spPr>
          <a:xfrm>
            <a:off x="6035040" y="1207008"/>
            <a:ext cx="50292" cy="2651760"/>
          </a:xfrm>
          <a:prstGeom prst="rect">
            <a:avLst/>
          </a:prstGeom>
          <a:solidFill>
            <a:srgbClr val="E29578"/>
          </a:solidFill>
          <a:ln w="12700">
            <a:solidFill>
              <a:srgbClr val="E29578"/>
            </a:solidFill>
            <a:prstDash val="solid"/>
          </a:ln>
        </p:spPr>
      </p:sp>
      <p:sp>
        <p:nvSpPr>
          <p:cNvPr id="15" name="Text 13"/>
          <p:cNvSpPr/>
          <p:nvPr/>
        </p:nvSpPr>
        <p:spPr>
          <a:xfrm>
            <a:off x="6217920" y="1353312"/>
            <a:ext cx="2322576" cy="256032"/>
          </a:xfrm>
          <a:prstGeom prst="rect">
            <a:avLst/>
          </a:prstGeom>
          <a:noFill/>
          <a:ln/>
        </p:spPr>
        <p:txBody>
          <a:bodyPr wrap="square" lIns="0" tIns="0" rIns="0" bIns="0" rtlCol="0" anchor="ctr"/>
          <a:lstStyle/>
          <a:p>
            <a:pPr algn="l" indent="0" marL="0">
              <a:buNone/>
            </a:pPr>
            <a:r>
              <a:rPr lang="en-US" sz="1200" b="1" dirty="0">
                <a:solidFill>
                  <a:srgbClr val="006D77"/>
                </a:solidFill>
                <a:latin typeface="Georgia" pitchFamily="34" charset="0"/>
                <a:ea typeface="Georgia" pitchFamily="34" charset="-122"/>
                <a:cs typeface="Georgia" pitchFamily="34" charset="-120"/>
              </a:rPr>
              <a:t>The deck's closing position</a:t>
            </a:r>
            <a:endParaRPr lang="en-US" sz="1200" dirty="0"/>
          </a:p>
        </p:txBody>
      </p:sp>
      <p:sp>
        <p:nvSpPr>
          <p:cNvPr id="16" name="Text 14"/>
          <p:cNvSpPr/>
          <p:nvPr/>
        </p:nvSpPr>
        <p:spPr>
          <a:xfrm>
            <a:off x="6217920" y="1645920"/>
            <a:ext cx="2322576" cy="1005840"/>
          </a:xfrm>
          <a:prstGeom prst="rect">
            <a:avLst/>
          </a:prstGeom>
          <a:noFill/>
          <a:ln/>
        </p:spPr>
        <p:txBody>
          <a:bodyPr wrap="square" lIns="0" tIns="0" rIns="0" bIns="0" rtlCol="0" anchor="t"/>
          <a:lstStyle/>
          <a:p>
            <a:pPr algn="l" indent="0" marL="0">
              <a:buNone/>
            </a:pPr>
            <a:r>
              <a:rPr lang="en-US" sz="1100" dirty="0">
                <a:solidFill>
                  <a:srgbClr val="006D77"/>
                </a:solidFill>
                <a:latin typeface="Calibri" pitchFamily="34" charset="0"/>
                <a:ea typeface="Calibri" pitchFamily="34" charset="-122"/>
                <a:cs typeface="Calibri" pitchFamily="34" charset="-120"/>
              </a:rPr>
              <a:t>"We do not yet understand agents at scale, and there is little formal best practice."</a:t>
            </a:r>
            <a:endParaRPr lang="en-US" sz="1100" dirty="0"/>
          </a:p>
        </p:txBody>
      </p:sp>
      <p:sp>
        <p:nvSpPr>
          <p:cNvPr id="17" name="Text 15"/>
          <p:cNvSpPr/>
          <p:nvPr/>
        </p:nvSpPr>
        <p:spPr>
          <a:xfrm>
            <a:off x="6217920" y="2724912"/>
            <a:ext cx="2322576" cy="1005840"/>
          </a:xfrm>
          <a:prstGeom prst="rect">
            <a:avLst/>
          </a:prstGeom>
          <a:noFill/>
          <a:ln/>
        </p:spPr>
        <p:txBody>
          <a:bodyPr wrap="square" lIns="0" tIns="0" rIns="0" bIns="0" rtlCol="0" anchor="t"/>
          <a:lstStyle/>
          <a:p>
            <a:pPr algn="l" indent="0" marL="0">
              <a:buNone/>
            </a:pPr>
            <a:r>
              <a:rPr lang="en-US" sz="1000" dirty="0">
                <a:solidFill>
                  <a:srgbClr val="E29578"/>
                </a:solidFill>
                <a:latin typeface="Calibri" pitchFamily="34" charset="0"/>
                <a:ea typeface="Calibri" pitchFamily="34" charset="-122"/>
                <a:cs typeface="Calibri" pitchFamily="34" charset="-120"/>
              </a:rPr>
              <a:t>The deliverable is a checklist of bounds - step, cost and time caps, checkpoints, typed schemas, pinned environments - not a recipe.</a:t>
            </a:r>
            <a:endParaRPr lang="en-US" sz="1000" dirty="0"/>
          </a:p>
        </p:txBody>
      </p:sp>
      <p:sp>
        <p:nvSpPr>
          <p:cNvPr id="18" name="Shape 16"/>
          <p:cNvSpPr/>
          <p:nvPr/>
        </p:nvSpPr>
        <p:spPr>
          <a:xfrm>
            <a:off x="457200" y="4041648"/>
            <a:ext cx="8229600" cy="475488"/>
          </a:xfrm>
          <a:prstGeom prst="rect">
            <a:avLst/>
          </a:prstGeom>
          <a:solidFill>
            <a:srgbClr val="83C5BE"/>
          </a:solidFill>
          <a:ln w="12700">
            <a:solidFill>
              <a:srgbClr val="83C5BE"/>
            </a:solidFill>
            <a:prstDash val="solid"/>
          </a:ln>
        </p:spPr>
      </p:sp>
      <p:sp>
        <p:nvSpPr>
          <p:cNvPr id="19" name="Text 17"/>
          <p:cNvSpPr/>
          <p:nvPr/>
        </p:nvSpPr>
        <p:spPr>
          <a:xfrm>
            <a:off x="621792" y="4041648"/>
            <a:ext cx="7863840" cy="475488"/>
          </a:xfrm>
          <a:prstGeom prst="rect">
            <a:avLst/>
          </a:prstGeom>
          <a:noFill/>
          <a:ln/>
        </p:spPr>
        <p:txBody>
          <a:bodyPr wrap="square" lIns="0" tIns="0" rIns="0" bIns="0" rtlCol="0" anchor="ctr"/>
          <a:lstStyle/>
          <a:p>
            <a:pPr algn="l" indent="0" marL="0">
              <a:buNone/>
            </a:pPr>
            <a:r>
              <a:rPr lang="en-US" sz="1100" dirty="0">
                <a:solidFill>
                  <a:srgbClr val="006D77"/>
                </a:solidFill>
                <a:latin typeface="Calibri" pitchFamily="34" charset="0"/>
                <a:ea typeface="Calibri" pitchFamily="34" charset="-122"/>
                <a:cs typeface="Calibri" pitchFamily="34" charset="-120"/>
              </a:rPr>
              <a:t>Next class: Agent design IV - agent evaluation.</a:t>
            </a:r>
            <a:endParaRPr lang="en-US" sz="1100" dirty="0"/>
          </a:p>
        </p:txBody>
      </p:sp>
      <p:sp>
        <p:nvSpPr>
          <p:cNvPr id="20" name="Shape 18"/>
          <p:cNvSpPr/>
          <p:nvPr/>
        </p:nvSpPr>
        <p:spPr>
          <a:xfrm>
            <a:off x="8485632" y="4645152"/>
            <a:ext cx="420624" cy="274320"/>
          </a:xfrm>
          <a:prstGeom prst="roundRect">
            <a:avLst>
              <a:gd name="adj" fmla="val 26667"/>
            </a:avLst>
          </a:prstGeom>
          <a:solidFill>
            <a:srgbClr val="006D77"/>
          </a:solidFill>
          <a:ln w="12700">
            <a:solidFill>
              <a:srgbClr val="006D77"/>
            </a:solidFill>
            <a:prstDash val="solid"/>
          </a:ln>
        </p:spPr>
      </p:sp>
      <p:sp>
        <p:nvSpPr>
          <p:cNvPr id="21" name="Text 19"/>
          <p:cNvSpPr/>
          <p:nvPr/>
        </p:nvSpPr>
        <p:spPr>
          <a:xfrm>
            <a:off x="8485632" y="4645152"/>
            <a:ext cx="420624" cy="274320"/>
          </a:xfrm>
          <a:prstGeom prst="rect">
            <a:avLst/>
          </a:prstGeom>
          <a:noFill/>
          <a:ln/>
        </p:spPr>
        <p:txBody>
          <a:bodyPr wrap="square" lIns="0" tIns="0" rIns="0" bIns="0" rtlCol="0" anchor="ctr"/>
          <a:lstStyle/>
          <a:p>
            <a:pPr algn="ctr" indent="0" marL="0">
              <a:buNone/>
            </a:pPr>
            <a:r>
              <a:rPr lang="en-US" sz="1100" dirty="0">
                <a:solidFill>
                  <a:srgbClr val="EDF6F9"/>
                </a:solidFill>
                <a:latin typeface="Calibri" pitchFamily="34" charset="0"/>
                <a:ea typeface="Calibri" pitchFamily="34" charset="-122"/>
                <a:cs typeface="Calibri" pitchFamily="34" charset="-120"/>
              </a:rPr>
              <a:t>13</a:t>
            </a:r>
            <a:endParaRPr lang="en-US" sz="1100" dirty="0"/>
          </a:p>
        </p:txBody>
      </p:sp>
      <p:sp>
        <p:nvSpPr>
          <p:cNvPr id="22" name="Shape 20"/>
          <p:cNvSpPr/>
          <p:nvPr/>
        </p:nvSpPr>
        <p:spPr>
          <a:xfrm>
            <a:off x="457200" y="4754880"/>
            <a:ext cx="7772400" cy="10973"/>
          </a:xfrm>
          <a:prstGeom prst="rect">
            <a:avLst/>
          </a:prstGeom>
          <a:solidFill>
            <a:srgbClr val="83C5BE"/>
          </a:solidFill>
          <a:ln w="12700">
            <a:solidFill>
              <a:srgbClr val="83C5BE"/>
            </a:solidFill>
            <a:prstDash val="solid"/>
          </a:ln>
        </p:spPr>
      </p:sp>
      <p:sp>
        <p:nvSpPr>
          <p:cNvPr id="23" name="Text 21"/>
          <p:cNvSpPr/>
          <p:nvPr/>
        </p:nvSpPr>
        <p:spPr>
          <a:xfrm>
            <a:off x="457200" y="4773168"/>
            <a:ext cx="7772400" cy="219456"/>
          </a:xfrm>
          <a:prstGeom prst="rect">
            <a:avLst/>
          </a:prstGeom>
          <a:noFill/>
          <a:ln/>
        </p:spPr>
        <p:txBody>
          <a:bodyPr wrap="square" lIns="0" tIns="0" rIns="0" bIns="0" rtlCol="0" anchor="ctr"/>
          <a:lstStyle/>
          <a:p>
            <a:pPr algn="l" indent="0" marL="0">
              <a:buNone/>
            </a:pPr>
            <a:r>
              <a:rPr lang="en-US" sz="900" dirty="0">
                <a:solidFill>
                  <a:srgbClr val="006D77">
                    <a:alpha val="55000"/>
                  </a:srgbClr>
                </a:solidFill>
                <a:latin typeface="Calibri" pitchFamily="34" charset="0"/>
                <a:ea typeface="Calibri" pitchFamily="34" charset="-122"/>
                <a:cs typeface="Calibri" pitchFamily="34" charset="-120"/>
              </a:rPr>
              <a:t>Source: https://cs2680.seas.harvard.edu/slides/6_agent_design_3.pdf</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Derived from the public CS2680 course site, Harvard SEAS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lecture-06-agent-design-3</dc:title>
  <dc:subject>CS2680 Modern AI Systems: Agents and System Optimizations</dc:subject>
  <dc:creator>CS2680 Courseware (personal study mirror)</dc:creator>
  <cp:lastModifiedBy>CS2680 Courseware (personal study mirror)</cp:lastModifiedBy>
  <cp:revision>1</cp:revision>
  <dcterms:created xsi:type="dcterms:W3CDTF">2026-10-19T17:39:52Z</dcterms:created>
  <dcterms:modified xsi:type="dcterms:W3CDTF">2026-10-19T17:39:52Z</dcterms:modified>
</cp:coreProperties>
</file>