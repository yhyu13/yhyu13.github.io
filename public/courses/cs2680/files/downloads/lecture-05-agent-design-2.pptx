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60120"/>
            <a:ext cx="960120" cy="548640"/>
          </a:xfrm>
          <a:prstGeom prst="rect">
            <a:avLst/>
          </a:prstGeom>
          <a:solidFill>
            <a:srgbClr val="FFDDD2"/>
          </a:solidFill>
          <a:ln w="12700">
            <a:solidFill>
              <a:srgbClr val="FFD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960120"/>
            <a:ext cx="960120" cy="548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691640"/>
            <a:ext cx="960120" cy="5486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691640"/>
            <a:ext cx="960120" cy="548640"/>
          </a:xfrm>
          <a:prstGeom prst="rect">
            <a:avLst/>
          </a:prstGeom>
          <a:solidFill>
            <a:srgbClr val="FFDDD2"/>
          </a:solidFill>
          <a:ln w="12700">
            <a:solidFill>
              <a:srgbClr val="FFDD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423160"/>
            <a:ext cx="960120" cy="548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2423160"/>
            <a:ext cx="960120" cy="5486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154680"/>
            <a:ext cx="960120" cy="5486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154680"/>
            <a:ext cx="960120" cy="548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931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051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1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/ Harvard SEAS / Juncheng Yang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design II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architecture, coordination, and communication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 .  2026-09-23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deck: course/site/slides/5_agent_design_2.pdf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SPLIT-WORK REASONS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split work across agents at all?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to split work across agents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011680" cy="16916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14600"/>
            <a:ext cx="50292" cy="16916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6090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16936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"Multi-agent has decades of research history which we will not get into."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353312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18688" y="128016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8688" y="1554480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models, prompts and tools per agent.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066544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8688" y="199339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18688" y="2267712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privileges per agent.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0" y="2779776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18688" y="270662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18688" y="2980944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subtasks run concurrently.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3493008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18688" y="341985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management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18688" y="3694176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every agent the whole trajectory.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closes with "is multi-agent really necessary?" - multi-agent is presented as a cost, not a default.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SPINE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graphs describe any multi-agent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926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926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graph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72768" y="1627632"/>
            <a:ext cx="457200" cy="256032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993392"/>
            <a:ext cx="45720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4248" y="1993392"/>
            <a:ext cx="45720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hierarchy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- possibly changing at runtime via handoff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2926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50292" cy="2926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807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graph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627632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1627632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627632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011680"/>
            <a:ext cx="1682496" cy="256032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9572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messages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workspace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2651760" cy="29260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234440"/>
            <a:ext cx="50292" cy="2926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807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graph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1664208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59168" y="1664208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63256" y="1664208"/>
            <a:ext cx="365760" cy="256032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709928"/>
            <a:ext cx="219456" cy="164592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0648" y="1709928"/>
            <a:ext cx="219456" cy="164592"/>
          </a:xfrm>
          <a:prstGeom prst="rightArrow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395728"/>
            <a:ext cx="2322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front by a planner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bidding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Emergently, from local rules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slide ends with the same three-field tag line (Task, Control, Comms), so any multi-agent diagram can be read with that vocabulary.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GALLERY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architectures, eight named weaknesses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Supervisor-worker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plans, delegates and integrates; workers see only their subtask.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the supervisor bottleneck - it re-reads every result.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55748" y="1207008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55748" y="1207008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8628" y="13533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38628" y="1591056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Supervisor-worker applied recursively, with supervisors managing sub-supervisors.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38628" y="21214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where decomposition happens, and how much context crosses it.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54296" y="1207008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207008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3533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/ DAG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37176" y="1591056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stages with a typed contract at each boundary.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21214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no path backwards.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52844" y="1207008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2844" y="1207008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5724" y="13533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35724" y="1591056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through shared state instead of direct messages.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5724" y="212140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consistency, concurrency control, provenance, versioning.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43200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895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/ debate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12724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and discuss, then a judge or vote resolves.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agreement without independence.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55748" y="2743200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55748" y="2743200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8628" y="28895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/ auction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38628" y="312724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bid for announced tasks on capability, cost and latency.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38628" y="36576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bids are self-reported.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54296" y="2743200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54296" y="2743200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8895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37176" y="312724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coordinator; needs discovery, addressing, sync, termination, trust.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37176" y="36576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O(n^2) all-to-all communication; rarely used in products.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52844" y="2743200"/>
            <a:ext cx="1920240" cy="144475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52844" y="2743200"/>
            <a:ext cx="50292" cy="144475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5724" y="288950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topology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935724" y="312724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Adds, removes or rewires agents while the task runs.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35724" y="365760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failures are hard to reproduce.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table classifies them as Centralized, Decentralized or Hybrid. Real systems are hybrids: "Planner agent + Coder/Researcher/Tester/Reviewer + Shared Git + dynamic task DAG".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CENTRALIZED SHAPES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Supervisor-worker and hierarchical supervision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25296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Supervisor-worker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48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plans, delegates and integrates; workers see only their subtask.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are independent and parallelizable.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bottleneck - it re-reads every result and its context grows fastest.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92808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45536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225296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25296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716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648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supervisor-worker applied recursively, with supervisors managing sub-supervisors.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that already decompose hierarchically (storage, query engine, testing).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</a:t>
            </a:r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decomposition happens and how much context crosses each boundary.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97496" y="3840480"/>
            <a:ext cx="1143000" cy="2743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7496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is the context bottleneck: it re-reads every result, and its context grows fastest.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AND SHARED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/ DAG, and the blackboard alternative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51560" cy="54864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527048" y="160934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0784" y="1463040"/>
            <a:ext cx="1051560" cy="54864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0784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70632" y="160934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44368" y="1463040"/>
            <a:ext cx="1051560" cy="54864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14216" y="1609344"/>
            <a:ext cx="146304" cy="256032"/>
          </a:xfrm>
          <a:prstGeom prst="rightArrow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7952" y="1463040"/>
            <a:ext cx="1051560" cy="54864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463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06654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contract at each boundary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topology to debug: errors localize to a stage.</a:t>
            </a:r>
            <a:endParaRPr lang="en-US" sz="11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backwards: stage four cannot ask stage one for a better source.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782312" cy="713232"/>
          </a:xfrm>
          <a:prstGeom prst="rect">
            <a:avLst/>
          </a:prstGeom>
          <a:solidFill>
            <a:srgbClr val="FFDDD2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461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 maxim: "one retry edge beats one more agent".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225296"/>
            <a:ext cx="310896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1225296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37160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Blackboard / shared 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1700784"/>
            <a:ext cx="2779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through shared state instead of direct messages.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may be a database, vector store, filesystem, Git repo or task graph.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join or leave without rewiring; shared state is durable and inspectable.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0" y="31455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3401568"/>
            <a:ext cx="896112" cy="3017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401568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02552" y="3401568"/>
            <a:ext cx="896112" cy="3017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3401568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44384" y="3401568"/>
            <a:ext cx="896112" cy="3017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44384" y="3401568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3749040"/>
            <a:ext cx="896112" cy="3017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749040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02552" y="3749040"/>
            <a:ext cx="896112" cy="3017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3749040"/>
            <a:ext cx="8961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localises errors; a blackboard localises state. Neither has a path backwards.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MULTI-AGENT SYSTEMS BREAK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Committee, market, swarm, dynamic topology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977640" cy="151790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50292" cy="151790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/ debate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propose and discuss, then a judge or vote resolves.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agreement without independence - the same model and context means the same blind spot.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07008"/>
            <a:ext cx="3977640" cy="151790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07008"/>
            <a:ext cx="50292" cy="151790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53312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/ auction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91056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bid for announced tasks on capability, cost and latency, so work lands on the cheapest capable agent.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938528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Bids: A100 $0.20 / 3s; T4 $0.05 / 10s; H100 $0.40 / 1s. "Cheapest bid under 5s wins" - the job goes to the A100 node.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648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bids are self-reported, so an agent can win by overstating what it can do.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3977640" cy="151790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79776"/>
            <a:ext cx="50292" cy="151790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163824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coordinator. It needs protocols for discovery, addressing, synchronization, termination and trust.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58444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communication complexity is O(n^2) all-to-all, and it is rarely used in products.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779776"/>
            <a:ext cx="3977640" cy="1517904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79776"/>
            <a:ext cx="50292" cy="151790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2608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topology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163824"/>
            <a:ext cx="3648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Adds, removes or rewires agents while the task runs - a support bot adding billing and log agents only on escalation - so capacity scales with difficulty.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71246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failures are hard to reproduce.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ships with a named weakness: read the architecture with the failure mode in mind.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AXES, FOUR MODES, FOUR BOUNDS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Decomposing the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977640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axes to decompose along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1691640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112264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12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51176" y="2112264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2112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32888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51176" y="2532888"/>
            <a:ext cx="1737360" cy="365760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80944"/>
            <a:ext cx="3648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200-file PR split by data (files), then by expertise (security, perf).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207008"/>
            <a:ext cx="3977640" cy="2286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07008"/>
            <a:ext cx="50292" cy="2286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5331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decomposition modes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691640"/>
            <a:ext cx="850392" cy="36576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691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24728" y="1691640"/>
            <a:ext cx="850392" cy="36576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4728" y="1691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57416" y="1691640"/>
            <a:ext cx="850392" cy="36576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1691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90104" y="1691640"/>
            <a:ext cx="850392" cy="365760"/>
          </a:xfrm>
          <a:prstGeom prst="rect">
            <a:avLst/>
          </a:prstGeom>
          <a:solidFill>
            <a:srgbClr val="E29578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1691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Opportunistic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139696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can be static, dynamic, recursive or opportunistic.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46888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answers "who decides the split, and when?".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602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 the decomposition, or delegation explodes: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3877056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spawning limits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0" y="3877056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877056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limits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3877056"/>
            <a:ext cx="1920240" cy="384048"/>
          </a:xfrm>
          <a:prstGeom prst="rect">
            <a:avLst/>
          </a:prstGeom>
          <a:solidFill>
            <a:srgbClr val="FFDDD2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conditions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DELEGATION CHECKABLE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sub-task spec: eight required fields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required fields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83664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836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1883664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relevant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24128" y="2194560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exclusions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505456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05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24128" y="2505456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 and permissions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816352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163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4128" y="281635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schema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127248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27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24128" y="3127248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438144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381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4128" y="3438144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deadline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274320" cy="237744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4128" y="3749040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207008"/>
            <a:ext cx="3977640" cy="30175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207008"/>
            <a:ext cx="50292" cy="3017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353312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vs better sub-task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"Research storage systems"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92040" y="2194560"/>
            <a:ext cx="3648456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322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542032"/>
            <a:ext cx="3648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"identify storage-related papers published in 2026; return title, date, system contribution, evaluation scale and primary-source URL; exclude database query optimization"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92040" y="3602736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version states a year, the fields to return, the source of record, and an explicit exclusion.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261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is a tradeoff: parallelization only helps when the saved sequential work exceeds the planning, communication and integration cost.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Granularity: what a multi-agent run actually costs in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777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T_multi  ~=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188720"/>
            <a:ext cx="1645920" cy="60350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188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T_planning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1645920" cy="60350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T_critical_path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188720"/>
            <a:ext cx="1645920" cy="60350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88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T_communication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645920" cy="603504"/>
          </a:xfrm>
          <a:prstGeom prst="rect">
            <a:avLst/>
          </a:prstGeom>
          <a:solidFill>
            <a:srgbClr val="83C5BE"/>
          </a:solidFill>
          <a:ln w="9525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1887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T_merge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18872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named decomposition failures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47088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38528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36976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28416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dependency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26864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Unmergeable outputs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16752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08192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global context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2103120"/>
            <a:ext cx="1280160" cy="658368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98080" y="23042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871216"/>
            <a:ext cx="2651760" cy="1143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871216"/>
            <a:ext cx="50292" cy="1143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0175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3273552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"2020-2023" plus "2025-2026" skips 2024.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2871216"/>
            <a:ext cx="2651760" cy="1143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2871216"/>
            <a:ext cx="50292" cy="1143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30175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Straggler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29000" y="3273552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 finish in 20s; one takes 4 minutes (labels 20s, 25s, 4 min).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2871216"/>
            <a:ext cx="2651760" cy="11430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2871216"/>
            <a:ext cx="50292" cy="11430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017520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17920" y="3273552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one-line lookups batched into 4 subtasks.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only helps when the saved sequential work exceeds the planning, communication and integration cost.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COMMUNICATION IS A DISTRIBUTED-SYSTEMS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Communication: the vocabulary, and the semantics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51760" cy="33649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50292" cy="33649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dimensions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32257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459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232257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568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232257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677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semantics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578608"/>
            <a:ext cx="2322576" cy="274320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786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98094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media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2322576" cy="292608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7355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602736"/>
            <a:ext cx="2322576" cy="292608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0273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2322576" cy="292608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319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artifacts (incl. DB)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2428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control fields let the runtime act without asking an LLM what a message meant.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207008"/>
            <a:ext cx="2651760" cy="33649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207008"/>
            <a:ext cx="50292" cy="33649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channels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29000" y="164592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16459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192024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219456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21945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pub-sub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29000" y="246888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4688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blackboard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74320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27432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29000" y="3017520"/>
            <a:ext cx="2322576" cy="237744"/>
          </a:xfrm>
          <a:prstGeom prst="rect">
            <a:avLst/>
          </a:prstGeom>
          <a:solidFill>
            <a:srgbClr val="83C5BE"/>
          </a:solidFill>
          <a:ln w="635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30175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passing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29000" y="334670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runtime ops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362102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DELEGATE, QUERY, REPORT, HANDOFF, UPDATE, CANCEL, ACK, ERROR, COMPLETE.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29000" y="39319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message: id "msg-381", task_id "t-17", from "planner", to "researcher", type "DELEGATE".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1207008"/>
            <a:ext cx="2651760" cy="336499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1207008"/>
            <a:ext cx="50292" cy="336499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semantics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17920" y="16459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flexible but ambiguous.</a:t>
            </a:r>
            <a:endParaRPr lang="en-US" sz="9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</a:t>
            </a:r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easy to validate, less expressive.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2231136"/>
            <a:ext cx="2322576" cy="914400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267712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result message: task_id "T17", type "result", status "complete", confidence 0.82, evidence ["log:2391", "commit:X"], artifact "analysis/T17.json".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semantics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17920" y="347472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"purchase 8 GPU instances"; network timeout, no reply. at-most-once vs at-least-once - "is exactly-once even available here?" Put an idempotency key on the task_id.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VS AGENT-TO-CAPABILITY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and MCP: two protocol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331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- the agent-to-agent protocol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3648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machine-readable agent card at a well-known path: GET /.well-known/agent-card.json (e.g. "Travel Agent", skill id "book-flight", capabilities streaming: true).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abstractions: Message, Task, Artifact. task-42: working -&gt; completed; a follow-up "Which date?" -&gt; "Oct 3".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task lifecycle states: Submitted, Working, Input required, Auth required, Completed, Failed, Rejected, Canceled.</a:t>
            </a:r>
            <a:endParaRPr lang="en-US" sz="9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tracking modes: polling (short jobs), streaming (interactive), push notification (hours-long jobs).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23317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50292" cy="23317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35024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- the agent-to-capability boundary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27632"/>
            <a:ext cx="3648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 and prompts; one client speaks to many servers.</a:t>
            </a:r>
            <a:endParaRPr lang="en-US" sz="95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host, not the model, decides what is exposed.</a:t>
            </a:r>
            <a:endParaRPr lang="en-US" sz="95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A2A remote agent may itself call twenty MCP servers.</a:t>
            </a:r>
            <a:endParaRPr lang="en-US" sz="95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device/API, against A2A as service-to-service RPC.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standardizes communication, not orchestration: delegation, splitting and stopping stay with the harness.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design principles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33088"/>
            <a:ext cx="1920240" cy="40233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multi-agent really necessary?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4133088"/>
            <a:ext cx="1920240" cy="40233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topology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4133088"/>
            <a:ext cx="1920240" cy="40233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information-loss points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4133088"/>
            <a:ext cx="1920240" cy="402336"/>
          </a:xfrm>
          <a:prstGeom prst="rect">
            <a:avLst/>
          </a:prstGeom>
          <a:solidFill>
            <a:srgbClr val="FFDDD2"/>
          </a:solidFill>
          <a:ln w="9525">
            <a:solidFill>
              <a:srgbClr val="E295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failure-containment boundaries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II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2435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multi-agent design is fully described by its control, communication and task graphs - pick the topology deliberately.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11226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has a named weakness; committee, market and dynamic topology fail in characteristic ways.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messages semantics - natural language for content, structured fields for control - and treat agent communication as distributed systems.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07008"/>
            <a:ext cx="2651760" cy="2651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07008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533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deck's closing position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dense mesh is rarely the best default. More communication can increase context pressure without increasing useful information."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2980944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is presented as a cost, not a default.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4164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Agent design III - agent memory, agent reliability, agent evaluation.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https://cs2680.seas.harvard.edu/slides/5_agent_design_2.pdf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lecture-05-agent-design-2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